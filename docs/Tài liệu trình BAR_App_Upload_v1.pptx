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5" r:id="rId5"/>
  </p:sldMasterIdLst>
  <p:notesMasterIdLst>
    <p:notesMasterId r:id="rId30"/>
  </p:notesMasterIdLst>
  <p:sldIdLst>
    <p:sldId id="258" r:id="rId6"/>
    <p:sldId id="416" r:id="rId7"/>
    <p:sldId id="341" r:id="rId8"/>
    <p:sldId id="4709" r:id="rId9"/>
    <p:sldId id="4724" r:id="rId10"/>
    <p:sldId id="4725" r:id="rId11"/>
    <p:sldId id="4718" r:id="rId12"/>
    <p:sldId id="418" r:id="rId13"/>
    <p:sldId id="4722" r:id="rId14"/>
    <p:sldId id="355" r:id="rId15"/>
    <p:sldId id="383" r:id="rId16"/>
    <p:sldId id="4723" r:id="rId17"/>
    <p:sldId id="4726" r:id="rId18"/>
    <p:sldId id="4727" r:id="rId19"/>
    <p:sldId id="4728" r:id="rId20"/>
    <p:sldId id="4711" r:id="rId21"/>
    <p:sldId id="4712" r:id="rId22"/>
    <p:sldId id="4719" r:id="rId23"/>
    <p:sldId id="4714" r:id="rId24"/>
    <p:sldId id="575" r:id="rId25"/>
    <p:sldId id="4720" r:id="rId26"/>
    <p:sldId id="4729" r:id="rId27"/>
    <p:sldId id="287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26E24E-C63C-1825-3C49-0EDCF0A0515F}" name="Dat Duong Tuan (CN-GD.PTGP&amp;DVDL)" initials="DD" userId="S::datdt15@msb.com.vn::6bfa1f35-005d-4264-8cc8-7bec095c862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E84C22"/>
    <a:srgbClr val="F8931F"/>
    <a:srgbClr val="595959"/>
    <a:srgbClr val="F3AE00"/>
    <a:srgbClr val="E67015"/>
    <a:srgbClr val="EB891B"/>
    <a:srgbClr val="FF671F"/>
    <a:srgbClr val="00FF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67" autoAdjust="0"/>
  </p:normalViewPr>
  <p:slideViewPr>
    <p:cSldViewPr snapToGrid="0">
      <p:cViewPr>
        <p:scale>
          <a:sx n="100" d="100"/>
          <a:sy n="100" d="100"/>
        </p:scale>
        <p:origin x="1032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42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4E3EE-A17F-4DB4-B1F3-D446441B65E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A4B31-E220-4D9A-8D6D-C00945709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2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923F0-ADC0-490A-9379-761BF1A89A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nay, NV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upload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Jupiter.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Jupiter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DLL ETL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LDZ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map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MSB,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“TTNT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import/export file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Jupiter Reconcile.”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Upload Enterprise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upload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(Raw data)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(Validation):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vượt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(validate)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vẹn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upload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phức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tạp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(Transform)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1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vi-VN" dirty="0"/>
              <a:t>Hệ thống có nên cho phép upload theo lô nhiều files không? Như vậy bài toán sẽ mở rộng ra nhiều?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49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Tập trung từ biz req của 2 cái QLYC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71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5B91-0202-EABE-C8DE-67E84717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CE728-6CDD-35CB-BCE7-D6841912C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BCE06-9A65-87D6-CB50-026D53557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D2A99-5539-EDA4-C7C6-78894AC6C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78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89B7-ECC3-C550-071D-FC9F53BD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D04BB-B8AB-4DA1-FEB7-F0B776982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B55A5-7766-90C6-81E9-855ACEE8D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Trao đổi với DnD để hỗ trợ điền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A1674-14DB-81C6-B94D-2FB05C2E0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2A4B31-E220-4D9A-8D6D-C00945709A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025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AA98-6E2A-B912-F8F9-09FE531D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CFEE4-F593-2FA1-5DB6-26AD35234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A2BE1-140E-3D43-D8AE-FD1318B73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1100" b="1" dirty="0" err="1">
                <a:latin typeface="Segoe UI"/>
                <a:cs typeface="Segoe UI"/>
              </a:rPr>
              <a:t>Kết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quả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kiến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trúc</a:t>
            </a:r>
            <a:r>
              <a:rPr lang="vi-VN" sz="1100" b="1" dirty="0">
                <a:latin typeface="Segoe UI"/>
                <a:cs typeface="Segoe UI"/>
              </a:rPr>
              <a:t> phase 1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 err="1">
                <a:latin typeface="Segoe UI"/>
                <a:cs typeface="Segoe UI"/>
              </a:rPr>
              <a:t>Luồng</a:t>
            </a:r>
            <a:r>
              <a:rPr lang="en-US" sz="1100" dirty="0">
                <a:latin typeface="Segoe UI"/>
                <a:cs typeface="Segoe UI"/>
              </a:rPr>
              <a:t> upload </a:t>
            </a:r>
            <a:r>
              <a:rPr lang="en-US" sz="1100" b="1" dirty="0">
                <a:latin typeface="Segoe UI"/>
                <a:cs typeface="Segoe UI"/>
              </a:rPr>
              <a:t>asynchronous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100" dirty="0" err="1">
                <a:latin typeface="Segoe UI"/>
                <a:cs typeface="Segoe UI"/>
              </a:rPr>
              <a:t>Tách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biệt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rõ</a:t>
            </a:r>
            <a:r>
              <a:rPr lang="vi-VN" sz="1100" dirty="0">
                <a:latin typeface="Segoe UI"/>
                <a:cs typeface="Segoe UI"/>
              </a:rPr>
              <a:t> các service: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upload – validate – ingest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100" dirty="0" err="1">
                <a:latin typeface="Segoe UI"/>
                <a:cs typeface="Segoe UI"/>
              </a:rPr>
              <a:t>Sẵn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sàng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mở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rộng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định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dạng</a:t>
            </a:r>
            <a:r>
              <a:rPr lang="en-US" sz="1100" dirty="0">
                <a:latin typeface="Segoe UI"/>
                <a:cs typeface="Segoe UI"/>
              </a:rPr>
              <a:t> file</a:t>
            </a:r>
            <a:endParaRPr lang="en-US" dirty="0"/>
          </a:p>
          <a:p>
            <a:pPr>
              <a:buFont typeface=""/>
              <a:buChar char="•"/>
            </a:pPr>
            <a:r>
              <a:rPr lang="en-US" b="1" dirty="0">
                <a:latin typeface="Segoe UI"/>
                <a:ea typeface="Segoe UI"/>
                <a:cs typeface="Segoe UI"/>
              </a:rPr>
              <a:t>Phase 1 (Checklist)</a:t>
            </a:r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dirty="0">
                <a:latin typeface="Segoe UI"/>
                <a:ea typeface="Segoe UI"/>
                <a:cs typeface="Segoe UI"/>
              </a:rPr>
              <a:t>→ MVP, validate </a:t>
            </a:r>
            <a:r>
              <a:rPr lang="en-US" dirty="0" err="1">
                <a:latin typeface="Segoe UI"/>
                <a:ea typeface="Segoe UI"/>
                <a:cs typeface="Segoe UI"/>
              </a:rPr>
              <a:t>kiến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trúc</a:t>
            </a:r>
            <a:r>
              <a:rPr lang="en-US" dirty="0">
                <a:latin typeface="Segoe UI"/>
                <a:ea typeface="Segoe UI"/>
                <a:cs typeface="Segoe UI"/>
              </a:rPr>
              <a:t>, </a:t>
            </a:r>
            <a:r>
              <a:rPr lang="en-US" dirty="0" err="1">
                <a:latin typeface="Segoe UI"/>
                <a:ea typeface="Segoe UI"/>
                <a:cs typeface="Segoe UI"/>
              </a:rPr>
              <a:t>kiểm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soát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phạm</a:t>
            </a:r>
            <a:r>
              <a:rPr lang="en-US" dirty="0">
                <a:latin typeface="Segoe UI"/>
                <a:ea typeface="Segoe UI"/>
                <a:cs typeface="Segoe UI"/>
              </a:rPr>
              <a:t> vi, </a:t>
            </a:r>
            <a:r>
              <a:rPr lang="en-US" dirty="0" err="1">
                <a:latin typeface="Segoe UI"/>
                <a:ea typeface="Segoe UI"/>
                <a:cs typeface="Segoe UI"/>
              </a:rPr>
              <a:t>giảm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rủi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ro</a:t>
            </a:r>
            <a:endParaRPr lang="en-US" dirty="0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r>
              <a:rPr lang="en-US" b="1" dirty="0">
                <a:latin typeface="Segoe UI"/>
                <a:ea typeface="Segoe UI"/>
                <a:cs typeface="Segoe UI"/>
              </a:rPr>
              <a:t>Phase 2 (Folder </a:t>
            </a:r>
            <a:r>
              <a:rPr lang="en-US" b="1" dirty="0" err="1">
                <a:latin typeface="Segoe UI"/>
                <a:ea typeface="Segoe UI"/>
                <a:cs typeface="Segoe UI"/>
              </a:rPr>
              <a:t>mở</a:t>
            </a:r>
            <a:r>
              <a:rPr lang="en-US" b="1" dirty="0">
                <a:latin typeface="Segoe UI"/>
                <a:ea typeface="Segoe UI"/>
                <a:cs typeface="Segoe UI"/>
              </a:rPr>
              <a:t> </a:t>
            </a:r>
            <a:r>
              <a:rPr lang="en-US" b="1" dirty="0" err="1">
                <a:latin typeface="Segoe UI"/>
                <a:ea typeface="Segoe UI"/>
                <a:cs typeface="Segoe UI"/>
              </a:rPr>
              <a:t>rộng</a:t>
            </a:r>
            <a:r>
              <a:rPr lang="en-US" b="1" dirty="0">
                <a:latin typeface="Segoe UI"/>
                <a:ea typeface="Segoe UI"/>
                <a:cs typeface="Segoe UI"/>
              </a:rPr>
              <a:t>)</a:t>
            </a:r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dirty="0">
                <a:latin typeface="Segoe UI"/>
                <a:ea typeface="Segoe UI"/>
                <a:cs typeface="Segoe UI"/>
              </a:rPr>
              <a:t>→ Scale capability, </a:t>
            </a:r>
            <a:r>
              <a:rPr lang="en-US" dirty="0" err="1">
                <a:latin typeface="Segoe UI"/>
                <a:ea typeface="Segoe UI"/>
                <a:cs typeface="Segoe UI"/>
              </a:rPr>
              <a:t>không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thay</a:t>
            </a:r>
            <a:r>
              <a:rPr lang="en-US" dirty="0">
                <a:latin typeface="Segoe UI"/>
                <a:ea typeface="Segoe UI"/>
                <a:cs typeface="Segoe UI"/>
              </a:rPr>
              <a:t> </a:t>
            </a:r>
            <a:r>
              <a:rPr lang="en-US" dirty="0" err="1">
                <a:latin typeface="Segoe UI"/>
                <a:ea typeface="Segoe UI"/>
                <a:cs typeface="Segoe UI"/>
              </a:rPr>
              <a:t>đổi</a:t>
            </a:r>
            <a:r>
              <a:rPr lang="en-US" dirty="0">
                <a:latin typeface="Segoe UI"/>
                <a:ea typeface="Segoe UI"/>
                <a:cs typeface="Segoe UI"/>
              </a:rPr>
              <a:t> foundation</a:t>
            </a:r>
          </a:p>
          <a:p>
            <a:endParaRPr lang="en-US" dirty="0">
              <a:latin typeface="Segoe UI"/>
              <a:ea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D2DB7-A2CA-98C6-1689-CC9192098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51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Bao gồm các cấu phần: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IT Capability map (nhờ a Giáo điền)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Application architecture (list down các application tham gia vào quá trình xây dựng các model ML + meaning từng application)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Intergration architecture (các application tương tác với nhau như nào? Chỉ rõ những instant riêng lẻ)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Data flow (luồng dữ liệu đi như nào giữa các hệ thống để train/test / serving model?)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Deployment architecture (băng thông, cổng port/firewall, hạ tầng cần thiết để vận hành, bảo mật)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Checklist ATTT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2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B2C-A497-6794-67EC-4E3542C7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8CD0-9503-4507-C1B5-8F28A34A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C85B-E0AB-01F8-320B-326FBB5D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Thêm mũi tên từ AZ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Thêm mũi tên twf file storage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909-C87D-0B27-0F28-94B56F7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89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5F6-1D70-CF48-7643-7A9CC3C9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F33-E51C-AD81-CFBE-76A69E0C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78E23-FF42-31FF-2B7E-D826C4EB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AZ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mũi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twf</a:t>
            </a:r>
            <a:r>
              <a:rPr lang="en-US" dirty="0"/>
              <a:t> file storage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617-958A-A578-4FDA-2A630BFE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60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5F6-1D70-CF48-7643-7A9CC3C9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F33-E51C-AD81-CFBE-76A69E0C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78E23-FF42-31FF-2B7E-D826C4EB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Thêm mũi tên từ AZ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Thêm mũi tên twf file storage &gt;&gt; DS 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617-958A-A578-4FDA-2A630BFE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861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5F6-1D70-CF48-7643-7A9CC3C9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F33-E51C-AD81-CFBE-76A69E0C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78E23-FF42-31FF-2B7E-D826C4EB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617-958A-A578-4FDA-2A630BFE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1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4F5F6-1D70-CF48-7643-7A9CC3C9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F33-E51C-AD81-CFBE-76A69E0C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78E23-FF42-31FF-2B7E-D826C4EB8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BC617-958A-A578-4FDA-2A630BFE4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25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B2C-A497-6794-67EC-4E3542C7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8CD0-9503-4507-C1B5-8F28A34A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C85B-E0AB-01F8-320B-326FBB5D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System profile: Analytics Platform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Anh Giáp check lại giúp em kiến trúc final cho phần này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909-C87D-0B27-0F28-94B56F7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93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B2C-A497-6794-67EC-4E3542C7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8CD0-9503-4507-C1B5-8F28A34A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C85B-E0AB-01F8-320B-326FBB5D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909-C87D-0B27-0F28-94B56F7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2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B2C-A497-6794-67EC-4E3542C7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8CD0-9503-4507-C1B5-8F28A34A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C85B-E0AB-01F8-320B-326FBB5D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909-C87D-0B27-0F28-94B56F7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41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B2C-A497-6794-67EC-4E3542C7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F8CD0-9503-4507-C1B5-8F28A34A3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F4C85B-E0AB-01F8-320B-326FBB5DA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F2909-C87D-0B27-0F28-94B56F731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62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1C5B-4570-49DB-F3F4-C35C2E3B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06227-66E1-CA40-00C3-D7773802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D957-2734-288D-2DD4-233C2A95D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0CAC-414F-27B4-D677-FA1BF3282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37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7E83F-D510-088B-D27C-AB3325DDF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48754-7954-B0AC-AB57-8119359D4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F3686-60B5-FFEB-4FA2-38C3F7B9B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2B3D8-F54B-B196-3B12-817D4844B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2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1C5B-4570-49DB-F3F4-C35C2E3B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06227-66E1-CA40-00C3-D7773802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9D957-2734-288D-2DD4-233C2A95D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0CAC-414F-27B4-D677-FA1BF3282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A4B31-E220-4D9A-8D6D-C00945709A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89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923F0-ADC0-490A-9379-761BF1A89A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291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923F0-ADC0-490A-9379-761BF1A89A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97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image" Target="../media/image1.emf"/><Relationship Id="rId5" Type="http://schemas.openxmlformats.org/officeDocument/2006/relationships/tags" Target="../tags/tag4.xml"/><Relationship Id="rId10" Type="http://schemas.openxmlformats.org/officeDocument/2006/relationships/oleObject" Target="../embeddings/oleObject1.bin"/><Relationship Id="rId4" Type="http://schemas.openxmlformats.org/officeDocument/2006/relationships/tags" Target="../tags/tag3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2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vmlDrawing" Target="../drawings/vmlDrawing3.v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image" Target="../media/image5.jpeg"/><Relationship Id="rId4" Type="http://schemas.openxmlformats.org/officeDocument/2006/relationships/tags" Target="../tags/tag30.xml"/><Relationship Id="rId9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4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3.svg"/><Relationship Id="rId2" Type="http://schemas.openxmlformats.org/officeDocument/2006/relationships/tags" Target="../tags/tag33.xml"/><Relationship Id="rId1" Type="http://schemas.openxmlformats.org/officeDocument/2006/relationships/vmlDrawing" Target="../drawings/vmlDrawing4.vml"/><Relationship Id="rId6" Type="http://schemas.openxmlformats.org/officeDocument/2006/relationships/tags" Target="../tags/tag37.xml"/><Relationship Id="rId11" Type="http://schemas.openxmlformats.org/officeDocument/2006/relationships/image" Target="../media/image2.png"/><Relationship Id="rId5" Type="http://schemas.openxmlformats.org/officeDocument/2006/relationships/tags" Target="../tags/tag36.xml"/><Relationship Id="rId10" Type="http://schemas.openxmlformats.org/officeDocument/2006/relationships/image" Target="../media/image6.png"/><Relationship Id="rId4" Type="http://schemas.openxmlformats.org/officeDocument/2006/relationships/tags" Target="../tags/tag35.xml"/><Relationship Id="rId9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png"/><Relationship Id="rId3" Type="http://schemas.openxmlformats.org/officeDocument/2006/relationships/tags" Target="../tags/tag39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3.svg"/><Relationship Id="rId2" Type="http://schemas.openxmlformats.org/officeDocument/2006/relationships/tags" Target="../tags/tag38.xml"/><Relationship Id="rId1" Type="http://schemas.openxmlformats.org/officeDocument/2006/relationships/vmlDrawing" Target="../drawings/vmlDrawing5.vml"/><Relationship Id="rId6" Type="http://schemas.openxmlformats.org/officeDocument/2006/relationships/tags" Target="../tags/tag42.xml"/><Relationship Id="rId11" Type="http://schemas.openxmlformats.org/officeDocument/2006/relationships/image" Target="../media/image2.png"/><Relationship Id="rId5" Type="http://schemas.openxmlformats.org/officeDocument/2006/relationships/tags" Target="../tags/tag41.xml"/><Relationship Id="rId10" Type="http://schemas.openxmlformats.org/officeDocument/2006/relationships/image" Target="../media/image7.jpeg"/><Relationship Id="rId4" Type="http://schemas.openxmlformats.org/officeDocument/2006/relationships/tags" Target="../tags/tag40.xml"/><Relationship Id="rId9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vmlDrawing" Target="../drawings/vmlDrawing6.vml"/><Relationship Id="rId6" Type="http://schemas.openxmlformats.org/officeDocument/2006/relationships/tags" Target="../tags/tag47.xml"/><Relationship Id="rId11" Type="http://schemas.openxmlformats.org/officeDocument/2006/relationships/image" Target="../media/image1.emf"/><Relationship Id="rId5" Type="http://schemas.openxmlformats.org/officeDocument/2006/relationships/tags" Target="../tags/tag46.xml"/><Relationship Id="rId10" Type="http://schemas.openxmlformats.org/officeDocument/2006/relationships/oleObject" Target="../embeddings/oleObject1.bin"/><Relationship Id="rId4" Type="http://schemas.openxmlformats.org/officeDocument/2006/relationships/tags" Target="../tags/tag45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vmlDrawing" Target="../drawings/vmlDrawing7.vml"/><Relationship Id="rId6" Type="http://schemas.openxmlformats.org/officeDocument/2006/relationships/tags" Target="../tags/tag54.xml"/><Relationship Id="rId11" Type="http://schemas.openxmlformats.org/officeDocument/2006/relationships/image" Target="../media/image1.emf"/><Relationship Id="rId5" Type="http://schemas.openxmlformats.org/officeDocument/2006/relationships/tags" Target="../tags/tag53.xml"/><Relationship Id="rId10" Type="http://schemas.openxmlformats.org/officeDocument/2006/relationships/oleObject" Target="../embeddings/oleObject6.bin"/><Relationship Id="rId4" Type="http://schemas.openxmlformats.org/officeDocument/2006/relationships/tags" Target="../tags/tag52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2" Type="http://schemas.openxmlformats.org/officeDocument/2006/relationships/tags" Target="../tags/tag57.xml"/><Relationship Id="rId1" Type="http://schemas.openxmlformats.org/officeDocument/2006/relationships/vmlDrawing" Target="../drawings/vmlDrawing8.v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10" Type="http://schemas.openxmlformats.org/officeDocument/2006/relationships/image" Target="../media/image4.emf"/><Relationship Id="rId4" Type="http://schemas.openxmlformats.org/officeDocument/2006/relationships/tags" Target="../tags/tag59.xml"/><Relationship Id="rId9" Type="http://schemas.openxmlformats.org/officeDocument/2006/relationships/oleObject" Target="../embeddings/oleObject7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vmlDrawing" Target="../drawings/vmlDrawing9.v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image" Target="../media/image4.emf"/><Relationship Id="rId4" Type="http://schemas.openxmlformats.org/officeDocument/2006/relationships/tags" Target="../tags/tag65.xml"/><Relationship Id="rId9" Type="http://schemas.openxmlformats.org/officeDocument/2006/relationships/oleObject" Target="../embeddings/oleObject8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vmlDrawing" Target="../drawings/vmlDrawing10.vml"/><Relationship Id="rId6" Type="http://schemas.openxmlformats.org/officeDocument/2006/relationships/tags" Target="../tags/tag73.xml"/><Relationship Id="rId11" Type="http://schemas.openxmlformats.org/officeDocument/2006/relationships/image" Target="../media/image5.jpeg"/><Relationship Id="rId5" Type="http://schemas.openxmlformats.org/officeDocument/2006/relationships/tags" Target="../tags/tag72.xml"/><Relationship Id="rId10" Type="http://schemas.openxmlformats.org/officeDocument/2006/relationships/image" Target="../media/image4.emf"/><Relationship Id="rId4" Type="http://schemas.openxmlformats.org/officeDocument/2006/relationships/tags" Target="../tags/tag71.xml"/><Relationship Id="rId9" Type="http://schemas.openxmlformats.org/officeDocument/2006/relationships/oleObject" Target="../embeddings/oleObject9.bin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vmlDrawing" Target="../drawings/vmlDrawing11.vml"/><Relationship Id="rId6" Type="http://schemas.openxmlformats.org/officeDocument/2006/relationships/tags" Target="../tags/tag79.xml"/><Relationship Id="rId11" Type="http://schemas.openxmlformats.org/officeDocument/2006/relationships/image" Target="../media/image4.emf"/><Relationship Id="rId5" Type="http://schemas.openxmlformats.org/officeDocument/2006/relationships/tags" Target="../tags/tag78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7.xml"/><Relationship Id="rId9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image" Target="../media/image2.png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image" Target="../media/image1.emf"/><Relationship Id="rId2" Type="http://schemas.openxmlformats.org/officeDocument/2006/relationships/tags" Target="../tags/tag82.xml"/><Relationship Id="rId1" Type="http://schemas.openxmlformats.org/officeDocument/2006/relationships/vmlDrawing" Target="../drawings/vmlDrawing12.vml"/><Relationship Id="rId6" Type="http://schemas.openxmlformats.org/officeDocument/2006/relationships/tags" Target="../tags/tag86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8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image" Target="../media/image3.sv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image" Target="../media/image2.png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12" Type="http://schemas.openxmlformats.org/officeDocument/2006/relationships/image" Target="../media/image1.emf"/><Relationship Id="rId2" Type="http://schemas.openxmlformats.org/officeDocument/2006/relationships/tags" Target="../tags/tag90.xml"/><Relationship Id="rId1" Type="http://schemas.openxmlformats.org/officeDocument/2006/relationships/vmlDrawing" Target="../drawings/vmlDrawing13.vml"/><Relationship Id="rId6" Type="http://schemas.openxmlformats.org/officeDocument/2006/relationships/tags" Target="../tags/tag94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9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image" Target="../media/image2.png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image" Target="../media/image1.emf"/><Relationship Id="rId2" Type="http://schemas.openxmlformats.org/officeDocument/2006/relationships/tags" Target="../tags/tag98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02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0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image" Target="../media/image2.png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image" Target="../media/image9.emf"/><Relationship Id="rId2" Type="http://schemas.openxmlformats.org/officeDocument/2006/relationships/tags" Target="../tags/tag106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10.xml"/><Relationship Id="rId11" Type="http://schemas.openxmlformats.org/officeDocument/2006/relationships/oleObject" Target="../embeddings/oleObject14.bin"/><Relationship Id="rId5" Type="http://schemas.openxmlformats.org/officeDocument/2006/relationships/tags" Target="../tags/tag10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image" Target="../media/image3.sv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2.png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1.emf"/><Relationship Id="rId2" Type="http://schemas.openxmlformats.org/officeDocument/2006/relationships/tags" Target="../tags/tag114.xml"/><Relationship Id="rId1" Type="http://schemas.openxmlformats.org/officeDocument/2006/relationships/vmlDrawing" Target="../drawings/vmlDrawing16.vml"/><Relationship Id="rId6" Type="http://schemas.openxmlformats.org/officeDocument/2006/relationships/tags" Target="../tags/tag118.xml"/><Relationship Id="rId11" Type="http://schemas.openxmlformats.org/officeDocument/2006/relationships/oleObject" Target="../embeddings/oleObject15.bin"/><Relationship Id="rId5" Type="http://schemas.openxmlformats.org/officeDocument/2006/relationships/tags" Target="../tags/tag11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image" Target="../media/image3.svg"/><Relationship Id="rId2" Type="http://schemas.openxmlformats.org/officeDocument/2006/relationships/tags" Target="../tags/tag122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26.xml"/><Relationship Id="rId11" Type="http://schemas.openxmlformats.org/officeDocument/2006/relationships/image" Target="../media/image2.png"/><Relationship Id="rId5" Type="http://schemas.openxmlformats.org/officeDocument/2006/relationships/tags" Target="../tags/tag125.xml"/><Relationship Id="rId10" Type="http://schemas.openxmlformats.org/officeDocument/2006/relationships/image" Target="../media/image4.emf"/><Relationship Id="rId4" Type="http://schemas.openxmlformats.org/officeDocument/2006/relationships/tags" Target="../tags/tag124.xml"/><Relationship Id="rId9" Type="http://schemas.openxmlformats.org/officeDocument/2006/relationships/oleObject" Target="../embeddings/oleObject16.bin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29.xml"/><Relationship Id="rId7" Type="http://schemas.openxmlformats.org/officeDocument/2006/relationships/oleObject" Target="../embeddings/oleObject17.bin"/><Relationship Id="rId2" Type="http://schemas.openxmlformats.org/officeDocument/2006/relationships/tags" Target="../tags/tag128.xml"/><Relationship Id="rId1" Type="http://schemas.openxmlformats.org/officeDocument/2006/relationships/vmlDrawing" Target="../drawings/vmlDrawing18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31.xml"/><Relationship Id="rId10" Type="http://schemas.openxmlformats.org/officeDocument/2006/relationships/image" Target="../media/image3.svg"/><Relationship Id="rId4" Type="http://schemas.openxmlformats.org/officeDocument/2006/relationships/tags" Target="../tags/tag130.xml"/><Relationship Id="rId9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133.xml"/><Relationship Id="rId7" Type="http://schemas.openxmlformats.org/officeDocument/2006/relationships/image" Target="../media/image2.png"/><Relationship Id="rId2" Type="http://schemas.openxmlformats.org/officeDocument/2006/relationships/tags" Target="../tags/tag13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2" Type="http://schemas.openxmlformats.org/officeDocument/2006/relationships/tags" Target="../tags/tag134.xml"/><Relationship Id="rId1" Type="http://schemas.openxmlformats.org/officeDocument/2006/relationships/vmlDrawing" Target="../drawings/vmlDrawing20.vml"/><Relationship Id="rId6" Type="http://schemas.openxmlformats.org/officeDocument/2006/relationships/tags" Target="../tags/tag138.xml"/><Relationship Id="rId11" Type="http://schemas.openxmlformats.org/officeDocument/2006/relationships/image" Target="../media/image1.emf"/><Relationship Id="rId5" Type="http://schemas.openxmlformats.org/officeDocument/2006/relationships/tags" Target="../tags/tag137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136.xml"/><Relationship Id="rId9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image" Target="../media/image2.png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image" Target="../media/image4.emf"/><Relationship Id="rId2" Type="http://schemas.openxmlformats.org/officeDocument/2006/relationships/tags" Target="../tags/tag141.xml"/><Relationship Id="rId1" Type="http://schemas.openxmlformats.org/officeDocument/2006/relationships/vmlDrawing" Target="../drawings/vmlDrawing21.vml"/><Relationship Id="rId6" Type="http://schemas.openxmlformats.org/officeDocument/2006/relationships/tags" Target="../tags/tag145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14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image" Target="../media/image3.sv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image" Target="../media/image2.png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image" Target="../media/image4.emf"/><Relationship Id="rId2" Type="http://schemas.openxmlformats.org/officeDocument/2006/relationships/tags" Target="../tags/tag149.xml"/><Relationship Id="rId1" Type="http://schemas.openxmlformats.org/officeDocument/2006/relationships/vmlDrawing" Target="../drawings/vmlDrawing22.vml"/><Relationship Id="rId6" Type="http://schemas.openxmlformats.org/officeDocument/2006/relationships/tags" Target="../tags/tag153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15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3" Type="http://schemas.openxmlformats.org/officeDocument/2006/relationships/tags" Target="../tags/tag158.xml"/><Relationship Id="rId7" Type="http://schemas.openxmlformats.org/officeDocument/2006/relationships/tags" Target="../tags/tag162.xml"/><Relationship Id="rId2" Type="http://schemas.openxmlformats.org/officeDocument/2006/relationships/tags" Target="../tags/tag157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61.xml"/><Relationship Id="rId11" Type="http://schemas.openxmlformats.org/officeDocument/2006/relationships/image" Target="../media/image1.emf"/><Relationship Id="rId5" Type="http://schemas.openxmlformats.org/officeDocument/2006/relationships/tags" Target="../tags/tag160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159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C1237-8665-4241-9EA3-A4C5D685A8A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42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102"/>
            <a:ext cx="10515600" cy="761307"/>
          </a:xfrm>
          <a:prstGeom prst="roundRect">
            <a:avLst>
              <a:gd name="adj" fmla="val 33826"/>
            </a:avLst>
          </a:prstGeom>
          <a:gradFill>
            <a:gsLst>
              <a:gs pos="100000">
                <a:srgbClr val="FF671F"/>
              </a:gs>
              <a:gs pos="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kumimoji="0" lang="en-US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57E346-37CC-49E9-B8D8-CA6ED9DAA74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/25</a:t>
            </a:r>
          </a:p>
        </p:txBody>
      </p:sp>
    </p:spTree>
    <p:extLst>
      <p:ext uri="{BB962C8B-B14F-4D97-AF65-F5344CB8AC3E}">
        <p14:creationId xmlns:p14="http://schemas.microsoft.com/office/powerpoint/2010/main" val="1674593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F2DD53-6A61-4902-A020-25EFCCA5EBE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525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80661"/>
            <a:ext cx="5181600" cy="5196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80661"/>
            <a:ext cx="5181600" cy="51963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11843-7EBF-45A1-939C-F7878282CBC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061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287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071559"/>
            <a:ext cx="5157787" cy="657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81792"/>
            <a:ext cx="5157787" cy="4407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71559"/>
            <a:ext cx="5183188" cy="657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81792"/>
            <a:ext cx="5183188" cy="4407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0B6A3F-4B5F-4E10-85D8-0D1FE4381868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512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29E6F-BCF7-4E92-BB84-EA10F4C31CC0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63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608346-1A23-4142-8C04-8BCB378159F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25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C6B13C-E68C-4F5E-8E12-BE670B8FD65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83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F69BD9-1C37-487D-B2A3-7A8CAEFF93DE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67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51696-8AE9-47F5-BD9C-96F7080DA6A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76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AD536A-5893-4A06-BA4F-531E680B03A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188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ngle Line Title +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1622" y="290302"/>
            <a:ext cx="10956007" cy="482139"/>
          </a:xfrm>
        </p:spPr>
        <p:txBody>
          <a:bodyPr/>
          <a:lstStyle>
            <a:lvl1pPr>
              <a:defRPr baseline="0">
                <a:solidFill>
                  <a:srgbClr val="008FD5"/>
                </a:solidFill>
              </a:defRPr>
            </a:lvl1pPr>
          </a:lstStyle>
          <a:p>
            <a:r>
              <a:rPr lang="en-US"/>
              <a:t>Title – Calibri; 32 </a:t>
            </a:r>
            <a:r>
              <a:rPr lang="en-US" err="1"/>
              <a:t>pt</a:t>
            </a:r>
            <a:r>
              <a:rPr lang="en-US"/>
              <a:t>; Bold; Black; Emphasis = Blue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3071FF-E082-4897-9463-52F76F6855A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3"/>
          </p:nvPr>
        </p:nvSpPr>
        <p:spPr>
          <a:xfrm>
            <a:off x="631622" y="878683"/>
            <a:ext cx="10963932" cy="5373269"/>
          </a:xfrm>
        </p:spPr>
        <p:txBody>
          <a:bodyPr/>
          <a:lstStyle>
            <a:lvl1pPr marL="158661" indent="-158661">
              <a:buClr>
                <a:srgbClr val="0070C0"/>
              </a:buClr>
              <a:buFont typeface="Wingdings" pitchFamily="2" charset="2"/>
              <a:buChar char="§"/>
              <a:defRPr baseline="0"/>
            </a:lvl1pPr>
            <a:lvl2pPr marL="459281" indent="-300620">
              <a:buClr>
                <a:srgbClr val="00B0F0"/>
              </a:buClr>
              <a:buFont typeface="Arial" pitchFamily="34" charset="0"/>
              <a:buChar char="•"/>
              <a:defRPr/>
            </a:lvl2pPr>
            <a:lvl3pPr marL="569231" indent="-250517">
              <a:buClr>
                <a:srgbClr val="00B0F0"/>
              </a:buClr>
              <a:buFont typeface="Calibri" pitchFamily="34" charset="0"/>
              <a:buChar char="—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947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1752600"/>
            <a:ext cx="107696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BD5762-3BDC-484D-9503-7EA6D5A9A8C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999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33538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456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669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9583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FBBA3F5-015A-4C38-846F-E439AB6FFFB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879645" y="5573685"/>
            <a:ext cx="9397950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880786" y="4747057"/>
            <a:ext cx="9397950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880786" y="3551099"/>
            <a:ext cx="9397950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753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30938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6618E1C-2FF8-4C76-8A1E-BA293CFFE09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32259" y="3361990"/>
            <a:ext cx="423024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33400" y="2305179"/>
            <a:ext cx="4831976" cy="69249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33399" y="586648"/>
            <a:ext cx="5820335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AAB2A90-9E19-4B11-BB5C-1D46E862514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9851314" y="6258502"/>
            <a:ext cx="1876287" cy="41237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BA99BDD-C600-4E92-BBE3-F8C5830EE74C}"/>
              </a:ext>
            </a:extLst>
          </p:cNvPr>
          <p:cNvSpPr/>
          <p:nvPr userDrawn="1"/>
        </p:nvSpPr>
        <p:spPr bwMode="ltGray">
          <a:xfrm>
            <a:off x="4165600" y="4402813"/>
            <a:ext cx="3723325" cy="2176107"/>
          </a:xfrm>
          <a:custGeom>
            <a:avLst/>
            <a:gdLst>
              <a:gd name="connsiteX0" fmla="*/ 716030 w 5465701"/>
              <a:gd name="connsiteY0" fmla="*/ 1754427 h 3194444"/>
              <a:gd name="connsiteX1" fmla="*/ 1432062 w 5465701"/>
              <a:gd name="connsiteY1" fmla="*/ 2470460 h 3194444"/>
              <a:gd name="connsiteX2" fmla="*/ 716030 w 5465701"/>
              <a:gd name="connsiteY2" fmla="*/ 3186489 h 3194444"/>
              <a:gd name="connsiteX3" fmla="*/ 0 w 5465701"/>
              <a:gd name="connsiteY3" fmla="*/ 2470460 h 3194444"/>
              <a:gd name="connsiteX4" fmla="*/ 716030 w 5465701"/>
              <a:gd name="connsiteY4" fmla="*/ 1754427 h 3194444"/>
              <a:gd name="connsiteX5" fmla="*/ 3320178 w 5465701"/>
              <a:gd name="connsiteY5" fmla="*/ 1243 h 3194444"/>
              <a:gd name="connsiteX6" fmla="*/ 3842696 w 5465701"/>
              <a:gd name="connsiteY6" fmla="*/ 282584 h 3194444"/>
              <a:gd name="connsiteX7" fmla="*/ 3851787 w 5465701"/>
              <a:gd name="connsiteY7" fmla="*/ 297699 h 3194444"/>
              <a:gd name="connsiteX8" fmla="*/ 5298627 w 5465701"/>
              <a:gd name="connsiteY8" fmla="*/ 2009016 h 3194444"/>
              <a:gd name="connsiteX9" fmla="*/ 5465701 w 5465701"/>
              <a:gd name="connsiteY9" fmla="*/ 2470459 h 3194444"/>
              <a:gd name="connsiteX10" fmla="*/ 4741715 w 5465701"/>
              <a:gd name="connsiteY10" fmla="*/ 3194444 h 3194444"/>
              <a:gd name="connsiteX11" fmla="*/ 4192757 w 5465701"/>
              <a:gd name="connsiteY11" fmla="*/ 2939855 h 3194444"/>
              <a:gd name="connsiteX12" fmla="*/ 3653171 w 5465701"/>
              <a:gd name="connsiteY12" fmla="*/ 2295268 h 3194444"/>
              <a:gd name="connsiteX13" fmla="*/ 3581681 w 5465701"/>
              <a:gd name="connsiteY13" fmla="*/ 2614783 h 3194444"/>
              <a:gd name="connsiteX14" fmla="*/ 3581614 w 5465701"/>
              <a:gd name="connsiteY14" fmla="*/ 2615452 h 3194444"/>
              <a:gd name="connsiteX15" fmla="*/ 3581309 w 5465701"/>
              <a:gd name="connsiteY15" fmla="*/ 2616441 h 3194444"/>
              <a:gd name="connsiteX16" fmla="*/ 3580151 w 5465701"/>
              <a:gd name="connsiteY16" fmla="*/ 2621619 h 3194444"/>
              <a:gd name="connsiteX17" fmla="*/ 3544723 w 5465701"/>
              <a:gd name="connsiteY17" fmla="*/ 2738844 h 3194444"/>
              <a:gd name="connsiteX18" fmla="*/ 3542054 w 5465701"/>
              <a:gd name="connsiteY18" fmla="*/ 2744015 h 3194444"/>
              <a:gd name="connsiteX19" fmla="*/ 3540125 w 5465701"/>
              <a:gd name="connsiteY19" fmla="*/ 2750282 h 3194444"/>
              <a:gd name="connsiteX20" fmla="*/ 3508973 w 5465701"/>
              <a:gd name="connsiteY20" fmla="*/ 2808086 h 3194444"/>
              <a:gd name="connsiteX21" fmla="*/ 3487665 w 5465701"/>
              <a:gd name="connsiteY21" fmla="*/ 2849357 h 3194444"/>
              <a:gd name="connsiteX22" fmla="*/ 3484496 w 5465701"/>
              <a:gd name="connsiteY22" fmla="*/ 2853505 h 3194444"/>
              <a:gd name="connsiteX23" fmla="*/ 3474396 w 5465701"/>
              <a:gd name="connsiteY23" fmla="*/ 2872247 h 3194444"/>
              <a:gd name="connsiteX24" fmla="*/ 3411981 w 5465701"/>
              <a:gd name="connsiteY24" fmla="*/ 2948423 h 3194444"/>
              <a:gd name="connsiteX25" fmla="*/ 3411214 w 5465701"/>
              <a:gd name="connsiteY25" fmla="*/ 2949427 h 3194444"/>
              <a:gd name="connsiteX26" fmla="*/ 3410990 w 5465701"/>
              <a:gd name="connsiteY26" fmla="*/ 2949633 h 3194444"/>
              <a:gd name="connsiteX27" fmla="*/ 3387223 w 5465701"/>
              <a:gd name="connsiteY27" fmla="*/ 2978641 h 3194444"/>
              <a:gd name="connsiteX28" fmla="*/ 2880035 w 5465701"/>
              <a:gd name="connsiteY28" fmla="*/ 3194444 h 3194444"/>
              <a:gd name="connsiteX29" fmla="*/ 2331076 w 5465701"/>
              <a:gd name="connsiteY29" fmla="*/ 2939855 h 3194444"/>
              <a:gd name="connsiteX30" fmla="*/ 859237 w 5465701"/>
              <a:gd name="connsiteY30" fmla="*/ 1181601 h 3194444"/>
              <a:gd name="connsiteX31" fmla="*/ 692163 w 5465701"/>
              <a:gd name="connsiteY31" fmla="*/ 720161 h 3194444"/>
              <a:gd name="connsiteX32" fmla="*/ 1408193 w 5465701"/>
              <a:gd name="connsiteY32" fmla="*/ 4129 h 3194444"/>
              <a:gd name="connsiteX33" fmla="*/ 1957149 w 5465701"/>
              <a:gd name="connsiteY33" fmla="*/ 258718 h 3194444"/>
              <a:gd name="connsiteX34" fmla="*/ 2500573 w 5465701"/>
              <a:gd name="connsiteY34" fmla="*/ 904951 h 3194444"/>
              <a:gd name="connsiteX35" fmla="*/ 2563692 w 5465701"/>
              <a:gd name="connsiteY35" fmla="*/ 623544 h 3194444"/>
              <a:gd name="connsiteX36" fmla="*/ 2568622 w 5465701"/>
              <a:gd name="connsiteY36" fmla="*/ 575183 h 3194444"/>
              <a:gd name="connsiteX37" fmla="*/ 2677611 w 5465701"/>
              <a:gd name="connsiteY37" fmla="*/ 318791 h 3194444"/>
              <a:gd name="connsiteX38" fmla="*/ 2722456 w 5465701"/>
              <a:gd name="connsiteY38" fmla="*/ 264901 h 3194444"/>
              <a:gd name="connsiteX39" fmla="*/ 2746648 w 5465701"/>
              <a:gd name="connsiteY39" fmla="*/ 233234 h 3194444"/>
              <a:gd name="connsiteX40" fmla="*/ 2755783 w 5465701"/>
              <a:gd name="connsiteY40" fmla="*/ 224852 h 3194444"/>
              <a:gd name="connsiteX41" fmla="*/ 2765669 w 5465701"/>
              <a:gd name="connsiteY41" fmla="*/ 212971 h 3194444"/>
              <a:gd name="connsiteX42" fmla="*/ 2794370 w 5465701"/>
              <a:gd name="connsiteY42" fmla="*/ 189442 h 3194444"/>
              <a:gd name="connsiteX43" fmla="*/ 2840255 w 5465701"/>
              <a:gd name="connsiteY43" fmla="*/ 147335 h 3194444"/>
              <a:gd name="connsiteX44" fmla="*/ 2865431 w 5465701"/>
              <a:gd name="connsiteY44" fmla="*/ 131185 h 3194444"/>
              <a:gd name="connsiteX45" fmla="*/ 2872002 w 5465701"/>
              <a:gd name="connsiteY45" fmla="*/ 125798 h 3194444"/>
              <a:gd name="connsiteX46" fmla="*/ 2883644 w 5465701"/>
              <a:gd name="connsiteY46" fmla="*/ 119502 h 3194444"/>
              <a:gd name="connsiteX47" fmla="*/ 2932840 w 5465701"/>
              <a:gd name="connsiteY47" fmla="*/ 87943 h 3194444"/>
              <a:gd name="connsiteX48" fmla="*/ 2987871 w 5465701"/>
              <a:gd name="connsiteY48" fmla="*/ 63130 h 3194444"/>
              <a:gd name="connsiteX49" fmla="*/ 2993531 w 5465701"/>
              <a:gd name="connsiteY49" fmla="*/ 60069 h 3194444"/>
              <a:gd name="connsiteX50" fmla="*/ 2997157 w 5465701"/>
              <a:gd name="connsiteY50" fmla="*/ 58943 h 3194444"/>
              <a:gd name="connsiteX51" fmla="*/ 3030486 w 5465701"/>
              <a:gd name="connsiteY51" fmla="*/ 43916 h 3194444"/>
              <a:gd name="connsiteX52" fmla="*/ 3234352 w 5465701"/>
              <a:gd name="connsiteY52" fmla="*/ 1331 h 3194444"/>
              <a:gd name="connsiteX53" fmla="*/ 3320178 w 5465701"/>
              <a:gd name="connsiteY53" fmla="*/ 1243 h 3194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465701" h="3194444">
                <a:moveTo>
                  <a:pt x="716030" y="1754427"/>
                </a:moveTo>
                <a:cubicBezTo>
                  <a:pt x="1111483" y="1754427"/>
                  <a:pt x="1432062" y="2075007"/>
                  <a:pt x="1432062" y="2470460"/>
                </a:cubicBezTo>
                <a:cubicBezTo>
                  <a:pt x="1432062" y="2865910"/>
                  <a:pt x="1111483" y="3186489"/>
                  <a:pt x="716030" y="3186489"/>
                </a:cubicBezTo>
                <a:cubicBezTo>
                  <a:pt x="320577" y="3186489"/>
                  <a:pt x="0" y="2865910"/>
                  <a:pt x="0" y="2470460"/>
                </a:cubicBezTo>
                <a:cubicBezTo>
                  <a:pt x="0" y="2075007"/>
                  <a:pt x="320577" y="1754427"/>
                  <a:pt x="716030" y="1754427"/>
                </a:cubicBezTo>
                <a:close/>
                <a:moveTo>
                  <a:pt x="3320178" y="1243"/>
                </a:moveTo>
                <a:cubicBezTo>
                  <a:pt x="3519781" y="13034"/>
                  <a:pt x="3712171" y="108549"/>
                  <a:pt x="3842696" y="282584"/>
                </a:cubicBezTo>
                <a:lnTo>
                  <a:pt x="3851787" y="297699"/>
                </a:lnTo>
                <a:lnTo>
                  <a:pt x="5298627" y="2009016"/>
                </a:lnTo>
                <a:cubicBezTo>
                  <a:pt x="5402054" y="2136309"/>
                  <a:pt x="5465701" y="2295427"/>
                  <a:pt x="5465701" y="2470459"/>
                </a:cubicBezTo>
                <a:cubicBezTo>
                  <a:pt x="5465701" y="2868253"/>
                  <a:pt x="5147465" y="3186489"/>
                  <a:pt x="4741715" y="3194444"/>
                </a:cubicBezTo>
                <a:cubicBezTo>
                  <a:pt x="4518948" y="3194444"/>
                  <a:pt x="4320053" y="3098973"/>
                  <a:pt x="4192757" y="2939855"/>
                </a:cubicBezTo>
                <a:lnTo>
                  <a:pt x="3653171" y="2295268"/>
                </a:lnTo>
                <a:lnTo>
                  <a:pt x="3581681" y="2614783"/>
                </a:lnTo>
                <a:lnTo>
                  <a:pt x="3581614" y="2615452"/>
                </a:lnTo>
                <a:lnTo>
                  <a:pt x="3581309" y="2616441"/>
                </a:lnTo>
                <a:lnTo>
                  <a:pt x="3580151" y="2621619"/>
                </a:lnTo>
                <a:cubicBezTo>
                  <a:pt x="3572195" y="2661398"/>
                  <a:pt x="3560262" y="2700681"/>
                  <a:pt x="3544723" y="2738844"/>
                </a:cubicBezTo>
                <a:lnTo>
                  <a:pt x="3542054" y="2744015"/>
                </a:lnTo>
                <a:lnTo>
                  <a:pt x="3540125" y="2750282"/>
                </a:lnTo>
                <a:lnTo>
                  <a:pt x="3508973" y="2808086"/>
                </a:lnTo>
                <a:lnTo>
                  <a:pt x="3487665" y="2849357"/>
                </a:lnTo>
                <a:lnTo>
                  <a:pt x="3484496" y="2853505"/>
                </a:lnTo>
                <a:lnTo>
                  <a:pt x="3474396" y="2872247"/>
                </a:lnTo>
                <a:lnTo>
                  <a:pt x="3411981" y="2948423"/>
                </a:lnTo>
                <a:lnTo>
                  <a:pt x="3411214" y="2949427"/>
                </a:lnTo>
                <a:lnTo>
                  <a:pt x="3410990" y="2949633"/>
                </a:lnTo>
                <a:lnTo>
                  <a:pt x="3387223" y="2978641"/>
                </a:lnTo>
                <a:cubicBezTo>
                  <a:pt x="3257939" y="3108919"/>
                  <a:pt x="3078932" y="3190467"/>
                  <a:pt x="2880035" y="3194444"/>
                </a:cubicBezTo>
                <a:cubicBezTo>
                  <a:pt x="2657268" y="3194444"/>
                  <a:pt x="2458372" y="3098973"/>
                  <a:pt x="2331076" y="2939855"/>
                </a:cubicBezTo>
                <a:lnTo>
                  <a:pt x="859237" y="1181601"/>
                </a:lnTo>
                <a:cubicBezTo>
                  <a:pt x="755810" y="1054308"/>
                  <a:pt x="692163" y="895190"/>
                  <a:pt x="692163" y="720161"/>
                </a:cubicBezTo>
                <a:cubicBezTo>
                  <a:pt x="692163" y="322365"/>
                  <a:pt x="1018355" y="4129"/>
                  <a:pt x="1408193" y="4129"/>
                </a:cubicBezTo>
                <a:cubicBezTo>
                  <a:pt x="1630958" y="4129"/>
                  <a:pt x="1829855" y="99600"/>
                  <a:pt x="1957149" y="258718"/>
                </a:cubicBezTo>
                <a:lnTo>
                  <a:pt x="2500573" y="904951"/>
                </a:lnTo>
                <a:lnTo>
                  <a:pt x="2563692" y="623544"/>
                </a:lnTo>
                <a:lnTo>
                  <a:pt x="2568622" y="575183"/>
                </a:lnTo>
                <a:cubicBezTo>
                  <a:pt x="2587983" y="481639"/>
                  <a:pt x="2625680" y="394932"/>
                  <a:pt x="2677611" y="318791"/>
                </a:cubicBezTo>
                <a:lnTo>
                  <a:pt x="2722456" y="264901"/>
                </a:lnTo>
                <a:lnTo>
                  <a:pt x="2746648" y="233234"/>
                </a:lnTo>
                <a:lnTo>
                  <a:pt x="2755783" y="224852"/>
                </a:lnTo>
                <a:lnTo>
                  <a:pt x="2765669" y="212971"/>
                </a:lnTo>
                <a:lnTo>
                  <a:pt x="2794370" y="189442"/>
                </a:lnTo>
                <a:lnTo>
                  <a:pt x="2840255" y="147335"/>
                </a:lnTo>
                <a:lnTo>
                  <a:pt x="2865431" y="131185"/>
                </a:lnTo>
                <a:lnTo>
                  <a:pt x="2872002" y="125798"/>
                </a:lnTo>
                <a:lnTo>
                  <a:pt x="2883644" y="119502"/>
                </a:lnTo>
                <a:lnTo>
                  <a:pt x="2932840" y="87943"/>
                </a:lnTo>
                <a:lnTo>
                  <a:pt x="2987871" y="63130"/>
                </a:lnTo>
                <a:lnTo>
                  <a:pt x="2993531" y="60069"/>
                </a:lnTo>
                <a:lnTo>
                  <a:pt x="2997157" y="58943"/>
                </a:lnTo>
                <a:lnTo>
                  <a:pt x="3030486" y="43916"/>
                </a:lnTo>
                <a:cubicBezTo>
                  <a:pt x="3096903" y="19652"/>
                  <a:pt x="3165593" y="5527"/>
                  <a:pt x="3234352" y="1331"/>
                </a:cubicBezTo>
                <a:cubicBezTo>
                  <a:pt x="3263002" y="-417"/>
                  <a:pt x="3291664" y="-441"/>
                  <a:pt x="3320178" y="1243"/>
                </a:cubicBezTo>
                <a:close/>
              </a:path>
            </a:pathLst>
          </a:custGeom>
          <a:solidFill>
            <a:schemeClr val="tx2">
              <a:alpha val="19000"/>
            </a:schemeClr>
          </a:solidFill>
          <a:ln w="300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760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389CAA1-91CB-44D7-9730-90E2518ED5B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21266"/>
            <a:ext cx="12192000" cy="322326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32259" y="6440033"/>
            <a:ext cx="9745336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33400" y="5882553"/>
            <a:ext cx="9745336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33400" y="4278633"/>
            <a:ext cx="9745336" cy="6771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43882-5B37-43C9-A7D5-2B65B76FC2C1}"/>
              </a:ext>
            </a:extLst>
          </p:cNvPr>
          <p:cNvSpPr/>
          <p:nvPr userDrawn="1"/>
        </p:nvSpPr>
        <p:spPr bwMode="ltGray">
          <a:xfrm>
            <a:off x="0" y="0"/>
            <a:ext cx="12192000" cy="821267"/>
          </a:xfrm>
          <a:prstGeom prst="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8E5C52-6338-4CA0-8266-ABD8E1DA0F20}"/>
              </a:ext>
            </a:extLst>
          </p:cNvPr>
          <p:cNvSpPr/>
          <p:nvPr userDrawn="1"/>
        </p:nvSpPr>
        <p:spPr bwMode="ltGray">
          <a:xfrm>
            <a:off x="0" y="4044620"/>
            <a:ext cx="12192000" cy="85426"/>
          </a:xfrm>
          <a:prstGeom prst="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00921D6-7484-4125-BBC9-84E4AEFC528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lum bright="10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465664" y="220133"/>
            <a:ext cx="1733550" cy="38100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A8CDEF0-2ABD-434C-A05F-BE41B6EE44C9}"/>
              </a:ext>
            </a:extLst>
          </p:cNvPr>
          <p:cNvSpPr/>
          <p:nvPr userDrawn="1"/>
        </p:nvSpPr>
        <p:spPr bwMode="ltGray">
          <a:xfrm>
            <a:off x="9601200" y="2535158"/>
            <a:ext cx="2590800" cy="1514200"/>
          </a:xfrm>
          <a:custGeom>
            <a:avLst/>
            <a:gdLst>
              <a:gd name="connsiteX0" fmla="*/ 716030 w 5465701"/>
              <a:gd name="connsiteY0" fmla="*/ 1754427 h 3194444"/>
              <a:gd name="connsiteX1" fmla="*/ 1432062 w 5465701"/>
              <a:gd name="connsiteY1" fmla="*/ 2470460 h 3194444"/>
              <a:gd name="connsiteX2" fmla="*/ 716030 w 5465701"/>
              <a:gd name="connsiteY2" fmla="*/ 3186489 h 3194444"/>
              <a:gd name="connsiteX3" fmla="*/ 0 w 5465701"/>
              <a:gd name="connsiteY3" fmla="*/ 2470460 h 3194444"/>
              <a:gd name="connsiteX4" fmla="*/ 716030 w 5465701"/>
              <a:gd name="connsiteY4" fmla="*/ 1754427 h 3194444"/>
              <a:gd name="connsiteX5" fmla="*/ 3320178 w 5465701"/>
              <a:gd name="connsiteY5" fmla="*/ 1243 h 3194444"/>
              <a:gd name="connsiteX6" fmla="*/ 3842696 w 5465701"/>
              <a:gd name="connsiteY6" fmla="*/ 282584 h 3194444"/>
              <a:gd name="connsiteX7" fmla="*/ 3851787 w 5465701"/>
              <a:gd name="connsiteY7" fmla="*/ 297699 h 3194444"/>
              <a:gd name="connsiteX8" fmla="*/ 5298627 w 5465701"/>
              <a:gd name="connsiteY8" fmla="*/ 2009016 h 3194444"/>
              <a:gd name="connsiteX9" fmla="*/ 5465701 w 5465701"/>
              <a:gd name="connsiteY9" fmla="*/ 2470459 h 3194444"/>
              <a:gd name="connsiteX10" fmla="*/ 4741715 w 5465701"/>
              <a:gd name="connsiteY10" fmla="*/ 3194444 h 3194444"/>
              <a:gd name="connsiteX11" fmla="*/ 4192757 w 5465701"/>
              <a:gd name="connsiteY11" fmla="*/ 2939855 h 3194444"/>
              <a:gd name="connsiteX12" fmla="*/ 3653171 w 5465701"/>
              <a:gd name="connsiteY12" fmla="*/ 2295268 h 3194444"/>
              <a:gd name="connsiteX13" fmla="*/ 3581681 w 5465701"/>
              <a:gd name="connsiteY13" fmla="*/ 2614783 h 3194444"/>
              <a:gd name="connsiteX14" fmla="*/ 3581614 w 5465701"/>
              <a:gd name="connsiteY14" fmla="*/ 2615452 h 3194444"/>
              <a:gd name="connsiteX15" fmla="*/ 3581309 w 5465701"/>
              <a:gd name="connsiteY15" fmla="*/ 2616441 h 3194444"/>
              <a:gd name="connsiteX16" fmla="*/ 3580151 w 5465701"/>
              <a:gd name="connsiteY16" fmla="*/ 2621619 h 3194444"/>
              <a:gd name="connsiteX17" fmla="*/ 3544723 w 5465701"/>
              <a:gd name="connsiteY17" fmla="*/ 2738844 h 3194444"/>
              <a:gd name="connsiteX18" fmla="*/ 3542054 w 5465701"/>
              <a:gd name="connsiteY18" fmla="*/ 2744015 h 3194444"/>
              <a:gd name="connsiteX19" fmla="*/ 3540125 w 5465701"/>
              <a:gd name="connsiteY19" fmla="*/ 2750282 h 3194444"/>
              <a:gd name="connsiteX20" fmla="*/ 3508973 w 5465701"/>
              <a:gd name="connsiteY20" fmla="*/ 2808086 h 3194444"/>
              <a:gd name="connsiteX21" fmla="*/ 3487665 w 5465701"/>
              <a:gd name="connsiteY21" fmla="*/ 2849357 h 3194444"/>
              <a:gd name="connsiteX22" fmla="*/ 3484496 w 5465701"/>
              <a:gd name="connsiteY22" fmla="*/ 2853505 h 3194444"/>
              <a:gd name="connsiteX23" fmla="*/ 3474396 w 5465701"/>
              <a:gd name="connsiteY23" fmla="*/ 2872247 h 3194444"/>
              <a:gd name="connsiteX24" fmla="*/ 3411981 w 5465701"/>
              <a:gd name="connsiteY24" fmla="*/ 2948423 h 3194444"/>
              <a:gd name="connsiteX25" fmla="*/ 3411214 w 5465701"/>
              <a:gd name="connsiteY25" fmla="*/ 2949427 h 3194444"/>
              <a:gd name="connsiteX26" fmla="*/ 3410990 w 5465701"/>
              <a:gd name="connsiteY26" fmla="*/ 2949633 h 3194444"/>
              <a:gd name="connsiteX27" fmla="*/ 3387223 w 5465701"/>
              <a:gd name="connsiteY27" fmla="*/ 2978641 h 3194444"/>
              <a:gd name="connsiteX28" fmla="*/ 2880035 w 5465701"/>
              <a:gd name="connsiteY28" fmla="*/ 3194444 h 3194444"/>
              <a:gd name="connsiteX29" fmla="*/ 2331076 w 5465701"/>
              <a:gd name="connsiteY29" fmla="*/ 2939855 h 3194444"/>
              <a:gd name="connsiteX30" fmla="*/ 859237 w 5465701"/>
              <a:gd name="connsiteY30" fmla="*/ 1181601 h 3194444"/>
              <a:gd name="connsiteX31" fmla="*/ 692163 w 5465701"/>
              <a:gd name="connsiteY31" fmla="*/ 720161 h 3194444"/>
              <a:gd name="connsiteX32" fmla="*/ 1408193 w 5465701"/>
              <a:gd name="connsiteY32" fmla="*/ 4129 h 3194444"/>
              <a:gd name="connsiteX33" fmla="*/ 1957149 w 5465701"/>
              <a:gd name="connsiteY33" fmla="*/ 258718 h 3194444"/>
              <a:gd name="connsiteX34" fmla="*/ 2500573 w 5465701"/>
              <a:gd name="connsiteY34" fmla="*/ 904951 h 3194444"/>
              <a:gd name="connsiteX35" fmla="*/ 2563692 w 5465701"/>
              <a:gd name="connsiteY35" fmla="*/ 623544 h 3194444"/>
              <a:gd name="connsiteX36" fmla="*/ 2568622 w 5465701"/>
              <a:gd name="connsiteY36" fmla="*/ 575183 h 3194444"/>
              <a:gd name="connsiteX37" fmla="*/ 2677611 w 5465701"/>
              <a:gd name="connsiteY37" fmla="*/ 318791 h 3194444"/>
              <a:gd name="connsiteX38" fmla="*/ 2722456 w 5465701"/>
              <a:gd name="connsiteY38" fmla="*/ 264901 h 3194444"/>
              <a:gd name="connsiteX39" fmla="*/ 2746648 w 5465701"/>
              <a:gd name="connsiteY39" fmla="*/ 233234 h 3194444"/>
              <a:gd name="connsiteX40" fmla="*/ 2755783 w 5465701"/>
              <a:gd name="connsiteY40" fmla="*/ 224852 h 3194444"/>
              <a:gd name="connsiteX41" fmla="*/ 2765669 w 5465701"/>
              <a:gd name="connsiteY41" fmla="*/ 212971 h 3194444"/>
              <a:gd name="connsiteX42" fmla="*/ 2794370 w 5465701"/>
              <a:gd name="connsiteY42" fmla="*/ 189442 h 3194444"/>
              <a:gd name="connsiteX43" fmla="*/ 2840255 w 5465701"/>
              <a:gd name="connsiteY43" fmla="*/ 147335 h 3194444"/>
              <a:gd name="connsiteX44" fmla="*/ 2865431 w 5465701"/>
              <a:gd name="connsiteY44" fmla="*/ 131185 h 3194444"/>
              <a:gd name="connsiteX45" fmla="*/ 2872002 w 5465701"/>
              <a:gd name="connsiteY45" fmla="*/ 125798 h 3194444"/>
              <a:gd name="connsiteX46" fmla="*/ 2883644 w 5465701"/>
              <a:gd name="connsiteY46" fmla="*/ 119502 h 3194444"/>
              <a:gd name="connsiteX47" fmla="*/ 2932840 w 5465701"/>
              <a:gd name="connsiteY47" fmla="*/ 87943 h 3194444"/>
              <a:gd name="connsiteX48" fmla="*/ 2987871 w 5465701"/>
              <a:gd name="connsiteY48" fmla="*/ 63130 h 3194444"/>
              <a:gd name="connsiteX49" fmla="*/ 2993531 w 5465701"/>
              <a:gd name="connsiteY49" fmla="*/ 60069 h 3194444"/>
              <a:gd name="connsiteX50" fmla="*/ 2997157 w 5465701"/>
              <a:gd name="connsiteY50" fmla="*/ 58943 h 3194444"/>
              <a:gd name="connsiteX51" fmla="*/ 3030486 w 5465701"/>
              <a:gd name="connsiteY51" fmla="*/ 43916 h 3194444"/>
              <a:gd name="connsiteX52" fmla="*/ 3234352 w 5465701"/>
              <a:gd name="connsiteY52" fmla="*/ 1331 h 3194444"/>
              <a:gd name="connsiteX53" fmla="*/ 3320178 w 5465701"/>
              <a:gd name="connsiteY53" fmla="*/ 1243 h 3194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465701" h="3194444">
                <a:moveTo>
                  <a:pt x="716030" y="1754427"/>
                </a:moveTo>
                <a:cubicBezTo>
                  <a:pt x="1111483" y="1754427"/>
                  <a:pt x="1432062" y="2075007"/>
                  <a:pt x="1432062" y="2470460"/>
                </a:cubicBezTo>
                <a:cubicBezTo>
                  <a:pt x="1432062" y="2865910"/>
                  <a:pt x="1111483" y="3186489"/>
                  <a:pt x="716030" y="3186489"/>
                </a:cubicBezTo>
                <a:cubicBezTo>
                  <a:pt x="320577" y="3186489"/>
                  <a:pt x="0" y="2865910"/>
                  <a:pt x="0" y="2470460"/>
                </a:cubicBezTo>
                <a:cubicBezTo>
                  <a:pt x="0" y="2075007"/>
                  <a:pt x="320577" y="1754427"/>
                  <a:pt x="716030" y="1754427"/>
                </a:cubicBezTo>
                <a:close/>
                <a:moveTo>
                  <a:pt x="3320178" y="1243"/>
                </a:moveTo>
                <a:cubicBezTo>
                  <a:pt x="3519781" y="13034"/>
                  <a:pt x="3712171" y="108549"/>
                  <a:pt x="3842696" y="282584"/>
                </a:cubicBezTo>
                <a:lnTo>
                  <a:pt x="3851787" y="297699"/>
                </a:lnTo>
                <a:lnTo>
                  <a:pt x="5298627" y="2009016"/>
                </a:lnTo>
                <a:cubicBezTo>
                  <a:pt x="5402054" y="2136309"/>
                  <a:pt x="5465701" y="2295427"/>
                  <a:pt x="5465701" y="2470459"/>
                </a:cubicBezTo>
                <a:cubicBezTo>
                  <a:pt x="5465701" y="2868253"/>
                  <a:pt x="5147465" y="3186489"/>
                  <a:pt x="4741715" y="3194444"/>
                </a:cubicBezTo>
                <a:cubicBezTo>
                  <a:pt x="4518948" y="3194444"/>
                  <a:pt x="4320053" y="3098973"/>
                  <a:pt x="4192757" y="2939855"/>
                </a:cubicBezTo>
                <a:lnTo>
                  <a:pt x="3653171" y="2295268"/>
                </a:lnTo>
                <a:lnTo>
                  <a:pt x="3581681" y="2614783"/>
                </a:lnTo>
                <a:lnTo>
                  <a:pt x="3581614" y="2615452"/>
                </a:lnTo>
                <a:lnTo>
                  <a:pt x="3581309" y="2616441"/>
                </a:lnTo>
                <a:lnTo>
                  <a:pt x="3580151" y="2621619"/>
                </a:lnTo>
                <a:cubicBezTo>
                  <a:pt x="3572195" y="2661398"/>
                  <a:pt x="3560262" y="2700681"/>
                  <a:pt x="3544723" y="2738844"/>
                </a:cubicBezTo>
                <a:lnTo>
                  <a:pt x="3542054" y="2744015"/>
                </a:lnTo>
                <a:lnTo>
                  <a:pt x="3540125" y="2750282"/>
                </a:lnTo>
                <a:lnTo>
                  <a:pt x="3508973" y="2808086"/>
                </a:lnTo>
                <a:lnTo>
                  <a:pt x="3487665" y="2849357"/>
                </a:lnTo>
                <a:lnTo>
                  <a:pt x="3484496" y="2853505"/>
                </a:lnTo>
                <a:lnTo>
                  <a:pt x="3474396" y="2872247"/>
                </a:lnTo>
                <a:lnTo>
                  <a:pt x="3411981" y="2948423"/>
                </a:lnTo>
                <a:lnTo>
                  <a:pt x="3411214" y="2949427"/>
                </a:lnTo>
                <a:lnTo>
                  <a:pt x="3410990" y="2949633"/>
                </a:lnTo>
                <a:lnTo>
                  <a:pt x="3387223" y="2978641"/>
                </a:lnTo>
                <a:cubicBezTo>
                  <a:pt x="3257939" y="3108919"/>
                  <a:pt x="3078932" y="3190467"/>
                  <a:pt x="2880035" y="3194444"/>
                </a:cubicBezTo>
                <a:cubicBezTo>
                  <a:pt x="2657268" y="3194444"/>
                  <a:pt x="2458372" y="3098973"/>
                  <a:pt x="2331076" y="2939855"/>
                </a:cubicBezTo>
                <a:lnTo>
                  <a:pt x="859237" y="1181601"/>
                </a:lnTo>
                <a:cubicBezTo>
                  <a:pt x="755810" y="1054308"/>
                  <a:pt x="692163" y="895190"/>
                  <a:pt x="692163" y="720161"/>
                </a:cubicBezTo>
                <a:cubicBezTo>
                  <a:pt x="692163" y="322365"/>
                  <a:pt x="1018355" y="4129"/>
                  <a:pt x="1408193" y="4129"/>
                </a:cubicBezTo>
                <a:cubicBezTo>
                  <a:pt x="1630958" y="4129"/>
                  <a:pt x="1829855" y="99600"/>
                  <a:pt x="1957149" y="258718"/>
                </a:cubicBezTo>
                <a:lnTo>
                  <a:pt x="2500573" y="904951"/>
                </a:lnTo>
                <a:lnTo>
                  <a:pt x="2563692" y="623544"/>
                </a:lnTo>
                <a:lnTo>
                  <a:pt x="2568622" y="575183"/>
                </a:lnTo>
                <a:cubicBezTo>
                  <a:pt x="2587983" y="481639"/>
                  <a:pt x="2625680" y="394932"/>
                  <a:pt x="2677611" y="318791"/>
                </a:cubicBezTo>
                <a:lnTo>
                  <a:pt x="2722456" y="264901"/>
                </a:lnTo>
                <a:lnTo>
                  <a:pt x="2746648" y="233234"/>
                </a:lnTo>
                <a:lnTo>
                  <a:pt x="2755783" y="224852"/>
                </a:lnTo>
                <a:lnTo>
                  <a:pt x="2765669" y="212971"/>
                </a:lnTo>
                <a:lnTo>
                  <a:pt x="2794370" y="189442"/>
                </a:lnTo>
                <a:lnTo>
                  <a:pt x="2840255" y="147335"/>
                </a:lnTo>
                <a:lnTo>
                  <a:pt x="2865431" y="131185"/>
                </a:lnTo>
                <a:lnTo>
                  <a:pt x="2872002" y="125798"/>
                </a:lnTo>
                <a:lnTo>
                  <a:pt x="2883644" y="119502"/>
                </a:lnTo>
                <a:lnTo>
                  <a:pt x="2932840" y="87943"/>
                </a:lnTo>
                <a:lnTo>
                  <a:pt x="2987871" y="63130"/>
                </a:lnTo>
                <a:lnTo>
                  <a:pt x="2993531" y="60069"/>
                </a:lnTo>
                <a:lnTo>
                  <a:pt x="2997157" y="58943"/>
                </a:lnTo>
                <a:lnTo>
                  <a:pt x="3030486" y="43916"/>
                </a:lnTo>
                <a:cubicBezTo>
                  <a:pt x="3096903" y="19652"/>
                  <a:pt x="3165593" y="5527"/>
                  <a:pt x="3234352" y="1331"/>
                </a:cubicBezTo>
                <a:cubicBezTo>
                  <a:pt x="3263002" y="-417"/>
                  <a:pt x="3291664" y="-441"/>
                  <a:pt x="3320178" y="1243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 w="300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C9971A-6012-41B4-A63D-41852C1E7F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6610" y="681586"/>
            <a:ext cx="12198610" cy="33677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8475C0-F5F0-43DF-ADC1-997C191CA37C}"/>
              </a:ext>
            </a:extLst>
          </p:cNvPr>
          <p:cNvSpPr/>
          <p:nvPr userDrawn="1"/>
        </p:nvSpPr>
        <p:spPr>
          <a:xfrm>
            <a:off x="-6610" y="667670"/>
            <a:ext cx="12198610" cy="3381688"/>
          </a:xfrm>
          <a:prstGeom prst="rect">
            <a:avLst/>
          </a:prstGeom>
          <a:solidFill>
            <a:srgbClr val="C00000">
              <a:alpha val="27000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397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6241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33538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456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897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41460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07E36632-5062-4623-81E8-04271679581A}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492920" y="184386"/>
            <a:ext cx="11215686" cy="803564"/>
          </a:xfrm>
          <a:prstGeom prst="roundRect">
            <a:avLst>
              <a:gd name="adj" fmla="val 22387"/>
            </a:avLst>
          </a:prstGeom>
          <a:gradFill>
            <a:gsLst>
              <a:gs pos="100000">
                <a:srgbClr val="FF671F"/>
              </a:gs>
              <a:gs pos="0">
                <a:srgbClr val="FF0000"/>
              </a:gs>
            </a:gsLst>
            <a:lin ang="0" scaled="0"/>
          </a:gradFill>
          <a:ln w="10795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en-US" sz="32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019745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20408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3427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06119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2958496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7661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3712467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58358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2D91BA2-8C6E-4C39-82C4-C8D6977634A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34013" y="3060131"/>
            <a:ext cx="6679932" cy="1354217"/>
          </a:xfrm>
        </p:spPr>
        <p:txBody>
          <a:bodyPr vert="horz" anchor="ctr" anchorCtr="0">
            <a:spAutoFit/>
          </a:bodyPr>
          <a:lstStyle>
            <a:lvl1pPr rtl="0"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85F68B-5AD9-41ED-B05F-153BF3BB613F}"/>
              </a:ext>
            </a:extLst>
          </p:cNvPr>
          <p:cNvCxnSpPr/>
          <p:nvPr userDrawn="1"/>
        </p:nvCxnSpPr>
        <p:spPr>
          <a:xfrm>
            <a:off x="914400" y="5289464"/>
            <a:ext cx="3512457" cy="0"/>
          </a:xfrm>
          <a:prstGeom prst="line">
            <a:avLst/>
          </a:prstGeom>
          <a:ln w="1651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7A055AF-941C-43B5-BC0A-01DB0A55B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1851" y="2310871"/>
            <a:ext cx="3754664" cy="2852737"/>
          </a:xfrm>
        </p:spPr>
        <p:txBody>
          <a:bodyPr anchor="ctr" anchorCtr="0">
            <a:noAutofit/>
          </a:bodyPr>
          <a:lstStyle>
            <a:lvl1pPr>
              <a:defRPr sz="188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421513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16805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3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/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361968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49915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FBE3D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12E3834-0FD3-4DA2-8DCF-C744F65A27E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188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919277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FBE3D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8E398AF-77E5-4FE0-9F5C-A6F62210A48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33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2234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FBE3D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45611"/>
            <a:ext cx="5065776" cy="384721"/>
          </a:xfrm>
        </p:spPr>
        <p:txBody>
          <a:bodyPr vert="horz" anchor="ctr" anchorCtr="0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33538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6B72EC-3D4D-4ABE-A72D-880E3C7CA5D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751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4626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45611"/>
            <a:ext cx="6967728" cy="384721"/>
          </a:xfrm>
        </p:spPr>
        <p:txBody>
          <a:bodyPr vert="horz" anchor="ctr" anchorCtr="0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FBE3D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33538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86A84EA-A7DD-487F-B7A5-DE64EF4696B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73248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FBE3DD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45611"/>
            <a:ext cx="7918704" cy="384721"/>
          </a:xfrm>
        </p:spPr>
        <p:txBody>
          <a:bodyPr vert="horz" anchor="ctr" anchorCtr="0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33538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600825C-A040-4E44-8953-825A82AD543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17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92145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556932"/>
            <a:ext cx="11082528" cy="384721"/>
          </a:xfrm>
        </p:spPr>
        <p:txBody>
          <a:bodyPr vert="horz">
            <a:spAutoFit/>
          </a:bodyPr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CCB5098-03C0-4738-925B-3B46081AE73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lum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003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9640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166C02-2E97-4226-9F01-88326758F09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lum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772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89319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35E5F4-E0DF-44AB-A95E-11FD6DC0602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ltGray">
          <a:xfrm>
            <a:off x="4113251" y="2993231"/>
            <a:ext cx="3965498" cy="87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533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4836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45611"/>
            <a:ext cx="11082528" cy="3847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33538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210555632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13473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think-cell Slide" r:id="rId11" imgW="592" imgH="591" progId="TCLayout.ActiveDocument.1">
                  <p:embed/>
                </p:oleObj>
              </mc:Choice>
              <mc:Fallback>
                <p:oleObj name="think-cell Slide" r:id="rId11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345611"/>
            <a:ext cx="5065776" cy="384721"/>
          </a:xfrm>
        </p:spPr>
        <p:txBody>
          <a:bodyPr vert="horz" anchor="ctr" anchorCtr="0"/>
          <a:lstStyle>
            <a:lvl1pPr rtl="0"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33538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2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EABFFC1-B9EA-4B31-906F-B6521A6C4EE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10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080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37326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0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201E918A-7ADD-4595-9E5C-36C3D305CA4A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A0895B2F-2F72-4935-BC7F-BEA280D6C542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E2ED065-559A-4FF2-B22A-E71850F2A7E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561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4836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1123777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7C3447-804A-4ADB-BA29-D1CD7BA98857}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588604" y="1017327"/>
            <a:ext cx="3084394" cy="0"/>
          </a:xfrm>
          <a:prstGeom prst="line">
            <a:avLst/>
          </a:prstGeom>
          <a:ln w="1651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0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tags" Target="../tags/tag10.xml"/><Relationship Id="rId39" Type="http://schemas.openxmlformats.org/officeDocument/2006/relationships/tags" Target="../tags/tag23.xml"/><Relationship Id="rId21" Type="http://schemas.openxmlformats.org/officeDocument/2006/relationships/slideLayout" Target="../slideLayouts/slideLayout35.xml"/><Relationship Id="rId34" Type="http://schemas.openxmlformats.org/officeDocument/2006/relationships/tags" Target="../tags/tag18.xml"/><Relationship Id="rId42" Type="http://schemas.openxmlformats.org/officeDocument/2006/relationships/tags" Target="../tags/tag26.xml"/><Relationship Id="rId47" Type="http://schemas.openxmlformats.org/officeDocument/2006/relationships/image" Target="../media/image3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9" Type="http://schemas.openxmlformats.org/officeDocument/2006/relationships/tags" Target="../tags/tag1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8.xml"/><Relationship Id="rId32" Type="http://schemas.openxmlformats.org/officeDocument/2006/relationships/tags" Target="../tags/tag16.xml"/><Relationship Id="rId37" Type="http://schemas.openxmlformats.org/officeDocument/2006/relationships/tags" Target="../tags/tag21.xml"/><Relationship Id="rId40" Type="http://schemas.openxmlformats.org/officeDocument/2006/relationships/tags" Target="../tags/tag24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vmlDrawing" Target="../drawings/vmlDrawing2.vml"/><Relationship Id="rId28" Type="http://schemas.openxmlformats.org/officeDocument/2006/relationships/tags" Target="../tags/tag12.xml"/><Relationship Id="rId36" Type="http://schemas.openxmlformats.org/officeDocument/2006/relationships/tags" Target="../tags/tag2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tags" Target="../tags/tag15.xml"/><Relationship Id="rId44" Type="http://schemas.openxmlformats.org/officeDocument/2006/relationships/oleObject" Target="../embeddings/oleObject2.bin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heme" Target="../theme/theme2.xml"/><Relationship Id="rId27" Type="http://schemas.openxmlformats.org/officeDocument/2006/relationships/tags" Target="../tags/tag11.xml"/><Relationship Id="rId30" Type="http://schemas.openxmlformats.org/officeDocument/2006/relationships/tags" Target="../tags/tag14.xml"/><Relationship Id="rId35" Type="http://schemas.openxmlformats.org/officeDocument/2006/relationships/tags" Target="../tags/tag19.xml"/><Relationship Id="rId43" Type="http://schemas.openxmlformats.org/officeDocument/2006/relationships/tags" Target="../tags/tag27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9.xml"/><Relationship Id="rId33" Type="http://schemas.openxmlformats.org/officeDocument/2006/relationships/tags" Target="../tags/tag17.xml"/><Relationship Id="rId38" Type="http://schemas.openxmlformats.org/officeDocument/2006/relationships/tags" Target="../tags/tag22.xml"/><Relationship Id="rId46" Type="http://schemas.openxmlformats.org/officeDocument/2006/relationships/image" Target="../media/image2.png"/><Relationship Id="rId20" Type="http://schemas.openxmlformats.org/officeDocument/2006/relationships/slideLayout" Target="../slideLayouts/slideLayout34.xml"/><Relationship Id="rId41" Type="http://schemas.openxmlformats.org/officeDocument/2006/relationships/tags" Target="../tags/tag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102"/>
            <a:ext cx="10515600" cy="761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67409"/>
            <a:ext cx="10515600" cy="5209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6DFC8-27C6-4D33-AC17-4831216A6D2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 userDrawn="1"/>
        </p:nvGraphicFramePr>
        <p:xfrm>
          <a:off x="-1524000" y="1371601"/>
          <a:ext cx="1057276" cy="535665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653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815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800" b="1">
                          <a:solidFill>
                            <a:schemeClr val="tx1"/>
                          </a:solidFill>
                        </a:rPr>
                        <a:t>This is only</a:t>
                      </a:r>
                      <a:r>
                        <a:rPr lang="en-AU" sz="800" b="1" baseline="0">
                          <a:solidFill>
                            <a:schemeClr val="tx1"/>
                          </a:solidFill>
                        </a:rPr>
                        <a:t> an aid. It will not print</a:t>
                      </a:r>
                      <a:endParaRPr lang="en-AU" sz="800" b="1">
                        <a:solidFill>
                          <a:schemeClr val="tx1"/>
                        </a:solidFill>
                      </a:endParaRPr>
                    </a:p>
                  </a:txBody>
                  <a:tcPr marL="33344" marR="33344" marT="32652" marB="32652"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Dark Orange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230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112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21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rgbClr val="E67015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70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Mid Orange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235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137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27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89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770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Light</a:t>
                      </a:r>
                      <a:r>
                        <a:rPr lang="en-AU" sz="700" b="1" baseline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Orange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243</a:t>
                      </a:r>
                    </a:p>
                    <a:p>
                      <a:pPr marL="268288" indent="-268288"/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174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0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A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Black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0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0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0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Grey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166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166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166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Mid Grey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191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191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191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Blue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0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81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151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1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chemeClr val="tx2"/>
                          </a:solidFill>
                        </a:rPr>
                        <a:t>Sky</a:t>
                      </a:r>
                      <a:r>
                        <a:rPr lang="en-AU" sz="700" b="1" baseline="0">
                          <a:solidFill>
                            <a:schemeClr val="tx2"/>
                          </a:solidFill>
                        </a:rPr>
                        <a:t> Blue</a:t>
                      </a:r>
                      <a:endParaRPr lang="en-AU" sz="700" b="1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R     0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G     174</a:t>
                      </a:r>
                    </a:p>
                    <a:p>
                      <a:r>
                        <a:rPr lang="en-AU" sz="700" b="0">
                          <a:solidFill>
                            <a:schemeClr val="tx2"/>
                          </a:solidFill>
                        </a:rPr>
                        <a:t>B</a:t>
                      </a:r>
                      <a:r>
                        <a:rPr lang="en-AU" sz="700" b="0" baseline="0">
                          <a:solidFill>
                            <a:schemeClr val="tx2"/>
                          </a:solidFill>
                        </a:rPr>
                        <a:t>     239</a:t>
                      </a:r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9593">
                <a:tc gridSpan="2">
                  <a:txBody>
                    <a:bodyPr/>
                    <a:lstStyle/>
                    <a:p>
                      <a:pPr algn="ctr"/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700" b="0">
                        <a:solidFill>
                          <a:schemeClr val="tx2"/>
                        </a:solidFill>
                      </a:endParaRPr>
                    </a:p>
                  </a:txBody>
                  <a:tcPr marL="33344" marR="33344" marT="32652" marB="32652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59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10759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think-cell Slide" r:id="rId44" imgW="413" imgH="416" progId="TCLayout.ActiveDocument.1">
                  <p:embed/>
                </p:oleObj>
              </mc:Choice>
              <mc:Fallback>
                <p:oleObj name="think-cell Slide" r:id="rId44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6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marR="0" lvl="0" indent="-212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554736" y="345611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2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8"/>
            </p:custDataLst>
          </p:nvPr>
        </p:nvSpPr>
        <p:spPr>
          <a:xfrm>
            <a:off x="5987738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Above Chart Exhibit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551524" y="2483241"/>
            <a:ext cx="2743200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9" name="Graphic 148">
            <a:extLst>
              <a:ext uri="{FF2B5EF4-FFF2-40B4-BE49-F238E27FC236}">
                <a16:creationId xmlns:a16="http://schemas.microsoft.com/office/drawing/2014/main" id="{DA13EA10-1EB8-4F91-8B20-D921FB21BC3F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lum/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 bwMode="ltGray">
          <a:xfrm>
            <a:off x="10157063" y="6385178"/>
            <a:ext cx="1127390" cy="247778"/>
          </a:xfrm>
          <a:prstGeom prst="rect">
            <a:avLst/>
          </a:prstGeom>
        </p:spPr>
      </p:pic>
      <p:grpSp>
        <p:nvGrpSpPr>
          <p:cNvPr id="148" name="LegendLines" hidden="1">
            <a:extLst>
              <a:ext uri="{FF2B5EF4-FFF2-40B4-BE49-F238E27FC236}">
                <a16:creationId xmlns:a16="http://schemas.microsoft.com/office/drawing/2014/main" id="{151A64A7-188B-441F-8990-A3B78A3F7C39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150" name="Legend1" hidden="1">
              <a:extLst>
                <a:ext uri="{FF2B5EF4-FFF2-40B4-BE49-F238E27FC236}">
                  <a16:creationId xmlns:a16="http://schemas.microsoft.com/office/drawing/2014/main" id="{525E5B8C-817E-408A-85F3-93831C28D3CD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1" name="Legend2" hidden="1">
              <a:extLst>
                <a:ext uri="{FF2B5EF4-FFF2-40B4-BE49-F238E27FC236}">
                  <a16:creationId xmlns:a16="http://schemas.microsoft.com/office/drawing/2014/main" id="{5AE811D7-48FA-4C68-8B2D-1E67FF428519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2" name="Legend3" hidden="1">
              <a:extLst>
                <a:ext uri="{FF2B5EF4-FFF2-40B4-BE49-F238E27FC236}">
                  <a16:creationId xmlns:a16="http://schemas.microsoft.com/office/drawing/2014/main" id="{7C939495-4AF5-4DD0-9A3B-3C62D90CB4D0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3" name="LineLegend3" hidden="1">
              <a:extLst>
                <a:ext uri="{FF2B5EF4-FFF2-40B4-BE49-F238E27FC236}">
                  <a16:creationId xmlns:a16="http://schemas.microsoft.com/office/drawing/2014/main" id="{DD1E267E-5AC2-4DF7-828B-173383A2B81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4" name="LineLegend2" hidden="1">
              <a:extLst>
                <a:ext uri="{FF2B5EF4-FFF2-40B4-BE49-F238E27FC236}">
                  <a16:creationId xmlns:a16="http://schemas.microsoft.com/office/drawing/2014/main" id="{BFD8FDCF-CB2F-449E-8A2C-BDC11A6EC1A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5" name="LineLegend1" hidden="1">
              <a:extLst>
                <a:ext uri="{FF2B5EF4-FFF2-40B4-BE49-F238E27FC236}">
                  <a16:creationId xmlns:a16="http://schemas.microsoft.com/office/drawing/2014/main" id="{0CCAF319-5D89-44D9-BED6-1841FAC9BC6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56" name="LegendMoons" hidden="1">
            <a:extLst>
              <a:ext uri="{FF2B5EF4-FFF2-40B4-BE49-F238E27FC236}">
                <a16:creationId xmlns:a16="http://schemas.microsoft.com/office/drawing/2014/main" id="{B1A443E4-61EA-4E0D-9AA1-08D8709F5C28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7" name="Legend1" hidden="1">
              <a:extLst>
                <a:ext uri="{FF2B5EF4-FFF2-40B4-BE49-F238E27FC236}">
                  <a16:creationId xmlns:a16="http://schemas.microsoft.com/office/drawing/2014/main" id="{EF3A1971-B8E5-465C-905B-88E5A75A26F4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8" name="Legend2" hidden="1">
              <a:extLst>
                <a:ext uri="{FF2B5EF4-FFF2-40B4-BE49-F238E27FC236}">
                  <a16:creationId xmlns:a16="http://schemas.microsoft.com/office/drawing/2014/main" id="{2672B014-4602-41C9-B32B-F969F9224C0D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59" name="Legend3" hidden="1">
              <a:extLst>
                <a:ext uri="{FF2B5EF4-FFF2-40B4-BE49-F238E27FC236}">
                  <a16:creationId xmlns:a16="http://schemas.microsoft.com/office/drawing/2014/main" id="{FAD76577-9630-4748-B286-108D8BF2D538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60" name="Legend4" hidden="1">
              <a:extLst>
                <a:ext uri="{FF2B5EF4-FFF2-40B4-BE49-F238E27FC236}">
                  <a16:creationId xmlns:a16="http://schemas.microsoft.com/office/drawing/2014/main" id="{1E8C61B5-A033-4EAA-8E75-97D05E16AB9A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61" name="Legend5" hidden="1">
              <a:extLst>
                <a:ext uri="{FF2B5EF4-FFF2-40B4-BE49-F238E27FC236}">
                  <a16:creationId xmlns:a16="http://schemas.microsoft.com/office/drawing/2014/main" id="{8A6E5214-4AAE-420D-9508-2B1133DDDBAC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grpSp>
          <p:nvGrpSpPr>
            <p:cNvPr id="162" name="MoonLegend1" hidden="1">
              <a:extLst>
                <a:ext uri="{FF2B5EF4-FFF2-40B4-BE49-F238E27FC236}">
                  <a16:creationId xmlns:a16="http://schemas.microsoft.com/office/drawing/2014/main" id="{0AB2FB40-2072-4124-95AE-B468AEC1AE24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85" name="Oval 184" hidden="1">
                <a:extLst>
                  <a:ext uri="{FF2B5EF4-FFF2-40B4-BE49-F238E27FC236}">
                    <a16:creationId xmlns:a16="http://schemas.microsoft.com/office/drawing/2014/main" id="{AD4555BA-2A5E-4FB2-B93A-85931AC7567E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7" name="Arc 186" hidden="1">
                <a:extLst>
                  <a:ext uri="{FF2B5EF4-FFF2-40B4-BE49-F238E27FC236}">
                    <a16:creationId xmlns:a16="http://schemas.microsoft.com/office/drawing/2014/main" id="{171A04FB-FA2D-439C-8449-7B20B52723C1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3" name="MoonLegend2" hidden="1">
              <a:extLst>
                <a:ext uri="{FF2B5EF4-FFF2-40B4-BE49-F238E27FC236}">
                  <a16:creationId xmlns:a16="http://schemas.microsoft.com/office/drawing/2014/main" id="{29649F01-B818-4BDB-B5D0-97D18D0427A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83" name="Oval 182" hidden="1">
                <a:extLst>
                  <a:ext uri="{FF2B5EF4-FFF2-40B4-BE49-F238E27FC236}">
                    <a16:creationId xmlns:a16="http://schemas.microsoft.com/office/drawing/2014/main" id="{A5FC3E64-4C6E-4E36-BE83-C84EC9EE21DA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4" name="Arc 183" hidden="1">
                <a:extLst>
                  <a:ext uri="{FF2B5EF4-FFF2-40B4-BE49-F238E27FC236}">
                    <a16:creationId xmlns:a16="http://schemas.microsoft.com/office/drawing/2014/main" id="{3BC45817-B3C3-4149-B8C5-589AC7D3E586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4" name="MoonLegend3" hidden="1">
              <a:extLst>
                <a:ext uri="{FF2B5EF4-FFF2-40B4-BE49-F238E27FC236}">
                  <a16:creationId xmlns:a16="http://schemas.microsoft.com/office/drawing/2014/main" id="{0F1E25D0-27E2-49C7-8683-0ED454CC371F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81" name="Oval 180" hidden="1">
                <a:extLst>
                  <a:ext uri="{FF2B5EF4-FFF2-40B4-BE49-F238E27FC236}">
                    <a16:creationId xmlns:a16="http://schemas.microsoft.com/office/drawing/2014/main" id="{8D0FE53F-5379-4259-837E-BD8F45814F32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2" name="Arc 181" hidden="1">
                <a:extLst>
                  <a:ext uri="{FF2B5EF4-FFF2-40B4-BE49-F238E27FC236}">
                    <a16:creationId xmlns:a16="http://schemas.microsoft.com/office/drawing/2014/main" id="{301827BC-DA1C-4C9D-BA37-238CBC66CC7B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5" name="MoonLegend4" hidden="1">
              <a:extLst>
                <a:ext uri="{FF2B5EF4-FFF2-40B4-BE49-F238E27FC236}">
                  <a16:creationId xmlns:a16="http://schemas.microsoft.com/office/drawing/2014/main" id="{D9ABAF3C-785C-43DA-8DF2-14D78AF24227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9" name="Oval 178" hidden="1">
                <a:extLst>
                  <a:ext uri="{FF2B5EF4-FFF2-40B4-BE49-F238E27FC236}">
                    <a16:creationId xmlns:a16="http://schemas.microsoft.com/office/drawing/2014/main" id="{ED28823B-2BA9-44E2-B13F-9912075A4022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0" name="Arc 179" hidden="1">
                <a:extLst>
                  <a:ext uri="{FF2B5EF4-FFF2-40B4-BE49-F238E27FC236}">
                    <a16:creationId xmlns:a16="http://schemas.microsoft.com/office/drawing/2014/main" id="{EE662F6B-A8F2-4A8B-8D12-4D9B3838D72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6" name="MoonLegend5" hidden="1">
              <a:extLst>
                <a:ext uri="{FF2B5EF4-FFF2-40B4-BE49-F238E27FC236}">
                  <a16:creationId xmlns:a16="http://schemas.microsoft.com/office/drawing/2014/main" id="{C4493A1D-8558-4689-BE0F-921ECBA867F8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 hidden="1">
                <a:extLst>
                  <a:ext uri="{FF2B5EF4-FFF2-40B4-BE49-F238E27FC236}">
                    <a16:creationId xmlns:a16="http://schemas.microsoft.com/office/drawing/2014/main" id="{27D34144-4F45-4651-A3F2-54C839312D12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54C9C893-E6F1-4278-A24D-56F0136D2C4F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8" name="LegendBoxes" hidden="1">
            <a:extLst>
              <a:ext uri="{FF2B5EF4-FFF2-40B4-BE49-F238E27FC236}">
                <a16:creationId xmlns:a16="http://schemas.microsoft.com/office/drawing/2014/main" id="{08BB07AF-865F-408B-8050-9708629B5A63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189" name="RectangleLegend1" hidden="1">
              <a:extLst>
                <a:ext uri="{FF2B5EF4-FFF2-40B4-BE49-F238E27FC236}">
                  <a16:creationId xmlns:a16="http://schemas.microsoft.com/office/drawing/2014/main" id="{AE448928-F520-4F1B-A755-7D3C0BFC8DE3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RectangleLegend2" hidden="1">
              <a:extLst>
                <a:ext uri="{FF2B5EF4-FFF2-40B4-BE49-F238E27FC236}">
                  <a16:creationId xmlns:a16="http://schemas.microsoft.com/office/drawing/2014/main" id="{BC2C92CC-8018-4188-9D80-284328C85804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RectangleLegend3" hidden="1">
              <a:extLst>
                <a:ext uri="{FF2B5EF4-FFF2-40B4-BE49-F238E27FC236}">
                  <a16:creationId xmlns:a16="http://schemas.microsoft.com/office/drawing/2014/main" id="{3DEE8081-2EEE-4779-9E43-25DCAEB638FB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RectangleLegend4" hidden="1">
              <a:extLst>
                <a:ext uri="{FF2B5EF4-FFF2-40B4-BE49-F238E27FC236}">
                  <a16:creationId xmlns:a16="http://schemas.microsoft.com/office/drawing/2014/main" id="{A2B05A2F-7FC4-4DD4-A2AD-3A0F5F0751F1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3" name="RectangleLegend5" hidden="1">
              <a:extLst>
                <a:ext uri="{FF2B5EF4-FFF2-40B4-BE49-F238E27FC236}">
                  <a16:creationId xmlns:a16="http://schemas.microsoft.com/office/drawing/2014/main" id="{B9BCDC0E-5930-4445-B860-461E8CF941CE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4" name="Legend1" hidden="1">
              <a:extLst>
                <a:ext uri="{FF2B5EF4-FFF2-40B4-BE49-F238E27FC236}">
                  <a16:creationId xmlns:a16="http://schemas.microsoft.com/office/drawing/2014/main" id="{2074072C-AB93-48AB-B96D-3158534069D2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5" name="Legend2" hidden="1">
              <a:extLst>
                <a:ext uri="{FF2B5EF4-FFF2-40B4-BE49-F238E27FC236}">
                  <a16:creationId xmlns:a16="http://schemas.microsoft.com/office/drawing/2014/main" id="{D3F42F3E-393B-4479-99D3-BB70BD315F02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6" name="Legend3" hidden="1">
              <a:extLst>
                <a:ext uri="{FF2B5EF4-FFF2-40B4-BE49-F238E27FC236}">
                  <a16:creationId xmlns:a16="http://schemas.microsoft.com/office/drawing/2014/main" id="{2F02967F-1CAA-403B-98B9-DAE3A0368EA1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197" name="Legend4" hidden="1">
              <a:extLst>
                <a:ext uri="{FF2B5EF4-FFF2-40B4-BE49-F238E27FC236}">
                  <a16:creationId xmlns:a16="http://schemas.microsoft.com/office/drawing/2014/main" id="{28911C8D-C078-4CA1-960E-75C7475662DF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  <p:sp>
          <p:nvSpPr>
            <p:cNvPr id="227" name="Legend5" hidden="1">
              <a:extLst>
                <a:ext uri="{FF2B5EF4-FFF2-40B4-BE49-F238E27FC236}">
                  <a16:creationId xmlns:a16="http://schemas.microsoft.com/office/drawing/2014/main" id="{CF4AB107-B697-452A-848D-1435C262EAE0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54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 txBox="1">
            <a:spLocks/>
          </p:cNvSpPr>
          <p:nvPr/>
        </p:nvSpPr>
        <p:spPr>
          <a:xfrm>
            <a:off x="673100" y="2240280"/>
            <a:ext cx="10515600" cy="230938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ARCHITECTURE</a:t>
            </a:r>
          </a:p>
          <a:p>
            <a:pPr lvl="0">
              <a:defRPr/>
            </a:pPr>
            <a:br>
              <a:rPr kumimoji="0" lang="vi-VN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</a:b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Giải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pháp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Upload File </a:t>
            </a: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xử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lý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dữ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sz="4800" b="1" dirty="0" err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liệu</a:t>
            </a:r>
            <a:r>
              <a:rPr lang="en-US" sz="4800" b="1" dirty="0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 XML, Excel, CSV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673100" y="6219825"/>
            <a:ext cx="10515600" cy="398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cs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Placeholder 7"/>
          <p:cNvSpPr txBox="1">
            <a:spLocks/>
          </p:cNvSpPr>
          <p:nvPr/>
        </p:nvSpPr>
        <p:spPr>
          <a:xfrm>
            <a:off x="508000" y="5413380"/>
            <a:ext cx="10515600" cy="127014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Feb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kumimoji="0" lang="vi-V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07997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4083269" cy="6858000"/>
          </a:xfrm>
          <a:prstGeom prst="rect">
            <a:avLst/>
          </a:prstGeom>
          <a:gradFill>
            <a:gsLst>
              <a:gs pos="9000">
                <a:srgbClr val="EB212E"/>
              </a:gs>
              <a:gs pos="91000">
                <a:srgbClr val="F17030"/>
              </a:gs>
            </a:gsLst>
            <a:lin ang="27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0155238" y="6607626"/>
            <a:ext cx="2036762" cy="152400"/>
          </a:xfrm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BD5762-3BDC-484D-9503-7EA6D5A9A8C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38851" y="729685"/>
            <a:ext cx="3084394" cy="0"/>
          </a:xfrm>
          <a:prstGeom prst="line">
            <a:avLst/>
          </a:prstGeom>
          <a:ln w="165100" cap="rnd">
            <a:solidFill>
              <a:srgbClr val="FFB8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7"/>
          <p:cNvSpPr txBox="1">
            <a:spLocks/>
          </p:cNvSpPr>
          <p:nvPr/>
        </p:nvSpPr>
        <p:spPr>
          <a:xfrm>
            <a:off x="4499221" y="222987"/>
            <a:ext cx="3339341" cy="13859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vi-VN" sz="3200">
                <a:solidFill>
                  <a:srgbClr val="F04E23"/>
                </a:solidFill>
              </a:rPr>
              <a:t>Contents</a:t>
            </a:r>
            <a:endParaRPr lang="en-US" sz="3200">
              <a:solidFill>
                <a:srgbClr val="F04E23"/>
              </a:solidFill>
            </a:endParaRPr>
          </a:p>
        </p:txBody>
      </p:sp>
      <p:sp>
        <p:nvSpPr>
          <p:cNvPr id="7" name="Title Placeholder 7"/>
          <p:cNvSpPr txBox="1">
            <a:spLocks/>
          </p:cNvSpPr>
          <p:nvPr/>
        </p:nvSpPr>
        <p:spPr>
          <a:xfrm>
            <a:off x="5979603" y="2021793"/>
            <a:ext cx="5634126" cy="7984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sz="2800">
                <a:solidFill>
                  <a:schemeClr val="tx1"/>
                </a:solidFill>
                <a:cs typeface="Arial" panose="020B0604020202020204" pitchFamily="34" charset="0"/>
              </a:rPr>
              <a:t>Business Requirement</a:t>
            </a:r>
            <a:endParaRPr lang="en-US" sz="15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Title Placeholder 7"/>
          <p:cNvSpPr txBox="1">
            <a:spLocks/>
          </p:cNvSpPr>
          <p:nvPr/>
        </p:nvSpPr>
        <p:spPr>
          <a:xfrm>
            <a:off x="5979603" y="4105613"/>
            <a:ext cx="5793297" cy="73392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Architecture</a:t>
            </a:r>
          </a:p>
        </p:txBody>
      </p:sp>
      <p:sp>
        <p:nvSpPr>
          <p:cNvPr id="12" name="Title Placeholder 7"/>
          <p:cNvSpPr txBox="1">
            <a:spLocks/>
          </p:cNvSpPr>
          <p:nvPr/>
        </p:nvSpPr>
        <p:spPr>
          <a:xfrm>
            <a:off x="4819261" y="2021793"/>
            <a:ext cx="1160343" cy="7558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vi-VN" sz="5500">
                <a:solidFill>
                  <a:srgbClr val="F04E23"/>
                </a:solidFill>
              </a:rPr>
              <a:t>01</a:t>
            </a:r>
            <a:endParaRPr lang="en-US" sz="5500">
              <a:solidFill>
                <a:srgbClr val="F04E23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4819260" y="4105613"/>
            <a:ext cx="1160343" cy="7558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vi-VN" sz="5500">
                <a:solidFill>
                  <a:srgbClr val="F04E23"/>
                </a:solidFill>
              </a:rPr>
              <a:t>02</a:t>
            </a:r>
            <a:endParaRPr lang="en-US" sz="5500">
              <a:solidFill>
                <a:srgbClr val="F04E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8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7"/>
          <a:stretch/>
        </p:blipFill>
        <p:spPr>
          <a:xfrm>
            <a:off x="0" y="1482480"/>
            <a:ext cx="12186745" cy="3131038"/>
          </a:xfrm>
          <a:prstGeom prst="rect">
            <a:avLst/>
          </a:prstGeom>
        </p:spPr>
      </p:pic>
      <p:sp>
        <p:nvSpPr>
          <p:cNvPr id="4" name="Title Placeholder 7"/>
          <p:cNvSpPr txBox="1">
            <a:spLocks/>
          </p:cNvSpPr>
          <p:nvPr/>
        </p:nvSpPr>
        <p:spPr>
          <a:xfrm>
            <a:off x="576577" y="1762538"/>
            <a:ext cx="4300223" cy="2570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7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cs typeface="Calibri" charset="0"/>
              </a:rPr>
              <a:t>0</a:t>
            </a:r>
            <a:r>
              <a:rPr lang="en-US" sz="27000" b="0">
                <a:solidFill>
                  <a:prstClr val="white"/>
                </a:solidFill>
              </a:rPr>
              <a:t>1</a:t>
            </a:r>
            <a:endParaRPr kumimoji="0" lang="en-US" sz="27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cs typeface="Calibri" charset="0"/>
            </a:endParaRPr>
          </a:p>
        </p:txBody>
      </p:sp>
      <p:sp>
        <p:nvSpPr>
          <p:cNvPr id="5" name="Title Placeholder 7"/>
          <p:cNvSpPr txBox="1">
            <a:spLocks/>
          </p:cNvSpPr>
          <p:nvPr/>
        </p:nvSpPr>
        <p:spPr>
          <a:xfrm>
            <a:off x="4544391" y="2112579"/>
            <a:ext cx="7205649" cy="124022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prstClr val="white"/>
                </a:solidFill>
                <a:latin typeface="Calibri" charset="0"/>
                <a:ea typeface="Calibri" charset="0"/>
                <a:cs typeface="Calibri" charset="0"/>
              </a:rPr>
              <a:t>Business requirement</a:t>
            </a: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4544392" y="3223743"/>
            <a:ext cx="7205648" cy="1109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 algn="ctr">
              <a:lnSpc>
                <a:spcPct val="120000"/>
              </a:lnSpc>
              <a:defRPr/>
            </a:pPr>
            <a:r>
              <a:rPr lang="it-IT" sz="2300" dirty="0">
                <a:solidFill>
                  <a:srgbClr val="FFB81C"/>
                </a:solidFill>
              </a:rPr>
              <a:t>App Upload File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14400" y="682388"/>
            <a:ext cx="3084394" cy="0"/>
          </a:xfrm>
          <a:prstGeom prst="line">
            <a:avLst/>
          </a:prstGeom>
          <a:ln w="165100" cap="rnd">
            <a:solidFill>
              <a:srgbClr val="FFB8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69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914400"/>
          </a:xfrm>
          <a:ln>
            <a:noFill/>
          </a:ln>
        </p:spPr>
        <p:txBody>
          <a:bodyPr>
            <a:normAutofit/>
          </a:bodyPr>
          <a:lstStyle/>
          <a:p>
            <a:pPr>
              <a:tabLst>
                <a:tab pos="228600" algn="l"/>
              </a:tabLst>
            </a:pP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Nhu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cầu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nghiệp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vụ</a:t>
            </a:r>
            <a:endParaRPr lang="en-AU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6199" y="933812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94;p14" descr="image.png">
            <a:extLst>
              <a:ext uri="{FF2B5EF4-FFF2-40B4-BE49-F238E27FC236}">
                <a16:creationId xmlns:a16="http://schemas.microsoft.com/office/drawing/2014/main" id="{A1DC57BD-C11F-4444-AC29-49F1AF2464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347787"/>
            <a:ext cx="5286375" cy="51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5;p14" descr="image.png">
            <a:extLst>
              <a:ext uri="{FF2B5EF4-FFF2-40B4-BE49-F238E27FC236}">
                <a16:creationId xmlns:a16="http://schemas.microsoft.com/office/drawing/2014/main" id="{E3C81F54-019B-4FC0-9D24-BC903D4A03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75743"/>
            <a:ext cx="2547937" cy="160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6;p14" descr="image.png">
            <a:extLst>
              <a:ext uri="{FF2B5EF4-FFF2-40B4-BE49-F238E27FC236}">
                <a16:creationId xmlns:a16="http://schemas.microsoft.com/office/drawing/2014/main" id="{168F90AA-CAC1-4C82-9800-27159B8B0FF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09937" y="2375743"/>
            <a:ext cx="2547937" cy="1607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7;p14" descr="image.png">
            <a:extLst>
              <a:ext uri="{FF2B5EF4-FFF2-40B4-BE49-F238E27FC236}">
                <a16:creationId xmlns:a16="http://schemas.microsoft.com/office/drawing/2014/main" id="{300735B1-4073-4D6A-8440-51EBAAA83F3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3884"/>
            <a:ext cx="2547937" cy="1794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8;p14" descr="image.png">
            <a:extLst>
              <a:ext uri="{FF2B5EF4-FFF2-40B4-BE49-F238E27FC236}">
                <a16:creationId xmlns:a16="http://schemas.microsoft.com/office/drawing/2014/main" id="{12D3CD7B-27BE-4E82-9B73-93D3476497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09937" y="4173884"/>
            <a:ext cx="2547937" cy="17942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9;p14">
            <a:extLst>
              <a:ext uri="{FF2B5EF4-FFF2-40B4-BE49-F238E27FC236}">
                <a16:creationId xmlns:a16="http://schemas.microsoft.com/office/drawing/2014/main" id="{56DE540A-EC1F-4622-8E81-789FF198D3D7}"/>
              </a:ext>
            </a:extLst>
          </p:cNvPr>
          <p:cNvSpPr txBox="1"/>
          <p:nvPr/>
        </p:nvSpPr>
        <p:spPr>
          <a:xfrm>
            <a:off x="571500" y="1899493"/>
            <a:ext cx="5550693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Thách</a:t>
            </a:r>
            <a:r>
              <a:rPr lang="en-US" sz="1650" b="0" i="0" u="none" strike="noStrike" cap="none" dirty="0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thức</a:t>
            </a:r>
            <a:r>
              <a:rPr lang="en-US" sz="1650" b="0" i="0" u="none" strike="noStrike" cap="none" dirty="0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 &amp; </a:t>
            </a: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Nhu</a:t>
            </a:r>
            <a:r>
              <a:rPr lang="en-US" sz="1650" b="0" i="0" u="none" strike="noStrike" cap="none" dirty="0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cầu</a:t>
            </a:r>
            <a:r>
              <a:rPr lang="en-US" sz="1650" b="0" i="0" u="none" strike="noStrike" cap="none" dirty="0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Hiện</a:t>
            </a:r>
            <a:r>
              <a:rPr lang="en-US" sz="1650" b="0" i="0" u="none" strike="noStrike" cap="none" dirty="0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 </a:t>
            </a:r>
            <a:r>
              <a:rPr lang="en-US" sz="1650" b="0" i="0" u="none" strike="noStrike" cap="none" dirty="0" err="1">
                <a:solidFill>
                  <a:srgbClr val="0F172A"/>
                </a:solidFill>
                <a:ea typeface="Roboto SemiBold"/>
                <a:cs typeface="Roboto SemiBold"/>
                <a:sym typeface="Roboto SemiBold"/>
              </a:rPr>
              <a:t>tại</a:t>
            </a:r>
            <a:endParaRPr dirty="0"/>
          </a:p>
        </p:txBody>
      </p:sp>
      <p:pic>
        <p:nvPicPr>
          <p:cNvPr id="13" name="Google Shape;100;p14" descr="image.png">
            <a:extLst>
              <a:ext uri="{FF2B5EF4-FFF2-40B4-BE49-F238E27FC236}">
                <a16:creationId xmlns:a16="http://schemas.microsoft.com/office/drawing/2014/main" id="{7087B93A-4742-4E45-A743-8F7E284F847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1909018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01;p14">
            <a:extLst>
              <a:ext uri="{FF2B5EF4-FFF2-40B4-BE49-F238E27FC236}">
                <a16:creationId xmlns:a16="http://schemas.microsoft.com/office/drawing/2014/main" id="{3B31A0DB-7D70-466A-8E68-447E188854FB}"/>
              </a:ext>
            </a:extLst>
          </p:cNvPr>
          <p:cNvSpPr txBox="1"/>
          <p:nvPr/>
        </p:nvSpPr>
        <p:spPr>
          <a:xfrm>
            <a:off x="6667500" y="1681162"/>
            <a:ext cx="485060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A8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Hệ thống Upload Enterprise</a:t>
            </a:r>
            <a:endParaRPr/>
          </a:p>
        </p:txBody>
      </p:sp>
      <p:sp>
        <p:nvSpPr>
          <p:cNvPr id="15" name="Google Shape;102;p14">
            <a:extLst>
              <a:ext uri="{FF2B5EF4-FFF2-40B4-BE49-F238E27FC236}">
                <a16:creationId xmlns:a16="http://schemas.microsoft.com/office/drawing/2014/main" id="{633F4991-D6CE-4A6A-9E5B-49849E5C3948}"/>
              </a:ext>
            </a:extLst>
          </p:cNvPr>
          <p:cNvSpPr/>
          <p:nvPr/>
        </p:nvSpPr>
        <p:spPr>
          <a:xfrm>
            <a:off x="6667500" y="2138362"/>
            <a:ext cx="461962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03;p14" descr="image.png">
            <a:extLst>
              <a:ext uri="{FF2B5EF4-FFF2-40B4-BE49-F238E27FC236}">
                <a16:creationId xmlns:a16="http://schemas.microsoft.com/office/drawing/2014/main" id="{E932C2D4-E4A6-42CC-85BB-33216ED736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0" y="4471987"/>
            <a:ext cx="46196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04;p14" descr="image.png">
            <a:extLst>
              <a:ext uri="{FF2B5EF4-FFF2-40B4-BE49-F238E27FC236}">
                <a16:creationId xmlns:a16="http://schemas.microsoft.com/office/drawing/2014/main" id="{A2F1B7A0-8BBF-4BF6-891E-C7E341BA5E2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0100" y="243289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05;p14">
            <a:extLst>
              <a:ext uri="{FF2B5EF4-FFF2-40B4-BE49-F238E27FC236}">
                <a16:creationId xmlns:a16="http://schemas.microsoft.com/office/drawing/2014/main" id="{9F94876B-4636-4E5E-BA5D-F891D0958CF1}"/>
              </a:ext>
            </a:extLst>
          </p:cNvPr>
          <p:cNvSpPr txBox="1"/>
          <p:nvPr/>
        </p:nvSpPr>
        <p:spPr>
          <a:xfrm>
            <a:off x="781050" y="2794843"/>
            <a:ext cx="223527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Dữ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liệu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Phân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tán</a:t>
            </a:r>
            <a:endParaRPr dirty="0"/>
          </a:p>
        </p:txBody>
      </p:sp>
      <p:sp>
        <p:nvSpPr>
          <p:cNvPr id="19" name="Google Shape;106;p14">
            <a:extLst>
              <a:ext uri="{FF2B5EF4-FFF2-40B4-BE49-F238E27FC236}">
                <a16:creationId xmlns:a16="http://schemas.microsoft.com/office/drawing/2014/main" id="{BE88BCD5-9043-4CCD-AACF-AEF7D7300BA4}"/>
              </a:ext>
            </a:extLst>
          </p:cNvPr>
          <p:cNvSpPr txBox="1"/>
          <p:nvPr/>
        </p:nvSpPr>
        <p:spPr>
          <a:xfrm>
            <a:off x="781049" y="3052018"/>
            <a:ext cx="212883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nằm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rải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rác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trên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các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máy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trạm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cá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nhân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vi-VN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số lượng files nhiều và có dung lượng khác như từ vài KB cho đến GB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20" name="Google Shape;107;p14" descr="image.png">
            <a:extLst>
              <a:ext uri="{FF2B5EF4-FFF2-40B4-BE49-F238E27FC236}">
                <a16:creationId xmlns:a16="http://schemas.microsoft.com/office/drawing/2014/main" id="{BD984C2A-B2D0-4A58-B94B-262A3DF1113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462337" y="243289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08;p14">
            <a:extLst>
              <a:ext uri="{FF2B5EF4-FFF2-40B4-BE49-F238E27FC236}">
                <a16:creationId xmlns:a16="http://schemas.microsoft.com/office/drawing/2014/main" id="{05870A9A-7D6B-4735-BC6C-5C0FBF39B506}"/>
              </a:ext>
            </a:extLst>
          </p:cNvPr>
          <p:cNvSpPr txBox="1"/>
          <p:nvPr/>
        </p:nvSpPr>
        <p:spPr>
          <a:xfrm>
            <a:off x="3462337" y="2805112"/>
            <a:ext cx="223527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Đa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dạng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Định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dạng</a:t>
            </a:r>
            <a:endParaRPr dirty="0"/>
          </a:p>
        </p:txBody>
      </p:sp>
      <p:sp>
        <p:nvSpPr>
          <p:cNvPr id="22" name="Google Shape;109;p14">
            <a:extLst>
              <a:ext uri="{FF2B5EF4-FFF2-40B4-BE49-F238E27FC236}">
                <a16:creationId xmlns:a16="http://schemas.microsoft.com/office/drawing/2014/main" id="{39344FEB-8D44-4B1E-870A-81180B9F45C3}"/>
              </a:ext>
            </a:extLst>
          </p:cNvPr>
          <p:cNvSpPr txBox="1"/>
          <p:nvPr/>
        </p:nvSpPr>
        <p:spPr>
          <a:xfrm>
            <a:off x="3452812" y="3048743"/>
            <a:ext cx="212883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Cần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xử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lý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linh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hoạt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nhiều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loại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dữ liệu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có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cấu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trúc, bán cấu trúc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phức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tạp</a:t>
            </a:r>
            <a:r>
              <a:rPr lang="vi-VN" sz="1050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như (XML, Excel, CSV)</a:t>
            </a:r>
            <a:endParaRPr dirty="0"/>
          </a:p>
        </p:txBody>
      </p:sp>
      <p:pic>
        <p:nvPicPr>
          <p:cNvPr id="23" name="Google Shape;110;p14" descr="image.png">
            <a:extLst>
              <a:ext uri="{FF2B5EF4-FFF2-40B4-BE49-F238E27FC236}">
                <a16:creationId xmlns:a16="http://schemas.microsoft.com/office/drawing/2014/main" id="{9223FDA0-E118-4339-B42F-7A822358B01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0100" y="436438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11;p14">
            <a:extLst>
              <a:ext uri="{FF2B5EF4-FFF2-40B4-BE49-F238E27FC236}">
                <a16:creationId xmlns:a16="http://schemas.microsoft.com/office/drawing/2014/main" id="{E219F947-03DC-4501-AFE2-ED3A0364A7AD}"/>
              </a:ext>
            </a:extLst>
          </p:cNvPr>
          <p:cNvSpPr txBox="1"/>
          <p:nvPr/>
        </p:nvSpPr>
        <p:spPr>
          <a:xfrm>
            <a:off x="800100" y="4773959"/>
            <a:ext cx="223527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1" i="0" u="none" strike="noStrike" cap="none" dirty="0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Cơ chế maker/checker</a:t>
            </a:r>
            <a:endParaRPr dirty="0"/>
          </a:p>
        </p:txBody>
      </p:sp>
      <p:sp>
        <p:nvSpPr>
          <p:cNvPr id="25" name="Google Shape;112;p14">
            <a:extLst>
              <a:ext uri="{FF2B5EF4-FFF2-40B4-BE49-F238E27FC236}">
                <a16:creationId xmlns:a16="http://schemas.microsoft.com/office/drawing/2014/main" id="{8B1AD26E-D98D-46C9-A99C-4DBC5FAC008B}"/>
              </a:ext>
            </a:extLst>
          </p:cNvPr>
          <p:cNvSpPr txBox="1"/>
          <p:nvPr/>
        </p:nvSpPr>
        <p:spPr>
          <a:xfrm>
            <a:off x="800100" y="5031134"/>
            <a:ext cx="2128837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Chưa có cơ chế maker/checker, ghi nhật ký upload, phê duyệt ...</a:t>
            </a:r>
            <a:endParaRPr dirty="0"/>
          </a:p>
        </p:txBody>
      </p:sp>
      <p:pic>
        <p:nvPicPr>
          <p:cNvPr id="26" name="Google Shape;113;p14" descr="image.png">
            <a:extLst>
              <a:ext uri="{FF2B5EF4-FFF2-40B4-BE49-F238E27FC236}">
                <a16:creationId xmlns:a16="http://schemas.microsoft.com/office/drawing/2014/main" id="{CF08948C-5E36-4474-B296-294C566E440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38537" y="4364384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14;p14">
            <a:extLst>
              <a:ext uri="{FF2B5EF4-FFF2-40B4-BE49-F238E27FC236}">
                <a16:creationId xmlns:a16="http://schemas.microsoft.com/office/drawing/2014/main" id="{C82667D1-477E-4B3A-8D74-E969FCDC84D7}"/>
              </a:ext>
            </a:extLst>
          </p:cNvPr>
          <p:cNvSpPr txBox="1"/>
          <p:nvPr/>
        </p:nvSpPr>
        <p:spPr>
          <a:xfrm>
            <a:off x="3538537" y="4773959"/>
            <a:ext cx="223527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Chất lượng Dữ liệu</a:t>
            </a:r>
            <a:endParaRPr/>
          </a:p>
        </p:txBody>
      </p:sp>
      <p:sp>
        <p:nvSpPr>
          <p:cNvPr id="28" name="Google Shape;115;p14">
            <a:extLst>
              <a:ext uri="{FF2B5EF4-FFF2-40B4-BE49-F238E27FC236}">
                <a16:creationId xmlns:a16="http://schemas.microsoft.com/office/drawing/2014/main" id="{63BEE155-D348-4A20-B27C-25669F911716}"/>
              </a:ext>
            </a:extLst>
          </p:cNvPr>
          <p:cNvSpPr txBox="1"/>
          <p:nvPr/>
        </p:nvSpPr>
        <p:spPr>
          <a:xfrm>
            <a:off x="3538537" y="5031134"/>
            <a:ext cx="2128837" cy="678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Khó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kiểm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soát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chất lượng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thiếu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quy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trình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tự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động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validate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đúng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đắn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trước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khi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lưu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trữ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29" name="Google Shape;116;p14" descr="image.png">
            <a:extLst>
              <a:ext uri="{FF2B5EF4-FFF2-40B4-BE49-F238E27FC236}">
                <a16:creationId xmlns:a16="http://schemas.microsoft.com/office/drawing/2014/main" id="{6C6A4D27-9276-4871-B35C-3A733E502D5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67500" y="1700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17;p14">
            <a:extLst>
              <a:ext uri="{FF2B5EF4-FFF2-40B4-BE49-F238E27FC236}">
                <a16:creationId xmlns:a16="http://schemas.microsoft.com/office/drawing/2014/main" id="{533EC12D-C840-4822-BB23-92A47C4A06C0}"/>
              </a:ext>
            </a:extLst>
          </p:cNvPr>
          <p:cNvSpPr txBox="1"/>
          <p:nvPr/>
        </p:nvSpPr>
        <p:spPr>
          <a:xfrm>
            <a:off x="6981825" y="2386012"/>
            <a:ext cx="4305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vi-VN" sz="1200" dirty="0">
                <a:solidFill>
                  <a:srgbClr val="F1F5F9"/>
                </a:solidFill>
                <a:latin typeface="Open Sans"/>
                <a:ea typeface="Open Sans"/>
                <a:cs typeface="Open Sans"/>
                <a:sym typeface="Open Sans"/>
              </a:rPr>
              <a:t>Giải quyết bài toán thu thập dữ liệu từ các kênh thủ công vào hệ thống tập trung một cách tự động và chuẩn hóa</a:t>
            </a:r>
            <a:endParaRPr dirty="0"/>
          </a:p>
        </p:txBody>
      </p:sp>
      <p:sp>
        <p:nvSpPr>
          <p:cNvPr id="31" name="Google Shape;118;p14">
            <a:extLst>
              <a:ext uri="{FF2B5EF4-FFF2-40B4-BE49-F238E27FC236}">
                <a16:creationId xmlns:a16="http://schemas.microsoft.com/office/drawing/2014/main" id="{63F2DF72-DEAB-4DD7-82E1-647D8348B68F}"/>
              </a:ext>
            </a:extLst>
          </p:cNvPr>
          <p:cNvSpPr txBox="1"/>
          <p:nvPr/>
        </p:nvSpPr>
        <p:spPr>
          <a:xfrm>
            <a:off x="6981825" y="2986087"/>
            <a:ext cx="43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Open Sans"/>
                <a:ea typeface="Open Sans"/>
                <a:cs typeface="Open Sans"/>
                <a:sym typeface="Open Sans"/>
              </a:rPr>
              <a:t>Tự động hóa luồng xử lý khép kín: Tải lên → Validate → Phê duyệt → Ingest vào Target DB.</a:t>
            </a:r>
            <a:endParaRPr/>
          </a:p>
        </p:txBody>
      </p:sp>
      <p:sp>
        <p:nvSpPr>
          <p:cNvPr id="32" name="Google Shape;119;p14">
            <a:extLst>
              <a:ext uri="{FF2B5EF4-FFF2-40B4-BE49-F238E27FC236}">
                <a16:creationId xmlns:a16="http://schemas.microsoft.com/office/drawing/2014/main" id="{488D1FC1-2EB0-4DF1-82CF-53CA3F985D1A}"/>
              </a:ext>
            </a:extLst>
          </p:cNvPr>
          <p:cNvSpPr txBox="1"/>
          <p:nvPr/>
        </p:nvSpPr>
        <p:spPr>
          <a:xfrm>
            <a:off x="6981825" y="3586162"/>
            <a:ext cx="43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Open Sans"/>
                <a:ea typeface="Open Sans"/>
                <a:cs typeface="Open Sans"/>
                <a:sym typeface="Open Sans"/>
              </a:rPr>
              <a:t>Đảm bảo hiệu năng xử lý file lớn (Lên tới 5GB/file) và linh hoạt mở rộng (Auto-scale).</a:t>
            </a:r>
            <a:endParaRPr/>
          </a:p>
        </p:txBody>
      </p:sp>
      <p:pic>
        <p:nvPicPr>
          <p:cNvPr id="33" name="Google Shape;120;p14" descr="image.png">
            <a:extLst>
              <a:ext uri="{FF2B5EF4-FFF2-40B4-BE49-F238E27FC236}">
                <a16:creationId xmlns:a16="http://schemas.microsoft.com/office/drawing/2014/main" id="{D713C93F-345B-4B3E-8295-6A8918AB4A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67500" y="2428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21;p14" descr="image.png">
            <a:extLst>
              <a:ext uri="{FF2B5EF4-FFF2-40B4-BE49-F238E27FC236}">
                <a16:creationId xmlns:a16="http://schemas.microsoft.com/office/drawing/2014/main" id="{7E3C0290-B1F4-4917-A899-B3C90DC4A080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67500" y="30289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22;p14" descr="image.png">
            <a:extLst>
              <a:ext uri="{FF2B5EF4-FFF2-40B4-BE49-F238E27FC236}">
                <a16:creationId xmlns:a16="http://schemas.microsoft.com/office/drawing/2014/main" id="{1F896CE1-37B7-4B76-B1DE-AFCAA121843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67500" y="362902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424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914400"/>
          </a:xfrm>
          <a:ln>
            <a:noFill/>
          </a:ln>
        </p:spPr>
        <p:txBody>
          <a:bodyPr>
            <a:normAutofit/>
          </a:bodyPr>
          <a:lstStyle/>
          <a:p>
            <a:pPr>
              <a:tabLst>
                <a:tab pos="228600" algn="l"/>
              </a:tabLst>
            </a:pP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Luồng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hành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3200" dirty="0" err="1">
                <a:latin typeface="+mn-lt"/>
                <a:cs typeface="Times New Roman" panose="02020603050405020304" pitchFamily="18" charset="0"/>
              </a:rPr>
              <a:t>trình</a:t>
            </a:r>
            <a:r>
              <a:rPr lang="en-AU" sz="3200" dirty="0">
                <a:latin typeface="+mn-lt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+mn-lt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+mn-lt"/>
                <a:cs typeface="Times New Roman" panose="02020603050405020304" pitchFamily="18" charset="0"/>
              </a:rPr>
              <a:t>ời</a:t>
            </a:r>
            <a:r>
              <a:rPr lang="en-US" sz="32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+mn-lt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+mn-lt"/>
                <a:cs typeface="Times New Roman" panose="02020603050405020304" pitchFamily="18" charset="0"/>
              </a:rPr>
              <a:t> upload file</a:t>
            </a:r>
            <a:endParaRPr lang="en-AU" sz="3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6199" y="933812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812;p104">
            <a:extLst>
              <a:ext uri="{FF2B5EF4-FFF2-40B4-BE49-F238E27FC236}">
                <a16:creationId xmlns:a16="http://schemas.microsoft.com/office/drawing/2014/main" id="{FFB1C43F-A862-478C-A644-28B1C7615B6C}"/>
              </a:ext>
            </a:extLst>
          </p:cNvPr>
          <p:cNvSpPr txBox="1"/>
          <p:nvPr/>
        </p:nvSpPr>
        <p:spPr>
          <a:xfrm>
            <a:off x="7375065" y="1130450"/>
            <a:ext cx="4502548" cy="5558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Login (IAM)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ng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ời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login, hệ thống trả về menu được phân quyền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Khởi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tạo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upload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chọn chức năng upload file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loại file cần upload (ví dụ: file dữ liệu Thuế)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files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Upload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lô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 zip,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bao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gồm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files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thuế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Upload file đ</a:t>
            </a: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ơ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 XML</a:t>
            </a: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Front-end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xác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files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kiểm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định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dạng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files,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nếu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lỗi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trả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báo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lỗi</a:t>
            </a: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Upload file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files đ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ợc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upload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lên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object storage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Preview Data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xem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tóm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tắt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đã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upload,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xem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sample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 hoặc xem toàn bộ nội dung file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Trình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phê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gửi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yêu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cầu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phê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ng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ời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thẩm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quyền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Phê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xem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Phê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duyệt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từ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chối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files upload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Load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đ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ợc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load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DB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thành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công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báo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mail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ng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ư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ời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dùng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C:\Users\vietda2\AppData\Local\Microsoft\Windows\INetCache\Content.MSO\E6ADB35B.tmp">
            <a:extLst>
              <a:ext uri="{FF2B5EF4-FFF2-40B4-BE49-F238E27FC236}">
                <a16:creationId xmlns:a16="http://schemas.microsoft.com/office/drawing/2014/main" id="{99E72454-2AA5-456E-8AF8-1FDBB7461F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55" y="824230"/>
            <a:ext cx="6847609" cy="50241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72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914400"/>
          </a:xfrm>
          <a:ln>
            <a:noFill/>
          </a:ln>
        </p:spPr>
        <p:txBody>
          <a:bodyPr>
            <a:normAutofit/>
          </a:bodyPr>
          <a:lstStyle/>
          <a:p>
            <a:pPr>
              <a:tabLst>
                <a:tab pos="228600" algn="l"/>
              </a:tabLst>
            </a:pPr>
            <a:r>
              <a:rPr lang="en-AU" sz="4000" dirty="0" err="1">
                <a:latin typeface="+mn-lt"/>
                <a:cs typeface="Times New Roman" panose="02020603050405020304" pitchFamily="18" charset="0"/>
              </a:rPr>
              <a:t>Yêu</a:t>
            </a:r>
            <a:r>
              <a:rPr lang="en-AU" sz="4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4000" dirty="0" err="1">
                <a:latin typeface="+mn-lt"/>
                <a:cs typeface="Times New Roman" panose="02020603050405020304" pitchFamily="18" charset="0"/>
              </a:rPr>
              <a:t>cầu</a:t>
            </a:r>
            <a:r>
              <a:rPr lang="en-AU" sz="4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sz="4000" dirty="0" err="1">
                <a:latin typeface="+mn-lt"/>
                <a:cs typeface="Times New Roman" panose="02020603050405020304" pitchFamily="18" charset="0"/>
              </a:rPr>
              <a:t>ch</a:t>
            </a:r>
            <a:r>
              <a:rPr lang="en-US" sz="4000" dirty="0" err="1">
                <a:latin typeface="+mn-lt"/>
                <a:cs typeface="Times New Roman" panose="02020603050405020304" pitchFamily="18" charset="0"/>
              </a:rPr>
              <a:t>ức</a:t>
            </a:r>
            <a:r>
              <a:rPr lang="en-US" sz="40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+mn-lt"/>
                <a:cs typeface="Times New Roman" panose="02020603050405020304" pitchFamily="18" charset="0"/>
              </a:rPr>
              <a:t>năng</a:t>
            </a:r>
            <a:endParaRPr lang="en-AU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6199" y="933812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oogle Shape;159;p16" descr="image.png">
            <a:extLst>
              <a:ext uri="{FF2B5EF4-FFF2-40B4-BE49-F238E27FC236}">
                <a16:creationId xmlns:a16="http://schemas.microsoft.com/office/drawing/2014/main" id="{C0FB1608-6379-4711-9073-9DDD7018B1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7519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60;p16" descr="image.png">
            <a:extLst>
              <a:ext uri="{FF2B5EF4-FFF2-40B4-BE49-F238E27FC236}">
                <a16:creationId xmlns:a16="http://schemas.microsoft.com/office/drawing/2014/main" id="{86B80BFF-6246-4786-94C0-F1B8E67B63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9583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1;p16" descr="image.png">
            <a:extLst>
              <a:ext uri="{FF2B5EF4-FFF2-40B4-BE49-F238E27FC236}">
                <a16:creationId xmlns:a16="http://schemas.microsoft.com/office/drawing/2014/main" id="{EFED7E15-736C-470B-AEC3-4807464A38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13844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2;p16" descr="image.png">
            <a:extLst>
              <a:ext uri="{FF2B5EF4-FFF2-40B4-BE49-F238E27FC236}">
                <a16:creationId xmlns:a16="http://schemas.microsoft.com/office/drawing/2014/main" id="{EE4CE90D-18DD-44ED-8CDC-887E4C71A3B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68105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63;p16" descr="image.png">
            <a:extLst>
              <a:ext uri="{FF2B5EF4-FFF2-40B4-BE49-F238E27FC236}">
                <a16:creationId xmlns:a16="http://schemas.microsoft.com/office/drawing/2014/main" id="{FD7C243B-715C-4021-9E97-2F0E673EC8C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122366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64;p16" descr="image.png">
            <a:extLst>
              <a:ext uri="{FF2B5EF4-FFF2-40B4-BE49-F238E27FC236}">
                <a16:creationId xmlns:a16="http://schemas.microsoft.com/office/drawing/2014/main" id="{09CA9523-CA20-41F3-988F-3FFBCFF8F7C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2105322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65;p16" descr="image.png">
            <a:extLst>
              <a:ext uri="{FF2B5EF4-FFF2-40B4-BE49-F238E27FC236}">
                <a16:creationId xmlns:a16="http://schemas.microsoft.com/office/drawing/2014/main" id="{1196E416-4469-4B11-A3A2-AB80722EA36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2859583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66;p16" descr="image.png">
            <a:extLst>
              <a:ext uri="{FF2B5EF4-FFF2-40B4-BE49-F238E27FC236}">
                <a16:creationId xmlns:a16="http://schemas.microsoft.com/office/drawing/2014/main" id="{9E274316-AF73-432A-81F8-E230CF2B247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1750" y="3613844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7;p16" descr="image.png">
            <a:extLst>
              <a:ext uri="{FF2B5EF4-FFF2-40B4-BE49-F238E27FC236}">
                <a16:creationId xmlns:a16="http://schemas.microsoft.com/office/drawing/2014/main" id="{48774C0D-A5FE-4E8A-ABCB-D35878A8BAC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81750" y="4368105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68;p16" descr="image.png">
            <a:extLst>
              <a:ext uri="{FF2B5EF4-FFF2-40B4-BE49-F238E27FC236}">
                <a16:creationId xmlns:a16="http://schemas.microsoft.com/office/drawing/2014/main" id="{26AD5EC8-5868-4CC1-8CE4-046927471D9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0" y="5122366"/>
            <a:ext cx="5238750" cy="639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69;p16" descr="image.png">
            <a:extLst>
              <a:ext uri="{FF2B5EF4-FFF2-40B4-BE49-F238E27FC236}">
                <a16:creationId xmlns:a16="http://schemas.microsoft.com/office/drawing/2014/main" id="{0FEF278A-7878-4D56-A8A8-4FC7154F9C09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3900" y="22291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70;p16" descr="image.png">
            <a:extLst>
              <a:ext uri="{FF2B5EF4-FFF2-40B4-BE49-F238E27FC236}">
                <a16:creationId xmlns:a16="http://schemas.microsoft.com/office/drawing/2014/main" id="{15BA5F8F-DE65-40AF-9CF9-2B86CC4D8A1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3900" y="298340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71;p16" descr="image.png">
            <a:extLst>
              <a:ext uri="{FF2B5EF4-FFF2-40B4-BE49-F238E27FC236}">
                <a16:creationId xmlns:a16="http://schemas.microsoft.com/office/drawing/2014/main" id="{585C214A-0381-43EC-A5D4-6E104E9F6CE6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3900" y="373766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72;p16" descr="image.png">
            <a:extLst>
              <a:ext uri="{FF2B5EF4-FFF2-40B4-BE49-F238E27FC236}">
                <a16:creationId xmlns:a16="http://schemas.microsoft.com/office/drawing/2014/main" id="{3CC48809-2AA6-4BF7-B552-99C165170BC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23900" y="449193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73;p16" descr="image.png">
            <a:extLst>
              <a:ext uri="{FF2B5EF4-FFF2-40B4-BE49-F238E27FC236}">
                <a16:creationId xmlns:a16="http://schemas.microsoft.com/office/drawing/2014/main" id="{DFB1EB9D-334D-4849-81AD-230A1B5075D5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3900" y="52461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74;p16" descr="image.png">
            <a:extLst>
              <a:ext uri="{FF2B5EF4-FFF2-40B4-BE49-F238E27FC236}">
                <a16:creationId xmlns:a16="http://schemas.microsoft.com/office/drawing/2014/main" id="{E6782203-0A0A-42A6-BF7D-B094FE07AA3B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34150" y="222914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75;p16" descr="image.png">
            <a:extLst>
              <a:ext uri="{FF2B5EF4-FFF2-40B4-BE49-F238E27FC236}">
                <a16:creationId xmlns:a16="http://schemas.microsoft.com/office/drawing/2014/main" id="{43A0E9D5-F322-49BA-AE2E-0CC1411DDB6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34150" y="298340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76;p16" descr="image.png">
            <a:extLst>
              <a:ext uri="{FF2B5EF4-FFF2-40B4-BE49-F238E27FC236}">
                <a16:creationId xmlns:a16="http://schemas.microsoft.com/office/drawing/2014/main" id="{0DEB648E-7022-4110-8FF2-573F5EDD132B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34150" y="373766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77;p16" descr="image.png">
            <a:extLst>
              <a:ext uri="{FF2B5EF4-FFF2-40B4-BE49-F238E27FC236}">
                <a16:creationId xmlns:a16="http://schemas.microsoft.com/office/drawing/2014/main" id="{D8C44469-9683-4C0D-8DFC-05EC86AF42D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34150" y="449193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78;p16" descr="image.png">
            <a:extLst>
              <a:ext uri="{FF2B5EF4-FFF2-40B4-BE49-F238E27FC236}">
                <a16:creationId xmlns:a16="http://schemas.microsoft.com/office/drawing/2014/main" id="{DAB84765-6603-40E6-8C38-D949CCDFAA6B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34150" y="52461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79;p16" descr="image.png">
            <a:extLst>
              <a:ext uri="{FF2B5EF4-FFF2-40B4-BE49-F238E27FC236}">
                <a16:creationId xmlns:a16="http://schemas.microsoft.com/office/drawing/2014/main" id="{13BDA88F-1729-4D5F-8628-F18D3D41E363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0100" y="232439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180;p16">
            <a:extLst>
              <a:ext uri="{FF2B5EF4-FFF2-40B4-BE49-F238E27FC236}">
                <a16:creationId xmlns:a16="http://schemas.microsoft.com/office/drawing/2014/main" id="{9CB3B877-A039-482C-81AF-ED1160C34F36}"/>
              </a:ext>
            </a:extLst>
          </p:cNvPr>
          <p:cNvSpPr txBox="1"/>
          <p:nvPr/>
        </p:nvSpPr>
        <p:spPr>
          <a:xfrm>
            <a:off x="1181100" y="2229147"/>
            <a:ext cx="4000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1. Xác thực/phân quyền</a:t>
            </a:r>
            <a:endParaRPr/>
          </a:p>
        </p:txBody>
      </p:sp>
      <p:sp>
        <p:nvSpPr>
          <p:cNvPr id="30" name="Google Shape;181;p16">
            <a:extLst>
              <a:ext uri="{FF2B5EF4-FFF2-40B4-BE49-F238E27FC236}">
                <a16:creationId xmlns:a16="http://schemas.microsoft.com/office/drawing/2014/main" id="{CDCCE564-E0AF-43B3-A084-8013CF686829}"/>
              </a:ext>
            </a:extLst>
          </p:cNvPr>
          <p:cNvSpPr txBox="1"/>
          <p:nvPr/>
        </p:nvSpPr>
        <p:spPr>
          <a:xfrm>
            <a:off x="1181100" y="2448222"/>
            <a:ext cx="381000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Xác thực IAM. Phân quyền chặt chẽ theo role và phòng ban.</a:t>
            </a:r>
            <a:endParaRPr/>
          </a:p>
        </p:txBody>
      </p:sp>
      <p:pic>
        <p:nvPicPr>
          <p:cNvPr id="31" name="Google Shape;182;p16" descr="image.png">
            <a:extLst>
              <a:ext uri="{FF2B5EF4-FFF2-40B4-BE49-F238E27FC236}">
                <a16:creationId xmlns:a16="http://schemas.microsoft.com/office/drawing/2014/main" id="{C732EA0F-870F-4E88-A4EA-5A6E41C1696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00100" y="307865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83;p16">
            <a:extLst>
              <a:ext uri="{FF2B5EF4-FFF2-40B4-BE49-F238E27FC236}">
                <a16:creationId xmlns:a16="http://schemas.microsoft.com/office/drawing/2014/main" id="{3AE1B9BA-76D7-4522-8A09-25771A21F525}"/>
              </a:ext>
            </a:extLst>
          </p:cNvPr>
          <p:cNvSpPr txBox="1"/>
          <p:nvPr/>
        </p:nvSpPr>
        <p:spPr>
          <a:xfrm>
            <a:off x="1181100" y="2983408"/>
            <a:ext cx="383047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2. Upload files</a:t>
            </a:r>
            <a:endParaRPr/>
          </a:p>
        </p:txBody>
      </p:sp>
      <p:sp>
        <p:nvSpPr>
          <p:cNvPr id="33" name="Google Shape;184;p16">
            <a:extLst>
              <a:ext uri="{FF2B5EF4-FFF2-40B4-BE49-F238E27FC236}">
                <a16:creationId xmlns:a16="http://schemas.microsoft.com/office/drawing/2014/main" id="{6B6488CD-122C-445C-B606-107280F284D1}"/>
              </a:ext>
            </a:extLst>
          </p:cNvPr>
          <p:cNvSpPr txBox="1"/>
          <p:nvPr/>
        </p:nvSpPr>
        <p:spPr>
          <a:xfrm>
            <a:off x="1181100" y="3202483"/>
            <a:ext cx="36480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Hỗ trợ đa định dạng: XML, CSV, Excel với dung lượng lớn.</a:t>
            </a:r>
            <a:endParaRPr/>
          </a:p>
        </p:txBody>
      </p:sp>
      <p:pic>
        <p:nvPicPr>
          <p:cNvPr id="34" name="Google Shape;185;p16" descr="image.png">
            <a:extLst>
              <a:ext uri="{FF2B5EF4-FFF2-40B4-BE49-F238E27FC236}">
                <a16:creationId xmlns:a16="http://schemas.microsoft.com/office/drawing/2014/main" id="{FE2334F5-D39C-4F18-AA26-C26545DD2816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19150" y="383291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186;p16">
            <a:extLst>
              <a:ext uri="{FF2B5EF4-FFF2-40B4-BE49-F238E27FC236}">
                <a16:creationId xmlns:a16="http://schemas.microsoft.com/office/drawing/2014/main" id="{ABA94E83-BC71-403E-B10D-B591275D0AD9}"/>
              </a:ext>
            </a:extLst>
          </p:cNvPr>
          <p:cNvSpPr txBox="1"/>
          <p:nvPr/>
        </p:nvSpPr>
        <p:spPr>
          <a:xfrm>
            <a:off x="1181100" y="3737669"/>
            <a:ext cx="359044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3. Kiểm tra trạng thái</a:t>
            </a:r>
            <a:endParaRPr/>
          </a:p>
        </p:txBody>
      </p:sp>
      <p:sp>
        <p:nvSpPr>
          <p:cNvPr id="36" name="Google Shape;187;p16">
            <a:extLst>
              <a:ext uri="{FF2B5EF4-FFF2-40B4-BE49-F238E27FC236}">
                <a16:creationId xmlns:a16="http://schemas.microsoft.com/office/drawing/2014/main" id="{D63B5223-58F1-4659-8F27-91A60907762E}"/>
              </a:ext>
            </a:extLst>
          </p:cNvPr>
          <p:cNvSpPr txBox="1"/>
          <p:nvPr/>
        </p:nvSpPr>
        <p:spPr>
          <a:xfrm>
            <a:off x="1181100" y="3956744"/>
            <a:ext cx="34194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Theo dõi tiến độ (%) và trạng thái xử lý thời gian thực.</a:t>
            </a:r>
            <a:endParaRPr/>
          </a:p>
        </p:txBody>
      </p:sp>
      <p:pic>
        <p:nvPicPr>
          <p:cNvPr id="37" name="Google Shape;188;p16" descr="image.png">
            <a:extLst>
              <a:ext uri="{FF2B5EF4-FFF2-40B4-BE49-F238E27FC236}">
                <a16:creationId xmlns:a16="http://schemas.microsoft.com/office/drawing/2014/main" id="{BF6FF103-B536-4703-B5E8-C400EBF7C31B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28675" y="458718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89;p16">
            <a:extLst>
              <a:ext uri="{FF2B5EF4-FFF2-40B4-BE49-F238E27FC236}">
                <a16:creationId xmlns:a16="http://schemas.microsoft.com/office/drawing/2014/main" id="{CCF9DE3F-B7AA-4696-9DB0-2451F83133ED}"/>
              </a:ext>
            </a:extLst>
          </p:cNvPr>
          <p:cNvSpPr txBox="1"/>
          <p:nvPr/>
        </p:nvSpPr>
        <p:spPr>
          <a:xfrm>
            <a:off x="1181100" y="4491930"/>
            <a:ext cx="414051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4. Validate data</a:t>
            </a:r>
            <a:endParaRPr/>
          </a:p>
        </p:txBody>
      </p:sp>
      <p:sp>
        <p:nvSpPr>
          <p:cNvPr id="39" name="Google Shape;190;p16">
            <a:extLst>
              <a:ext uri="{FF2B5EF4-FFF2-40B4-BE49-F238E27FC236}">
                <a16:creationId xmlns:a16="http://schemas.microsoft.com/office/drawing/2014/main" id="{3664DB93-6629-44CC-8E86-E6585C4C2C31}"/>
              </a:ext>
            </a:extLst>
          </p:cNvPr>
          <p:cNvSpPr txBox="1"/>
          <p:nvPr/>
        </p:nvSpPr>
        <p:spPr>
          <a:xfrm>
            <a:off x="1181100" y="4711005"/>
            <a:ext cx="39433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Kiểm tra tính đúng đắn, chất lượng dữ liệu theo schema/rule.</a:t>
            </a:r>
            <a:endParaRPr/>
          </a:p>
        </p:txBody>
      </p:sp>
      <p:pic>
        <p:nvPicPr>
          <p:cNvPr id="40" name="Google Shape;191;p16" descr="image.png">
            <a:extLst>
              <a:ext uri="{FF2B5EF4-FFF2-40B4-BE49-F238E27FC236}">
                <a16:creationId xmlns:a16="http://schemas.microsoft.com/office/drawing/2014/main" id="{FCB770B3-1414-4AEB-91D0-E49FD536D23B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09625" y="5341441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192;p16">
            <a:extLst>
              <a:ext uri="{FF2B5EF4-FFF2-40B4-BE49-F238E27FC236}">
                <a16:creationId xmlns:a16="http://schemas.microsoft.com/office/drawing/2014/main" id="{460782C7-21DC-48FD-858F-7538F5F89C83}"/>
              </a:ext>
            </a:extLst>
          </p:cNvPr>
          <p:cNvSpPr txBox="1"/>
          <p:nvPr/>
        </p:nvSpPr>
        <p:spPr>
          <a:xfrm>
            <a:off x="1181100" y="5246191"/>
            <a:ext cx="409051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5. Preview dữ liệu</a:t>
            </a:r>
            <a:endParaRPr/>
          </a:p>
        </p:txBody>
      </p:sp>
      <p:sp>
        <p:nvSpPr>
          <p:cNvPr id="42" name="Google Shape;193;p16">
            <a:extLst>
              <a:ext uri="{FF2B5EF4-FFF2-40B4-BE49-F238E27FC236}">
                <a16:creationId xmlns:a16="http://schemas.microsoft.com/office/drawing/2014/main" id="{29CAAE0B-E95C-4075-ABEA-E84F3916F237}"/>
              </a:ext>
            </a:extLst>
          </p:cNvPr>
          <p:cNvSpPr txBox="1"/>
          <p:nvPr/>
        </p:nvSpPr>
        <p:spPr>
          <a:xfrm>
            <a:off x="1181100" y="5465266"/>
            <a:ext cx="38957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Xem trước dữ liệu mẫu hoặc toàn bộ dataset trước khi duyệt.</a:t>
            </a:r>
            <a:endParaRPr/>
          </a:p>
        </p:txBody>
      </p:sp>
      <p:pic>
        <p:nvPicPr>
          <p:cNvPr id="43" name="Google Shape;194;p16" descr="image.png">
            <a:extLst>
              <a:ext uri="{FF2B5EF4-FFF2-40B4-BE49-F238E27FC236}">
                <a16:creationId xmlns:a16="http://schemas.microsoft.com/office/drawing/2014/main" id="{CAEB3997-91A3-460F-BE81-9A65258C607E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629400" y="23243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195;p16">
            <a:extLst>
              <a:ext uri="{FF2B5EF4-FFF2-40B4-BE49-F238E27FC236}">
                <a16:creationId xmlns:a16="http://schemas.microsoft.com/office/drawing/2014/main" id="{365A9629-8283-4B12-8016-5A003067492D}"/>
              </a:ext>
            </a:extLst>
          </p:cNvPr>
          <p:cNvSpPr txBox="1"/>
          <p:nvPr/>
        </p:nvSpPr>
        <p:spPr>
          <a:xfrm>
            <a:off x="6991350" y="2229147"/>
            <a:ext cx="407050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6. Phê duyệt/từ chối</a:t>
            </a:r>
            <a:endParaRPr/>
          </a:p>
        </p:txBody>
      </p:sp>
      <p:sp>
        <p:nvSpPr>
          <p:cNvPr id="45" name="Google Shape;196;p16">
            <a:extLst>
              <a:ext uri="{FF2B5EF4-FFF2-40B4-BE49-F238E27FC236}">
                <a16:creationId xmlns:a16="http://schemas.microsoft.com/office/drawing/2014/main" id="{2E832169-8163-4489-BE88-4C4C694639DD}"/>
              </a:ext>
            </a:extLst>
          </p:cNvPr>
          <p:cNvSpPr txBox="1"/>
          <p:nvPr/>
        </p:nvSpPr>
        <p:spPr>
          <a:xfrm>
            <a:off x="6991350" y="2448222"/>
            <a:ext cx="38766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Quy trình phê duyệt (Approval Workflow) cho dữ liệu upload.</a:t>
            </a:r>
            <a:endParaRPr/>
          </a:p>
        </p:txBody>
      </p:sp>
      <p:pic>
        <p:nvPicPr>
          <p:cNvPr id="46" name="Google Shape;197;p16" descr="image.png">
            <a:extLst>
              <a:ext uri="{FF2B5EF4-FFF2-40B4-BE49-F238E27FC236}">
                <a16:creationId xmlns:a16="http://schemas.microsoft.com/office/drawing/2014/main" id="{9FAE21D1-43C5-4B4F-AF77-39155F2724E3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38925" y="3078658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198;p16">
            <a:extLst>
              <a:ext uri="{FF2B5EF4-FFF2-40B4-BE49-F238E27FC236}">
                <a16:creationId xmlns:a16="http://schemas.microsoft.com/office/drawing/2014/main" id="{362C1346-28A9-4F1A-8760-BFBC6550AA41}"/>
              </a:ext>
            </a:extLst>
          </p:cNvPr>
          <p:cNvSpPr txBox="1"/>
          <p:nvPr/>
        </p:nvSpPr>
        <p:spPr>
          <a:xfrm>
            <a:off x="6991350" y="2983408"/>
            <a:ext cx="419052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7. Auto-ingest</a:t>
            </a:r>
            <a:endParaRPr/>
          </a:p>
        </p:txBody>
      </p:sp>
      <p:sp>
        <p:nvSpPr>
          <p:cNvPr id="48" name="Google Shape;199;p16">
            <a:extLst>
              <a:ext uri="{FF2B5EF4-FFF2-40B4-BE49-F238E27FC236}">
                <a16:creationId xmlns:a16="http://schemas.microsoft.com/office/drawing/2014/main" id="{CF0F272B-0FA6-4E43-84FC-E82F453C859E}"/>
              </a:ext>
            </a:extLst>
          </p:cNvPr>
          <p:cNvSpPr txBox="1"/>
          <p:nvPr/>
        </p:nvSpPr>
        <p:spPr>
          <a:xfrm>
            <a:off x="6991350" y="3202483"/>
            <a:ext cx="39909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Luồng tự động ingest dữ liệu hợp lệ không cần qua phê duyệt.</a:t>
            </a:r>
            <a:endParaRPr/>
          </a:p>
        </p:txBody>
      </p:sp>
      <p:pic>
        <p:nvPicPr>
          <p:cNvPr id="49" name="Google Shape;200;p16" descr="image.png">
            <a:extLst>
              <a:ext uri="{FF2B5EF4-FFF2-40B4-BE49-F238E27FC236}">
                <a16:creationId xmlns:a16="http://schemas.microsoft.com/office/drawing/2014/main" id="{1C538FC4-BF87-4768-B6E7-25ECA98DA93A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629400" y="3832919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01;p16">
            <a:extLst>
              <a:ext uri="{FF2B5EF4-FFF2-40B4-BE49-F238E27FC236}">
                <a16:creationId xmlns:a16="http://schemas.microsoft.com/office/drawing/2014/main" id="{A87E9143-D4CC-444B-A314-A82B2B40C7EB}"/>
              </a:ext>
            </a:extLst>
          </p:cNvPr>
          <p:cNvSpPr txBox="1"/>
          <p:nvPr/>
        </p:nvSpPr>
        <p:spPr>
          <a:xfrm>
            <a:off x="6991350" y="3737669"/>
            <a:ext cx="339042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8. Download files</a:t>
            </a:r>
            <a:endParaRPr/>
          </a:p>
        </p:txBody>
      </p:sp>
      <p:sp>
        <p:nvSpPr>
          <p:cNvPr id="51" name="Google Shape;202;p16">
            <a:extLst>
              <a:ext uri="{FF2B5EF4-FFF2-40B4-BE49-F238E27FC236}">
                <a16:creationId xmlns:a16="http://schemas.microsoft.com/office/drawing/2014/main" id="{EAEF1487-8863-4EAA-8B06-8907FA0F4830}"/>
              </a:ext>
            </a:extLst>
          </p:cNvPr>
          <p:cNvSpPr txBox="1"/>
          <p:nvPr/>
        </p:nvSpPr>
        <p:spPr>
          <a:xfrm>
            <a:off x="6991350" y="3956744"/>
            <a:ext cx="322897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Cho phép tải lại các file gốc đã upload thành công.</a:t>
            </a:r>
            <a:endParaRPr/>
          </a:p>
        </p:txBody>
      </p:sp>
      <p:pic>
        <p:nvPicPr>
          <p:cNvPr id="52" name="Google Shape;203;p16" descr="image.png">
            <a:extLst>
              <a:ext uri="{FF2B5EF4-FFF2-40B4-BE49-F238E27FC236}">
                <a16:creationId xmlns:a16="http://schemas.microsoft.com/office/drawing/2014/main" id="{6838539F-EFE8-4200-B2E9-F2DF0558FB0C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629400" y="45871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04;p16">
            <a:extLst>
              <a:ext uri="{FF2B5EF4-FFF2-40B4-BE49-F238E27FC236}">
                <a16:creationId xmlns:a16="http://schemas.microsoft.com/office/drawing/2014/main" id="{249E59D6-0B89-45D2-ACC0-5E7F7E914472}"/>
              </a:ext>
            </a:extLst>
          </p:cNvPr>
          <p:cNvSpPr txBox="1"/>
          <p:nvPr/>
        </p:nvSpPr>
        <p:spPr>
          <a:xfrm>
            <a:off x="6991350" y="4491930"/>
            <a:ext cx="35804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9. Email notification</a:t>
            </a:r>
            <a:endParaRPr/>
          </a:p>
        </p:txBody>
      </p:sp>
      <p:sp>
        <p:nvSpPr>
          <p:cNvPr id="54" name="Google Shape;205;p16">
            <a:extLst>
              <a:ext uri="{FF2B5EF4-FFF2-40B4-BE49-F238E27FC236}">
                <a16:creationId xmlns:a16="http://schemas.microsoft.com/office/drawing/2014/main" id="{00BA6A1D-313F-4959-8839-4CA6DC7A3416}"/>
              </a:ext>
            </a:extLst>
          </p:cNvPr>
          <p:cNvSpPr txBox="1"/>
          <p:nvPr/>
        </p:nvSpPr>
        <p:spPr>
          <a:xfrm>
            <a:off x="6991350" y="4711005"/>
            <a:ext cx="3409950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Gửi email thông báo kết quả (Success/Fail/Cancelled).</a:t>
            </a:r>
            <a:endParaRPr/>
          </a:p>
        </p:txBody>
      </p:sp>
      <p:pic>
        <p:nvPicPr>
          <p:cNvPr id="55" name="Google Shape;206;p16" descr="image.png">
            <a:extLst>
              <a:ext uri="{FF2B5EF4-FFF2-40B4-BE49-F238E27FC236}">
                <a16:creationId xmlns:a16="http://schemas.microsoft.com/office/drawing/2014/main" id="{52A3E28F-2B26-4DAC-BE1B-464D793806B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6610350" y="5341441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07;p16">
            <a:extLst>
              <a:ext uri="{FF2B5EF4-FFF2-40B4-BE49-F238E27FC236}">
                <a16:creationId xmlns:a16="http://schemas.microsoft.com/office/drawing/2014/main" id="{95874BC2-5140-487E-9F2C-E8800D5F1CE7}"/>
              </a:ext>
            </a:extLst>
          </p:cNvPr>
          <p:cNvSpPr txBox="1"/>
          <p:nvPr/>
        </p:nvSpPr>
        <p:spPr>
          <a:xfrm>
            <a:off x="6991350" y="5246191"/>
            <a:ext cx="405050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10. Quản trị hệ thống</a:t>
            </a:r>
            <a:endParaRPr/>
          </a:p>
        </p:txBody>
      </p:sp>
      <p:sp>
        <p:nvSpPr>
          <p:cNvPr id="57" name="Google Shape;208;p16">
            <a:extLst>
              <a:ext uri="{FF2B5EF4-FFF2-40B4-BE49-F238E27FC236}">
                <a16:creationId xmlns:a16="http://schemas.microsoft.com/office/drawing/2014/main" id="{E0DD319B-2472-4CAB-BC9C-3EC35EFDEA83}"/>
              </a:ext>
            </a:extLst>
          </p:cNvPr>
          <p:cNvSpPr txBox="1"/>
          <p:nvPr/>
        </p:nvSpPr>
        <p:spPr>
          <a:xfrm>
            <a:off x="6991350" y="5465266"/>
            <a:ext cx="3857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Quản lý người dùng, Dataset, Schema và Data Quality Rules.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6099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E86EA-095E-F12B-F0A3-8F08ABD1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EF18902-36AD-E669-9464-805287DA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 err="1">
                <a:latin typeface="+mn-lt"/>
                <a:cs typeface="Times New Roman" panose="02020603050405020304" pitchFamily="18" charset="0"/>
              </a:rPr>
              <a:t>Yêu</a:t>
            </a:r>
            <a:r>
              <a:rPr lang="en-AU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dirty="0" err="1">
                <a:latin typeface="+mn-lt"/>
                <a:cs typeface="Times New Roman" panose="02020603050405020304" pitchFamily="18" charset="0"/>
              </a:rPr>
              <a:t>cầu</a:t>
            </a:r>
            <a:r>
              <a:rPr lang="en-AU" dirty="0">
                <a:latin typeface="+mn-lt"/>
                <a:cs typeface="Times New Roman" panose="02020603050405020304" pitchFamily="18" charset="0"/>
              </a:rPr>
              <a:t> phi </a:t>
            </a:r>
            <a:r>
              <a:rPr lang="en-AU" dirty="0" err="1">
                <a:latin typeface="+mn-lt"/>
                <a:cs typeface="Times New Roman" panose="02020603050405020304" pitchFamily="18" charset="0"/>
              </a:rPr>
              <a:t>ch</a:t>
            </a:r>
            <a:r>
              <a:rPr lang="en-US" dirty="0" err="1">
                <a:latin typeface="+mn-lt"/>
                <a:cs typeface="Times New Roman" panose="02020603050405020304" pitchFamily="18" charset="0"/>
              </a:rPr>
              <a:t>ức</a:t>
            </a:r>
            <a:r>
              <a:rPr lang="en-US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n-lt"/>
                <a:cs typeface="Times New Roman" panose="02020603050405020304" pitchFamily="18" charset="0"/>
              </a:rPr>
              <a:t>năng</a:t>
            </a:r>
            <a:endParaRPr lang="en-AU" sz="3200" dirty="0">
              <a:solidFill>
                <a:schemeClr val="accent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8C503-2346-4ADE-C4E0-9D0B7F638A4D}"/>
              </a:ext>
            </a:extLst>
          </p:cNvPr>
          <p:cNvSpPr/>
          <p:nvPr/>
        </p:nvSpPr>
        <p:spPr>
          <a:xfrm>
            <a:off x="527456" y="723538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216;p17" descr="image.png">
            <a:extLst>
              <a:ext uri="{FF2B5EF4-FFF2-40B4-BE49-F238E27FC236}">
                <a16:creationId xmlns:a16="http://schemas.microsoft.com/office/drawing/2014/main" id="{2D78672A-F5C6-41F7-A16C-D8930FECE8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3822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7;p17" descr="image.png">
            <a:extLst>
              <a:ext uri="{FF2B5EF4-FFF2-40B4-BE49-F238E27FC236}">
                <a16:creationId xmlns:a16="http://schemas.microsoft.com/office/drawing/2014/main" id="{C8B84F3B-24C8-44ED-824D-AAC91057E5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03822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8;p17" descr="image.png">
            <a:extLst>
              <a:ext uri="{FF2B5EF4-FFF2-40B4-BE49-F238E27FC236}">
                <a16:creationId xmlns:a16="http://schemas.microsoft.com/office/drawing/2014/main" id="{BC51009F-90A6-4790-AAB8-F86EDCCA86F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65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9;p17" descr="image.png">
            <a:extLst>
              <a:ext uri="{FF2B5EF4-FFF2-40B4-BE49-F238E27FC236}">
                <a16:creationId xmlns:a16="http://schemas.microsoft.com/office/drawing/2014/main" id="{1A570F25-13E7-40F2-A07B-FB61E0B7F0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3365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20;p17" descr="image.png">
            <a:extLst>
              <a:ext uri="{FF2B5EF4-FFF2-40B4-BE49-F238E27FC236}">
                <a16:creationId xmlns:a16="http://schemas.microsoft.com/office/drawing/2014/main" id="{3043DF3C-C947-4A68-B6C8-9A9E1503C4B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2907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21;p17" descr="image.png">
            <a:extLst>
              <a:ext uri="{FF2B5EF4-FFF2-40B4-BE49-F238E27FC236}">
                <a16:creationId xmlns:a16="http://schemas.microsoft.com/office/drawing/2014/main" id="{FB19F350-B36B-4B35-B9F4-641C242186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029075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22;p17" descr="image.png">
            <a:extLst>
              <a:ext uri="{FF2B5EF4-FFF2-40B4-BE49-F238E27FC236}">
                <a16:creationId xmlns:a16="http://schemas.microsoft.com/office/drawing/2014/main" id="{A247B372-ACDE-4EA8-B4A3-DF1F2AFE7C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524500"/>
            <a:ext cx="542925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23;p17" descr="image.png">
            <a:extLst>
              <a:ext uri="{FF2B5EF4-FFF2-40B4-BE49-F238E27FC236}">
                <a16:creationId xmlns:a16="http://schemas.microsoft.com/office/drawing/2014/main" id="{0436A814-7CA8-446A-82B2-5F701000AF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5524500"/>
            <a:ext cx="542925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24;p17">
            <a:extLst>
              <a:ext uri="{FF2B5EF4-FFF2-40B4-BE49-F238E27FC236}">
                <a16:creationId xmlns:a16="http://schemas.microsoft.com/office/drawing/2014/main" id="{BB1B437D-BD33-4CD7-AB74-CB7880362400}"/>
              </a:ext>
            </a:extLst>
          </p:cNvPr>
          <p:cNvSpPr txBox="1"/>
          <p:nvPr/>
        </p:nvSpPr>
        <p:spPr>
          <a:xfrm>
            <a:off x="723900" y="156210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 Tháng</a:t>
            </a:r>
            <a:endParaRPr/>
          </a:p>
        </p:txBody>
      </p:sp>
      <p:pic>
        <p:nvPicPr>
          <p:cNvPr id="16" name="Google Shape;225;p17" descr="image.png">
            <a:extLst>
              <a:ext uri="{FF2B5EF4-FFF2-40B4-BE49-F238E27FC236}">
                <a16:creationId xmlns:a16="http://schemas.microsoft.com/office/drawing/2014/main" id="{772400C8-255C-4767-9299-557843655DC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1943100"/>
            <a:ext cx="1371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26;p17">
            <a:extLst>
              <a:ext uri="{FF2B5EF4-FFF2-40B4-BE49-F238E27FC236}">
                <a16:creationId xmlns:a16="http://schemas.microsoft.com/office/drawing/2014/main" id="{D19C0F93-BD80-4CC8-B419-A662E83260E2}"/>
              </a:ext>
            </a:extLst>
          </p:cNvPr>
          <p:cNvSpPr txBox="1"/>
          <p:nvPr/>
        </p:nvSpPr>
        <p:spPr>
          <a:xfrm>
            <a:off x="6343650" y="156210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XML, CSV, Excel, Parquet</a:t>
            </a:r>
            <a:endParaRPr/>
          </a:p>
        </p:txBody>
      </p:sp>
      <p:pic>
        <p:nvPicPr>
          <p:cNvPr id="18" name="Google Shape;227;p17" descr="image.png">
            <a:extLst>
              <a:ext uri="{FF2B5EF4-FFF2-40B4-BE49-F238E27FC236}">
                <a16:creationId xmlns:a16="http://schemas.microsoft.com/office/drawing/2014/main" id="{F8590895-3BCC-4857-BAB5-36A5A4D6191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1943100"/>
            <a:ext cx="2019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28;p17">
            <a:extLst>
              <a:ext uri="{FF2B5EF4-FFF2-40B4-BE49-F238E27FC236}">
                <a16:creationId xmlns:a16="http://schemas.microsoft.com/office/drawing/2014/main" id="{59C35B78-2942-4FF2-B8AC-314BB8B40770}"/>
              </a:ext>
            </a:extLst>
          </p:cNvPr>
          <p:cNvSpPr txBox="1"/>
          <p:nvPr/>
        </p:nvSpPr>
        <p:spPr>
          <a:xfrm>
            <a:off x="723900" y="305752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5 GB / lần upload</a:t>
            </a:r>
            <a:endParaRPr/>
          </a:p>
        </p:txBody>
      </p:sp>
      <p:pic>
        <p:nvPicPr>
          <p:cNvPr id="20" name="Google Shape;229;p17" descr="image.png">
            <a:extLst>
              <a:ext uri="{FF2B5EF4-FFF2-40B4-BE49-F238E27FC236}">
                <a16:creationId xmlns:a16="http://schemas.microsoft.com/office/drawing/2014/main" id="{60912959-B57E-42E0-86CC-A80D1BF256C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3900" y="3438525"/>
            <a:ext cx="1905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30;p17">
            <a:extLst>
              <a:ext uri="{FF2B5EF4-FFF2-40B4-BE49-F238E27FC236}">
                <a16:creationId xmlns:a16="http://schemas.microsoft.com/office/drawing/2014/main" id="{DD1BDF32-A9D1-430D-A072-D765BCB6F637}"/>
              </a:ext>
            </a:extLst>
          </p:cNvPr>
          <p:cNvSpPr txBox="1"/>
          <p:nvPr/>
        </p:nvSpPr>
        <p:spPr>
          <a:xfrm>
            <a:off x="6343650" y="305752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100GB/ngày | 5 req/phút</a:t>
            </a:r>
            <a:endParaRPr/>
          </a:p>
        </p:txBody>
      </p:sp>
      <p:pic>
        <p:nvPicPr>
          <p:cNvPr id="22" name="Google Shape;231;p17" descr="image.png">
            <a:extLst>
              <a:ext uri="{FF2B5EF4-FFF2-40B4-BE49-F238E27FC236}">
                <a16:creationId xmlns:a16="http://schemas.microsoft.com/office/drawing/2014/main" id="{B9062F7C-9EF1-4C50-B677-1A39CFDBC00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43650" y="3438525"/>
            <a:ext cx="1743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2;p17">
            <a:extLst>
              <a:ext uri="{FF2B5EF4-FFF2-40B4-BE49-F238E27FC236}">
                <a16:creationId xmlns:a16="http://schemas.microsoft.com/office/drawing/2014/main" id="{2167EE31-0437-437F-985C-B7AFB9C9DBFC}"/>
              </a:ext>
            </a:extLst>
          </p:cNvPr>
          <p:cNvSpPr txBox="1"/>
          <p:nvPr/>
        </p:nvSpPr>
        <p:spPr>
          <a:xfrm>
            <a:off x="723900" y="455295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Hỗ trợ</a:t>
            </a:r>
            <a:endParaRPr/>
          </a:p>
        </p:txBody>
      </p:sp>
      <p:pic>
        <p:nvPicPr>
          <p:cNvPr id="24" name="Google Shape;233;p17" descr="image.png">
            <a:extLst>
              <a:ext uri="{FF2B5EF4-FFF2-40B4-BE49-F238E27FC236}">
                <a16:creationId xmlns:a16="http://schemas.microsoft.com/office/drawing/2014/main" id="{A193C247-5F2F-47B7-881B-8E0156135C1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3900" y="4933950"/>
            <a:ext cx="1905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34;p17">
            <a:extLst>
              <a:ext uri="{FF2B5EF4-FFF2-40B4-BE49-F238E27FC236}">
                <a16:creationId xmlns:a16="http://schemas.microsoft.com/office/drawing/2014/main" id="{4CF169CA-3960-4520-8517-AF5F2333D4AE}"/>
              </a:ext>
            </a:extLst>
          </p:cNvPr>
          <p:cNvSpPr txBox="1"/>
          <p:nvPr/>
        </p:nvSpPr>
        <p:spPr>
          <a:xfrm>
            <a:off x="6343650" y="4552950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Ghi log toàn bộ tác vụ</a:t>
            </a:r>
            <a:endParaRPr/>
          </a:p>
        </p:txBody>
      </p:sp>
      <p:pic>
        <p:nvPicPr>
          <p:cNvPr id="26" name="Google Shape;235;p17" descr="image.png">
            <a:extLst>
              <a:ext uri="{FF2B5EF4-FFF2-40B4-BE49-F238E27FC236}">
                <a16:creationId xmlns:a16="http://schemas.microsoft.com/office/drawing/2014/main" id="{50917A22-CE16-4310-862A-B34A9A0F695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43650" y="4933950"/>
            <a:ext cx="20288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36;p17">
            <a:extLst>
              <a:ext uri="{FF2B5EF4-FFF2-40B4-BE49-F238E27FC236}">
                <a16:creationId xmlns:a16="http://schemas.microsoft.com/office/drawing/2014/main" id="{7DD978FA-C4E3-44DB-A996-02C6F37B67EA}"/>
              </a:ext>
            </a:extLst>
          </p:cNvPr>
          <p:cNvSpPr txBox="1"/>
          <p:nvPr/>
        </p:nvSpPr>
        <p:spPr>
          <a:xfrm>
            <a:off x="723900" y="604837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Trường thông tin nhạy cảm</a:t>
            </a:r>
            <a:endParaRPr/>
          </a:p>
        </p:txBody>
      </p:sp>
      <p:pic>
        <p:nvPicPr>
          <p:cNvPr id="28" name="Google Shape;237;p17" descr="image.png">
            <a:extLst>
              <a:ext uri="{FF2B5EF4-FFF2-40B4-BE49-F238E27FC236}">
                <a16:creationId xmlns:a16="http://schemas.microsoft.com/office/drawing/2014/main" id="{F2267180-793E-4AAE-8DBD-CCB05A5E329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3900" y="6429375"/>
            <a:ext cx="18954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38;p17">
            <a:extLst>
              <a:ext uri="{FF2B5EF4-FFF2-40B4-BE49-F238E27FC236}">
                <a16:creationId xmlns:a16="http://schemas.microsoft.com/office/drawing/2014/main" id="{F7D269D6-6DF3-4F80-94A7-5C278944BA7B}"/>
              </a:ext>
            </a:extLst>
          </p:cNvPr>
          <p:cNvSpPr txBox="1"/>
          <p:nvPr/>
        </p:nvSpPr>
        <p:spPr>
          <a:xfrm>
            <a:off x="6343650" y="6048375"/>
            <a:ext cx="5124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508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Auto-scale</a:t>
            </a:r>
            <a:endParaRPr/>
          </a:p>
        </p:txBody>
      </p:sp>
      <p:pic>
        <p:nvPicPr>
          <p:cNvPr id="30" name="Google Shape;239;p17" descr="image.png">
            <a:extLst>
              <a:ext uri="{FF2B5EF4-FFF2-40B4-BE49-F238E27FC236}">
                <a16:creationId xmlns:a16="http://schemas.microsoft.com/office/drawing/2014/main" id="{84C0D735-39CC-44F9-9162-70F338F0ED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43650" y="6429375"/>
            <a:ext cx="1371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240;p17" descr="image.png">
            <a:extLst>
              <a:ext uri="{FF2B5EF4-FFF2-40B4-BE49-F238E27FC236}">
                <a16:creationId xmlns:a16="http://schemas.microsoft.com/office/drawing/2014/main" id="{E81AFE92-9E8F-4B9B-B8B2-A5AA1FEA2E59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23900" y="120967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241;p17">
            <a:extLst>
              <a:ext uri="{FF2B5EF4-FFF2-40B4-BE49-F238E27FC236}">
                <a16:creationId xmlns:a16="http://schemas.microsoft.com/office/drawing/2014/main" id="{9282B1D4-65B7-4BE2-A55C-A2A6E1042BD1}"/>
              </a:ext>
            </a:extLst>
          </p:cNvPr>
          <p:cNvSpPr txBox="1"/>
          <p:nvPr/>
        </p:nvSpPr>
        <p:spPr>
          <a:xfrm>
            <a:off x="971550" y="1190625"/>
            <a:ext cx="93011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Lưu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trữ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files</a:t>
            </a:r>
            <a:endParaRPr dirty="0"/>
          </a:p>
        </p:txBody>
      </p:sp>
      <p:pic>
        <p:nvPicPr>
          <p:cNvPr id="33" name="Google Shape;242;p17" descr="image.png">
            <a:extLst>
              <a:ext uri="{FF2B5EF4-FFF2-40B4-BE49-F238E27FC236}">
                <a16:creationId xmlns:a16="http://schemas.microsoft.com/office/drawing/2014/main" id="{0856028F-950D-4D3D-A71F-C7DBA0F9A37C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343650" y="120967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243;p17">
            <a:extLst>
              <a:ext uri="{FF2B5EF4-FFF2-40B4-BE49-F238E27FC236}">
                <a16:creationId xmlns:a16="http://schemas.microsoft.com/office/drawing/2014/main" id="{9642EC40-6F2D-48B1-80CC-68353221BC76}"/>
              </a:ext>
            </a:extLst>
          </p:cNvPr>
          <p:cNvSpPr txBox="1"/>
          <p:nvPr/>
        </p:nvSpPr>
        <p:spPr>
          <a:xfrm>
            <a:off x="6572250" y="1190625"/>
            <a:ext cx="1110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Kiểu file hỗ trợ</a:t>
            </a:r>
            <a:endParaRPr/>
          </a:p>
        </p:txBody>
      </p:sp>
      <p:pic>
        <p:nvPicPr>
          <p:cNvPr id="35" name="Google Shape;244;p17" descr="image.png">
            <a:extLst>
              <a:ext uri="{FF2B5EF4-FFF2-40B4-BE49-F238E27FC236}">
                <a16:creationId xmlns:a16="http://schemas.microsoft.com/office/drawing/2014/main" id="{B904E90A-4069-4FBE-9A7F-2433984BC93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390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45;p17">
            <a:extLst>
              <a:ext uri="{FF2B5EF4-FFF2-40B4-BE49-F238E27FC236}">
                <a16:creationId xmlns:a16="http://schemas.microsoft.com/office/drawing/2014/main" id="{87C5FB6E-12D9-4085-8A38-9C3566B53566}"/>
              </a:ext>
            </a:extLst>
          </p:cNvPr>
          <p:cNvSpPr txBox="1"/>
          <p:nvPr/>
        </p:nvSpPr>
        <p:spPr>
          <a:xfrm>
            <a:off x="990600" y="2686050"/>
            <a:ext cx="136017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Dung lượng tối đa</a:t>
            </a:r>
            <a:endParaRPr/>
          </a:p>
        </p:txBody>
      </p:sp>
      <p:pic>
        <p:nvPicPr>
          <p:cNvPr id="37" name="Google Shape;246;p17" descr="image.png">
            <a:extLst>
              <a:ext uri="{FF2B5EF4-FFF2-40B4-BE49-F238E27FC236}">
                <a16:creationId xmlns:a16="http://schemas.microsoft.com/office/drawing/2014/main" id="{6E4E0E2E-0E38-4AB4-8D78-EF9518916D8B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4365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247;p17">
            <a:extLst>
              <a:ext uri="{FF2B5EF4-FFF2-40B4-BE49-F238E27FC236}">
                <a16:creationId xmlns:a16="http://schemas.microsoft.com/office/drawing/2014/main" id="{8C19E3BE-BAB4-48A6-B909-3EBCEC3E847A}"/>
              </a:ext>
            </a:extLst>
          </p:cNvPr>
          <p:cNvSpPr txBox="1"/>
          <p:nvPr/>
        </p:nvSpPr>
        <p:spPr>
          <a:xfrm>
            <a:off x="6610350" y="2686050"/>
            <a:ext cx="144018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Quota &amp; Rate Limit</a:t>
            </a:r>
            <a:endParaRPr/>
          </a:p>
        </p:txBody>
      </p:sp>
      <p:pic>
        <p:nvPicPr>
          <p:cNvPr id="39" name="Google Shape;248;p17" descr="image.png">
            <a:extLst>
              <a:ext uri="{FF2B5EF4-FFF2-40B4-BE49-F238E27FC236}">
                <a16:creationId xmlns:a16="http://schemas.microsoft.com/office/drawing/2014/main" id="{E0109177-6BB0-475C-9291-BFF514E26CC3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23900" y="4200525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249;p17">
            <a:extLst>
              <a:ext uri="{FF2B5EF4-FFF2-40B4-BE49-F238E27FC236}">
                <a16:creationId xmlns:a16="http://schemas.microsoft.com/office/drawing/2014/main" id="{B532D1E6-9483-499E-A445-CCEADEF57E94}"/>
              </a:ext>
            </a:extLst>
          </p:cNvPr>
          <p:cNvSpPr txBox="1"/>
          <p:nvPr/>
        </p:nvSpPr>
        <p:spPr>
          <a:xfrm>
            <a:off x="923925" y="4181475"/>
            <a:ext cx="1200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Resume Upload</a:t>
            </a:r>
            <a:endParaRPr/>
          </a:p>
        </p:txBody>
      </p:sp>
      <p:pic>
        <p:nvPicPr>
          <p:cNvPr id="41" name="Google Shape;250;p17" descr="image.png">
            <a:extLst>
              <a:ext uri="{FF2B5EF4-FFF2-40B4-BE49-F238E27FC236}">
                <a16:creationId xmlns:a16="http://schemas.microsoft.com/office/drawing/2014/main" id="{5E14B4D6-4A71-4164-B216-3F38369A9CBD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343650" y="4200525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51;p17">
            <a:extLst>
              <a:ext uri="{FF2B5EF4-FFF2-40B4-BE49-F238E27FC236}">
                <a16:creationId xmlns:a16="http://schemas.microsoft.com/office/drawing/2014/main" id="{A5BF30ED-904D-4242-8F1A-15DF3807893D}"/>
              </a:ext>
            </a:extLst>
          </p:cNvPr>
          <p:cNvSpPr txBox="1"/>
          <p:nvPr/>
        </p:nvSpPr>
        <p:spPr>
          <a:xfrm>
            <a:off x="6572250" y="4181475"/>
            <a:ext cx="81010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Audit Logs</a:t>
            </a:r>
            <a:endParaRPr/>
          </a:p>
        </p:txBody>
      </p:sp>
      <p:pic>
        <p:nvPicPr>
          <p:cNvPr id="43" name="Google Shape;252;p17" descr="image.png">
            <a:extLst>
              <a:ext uri="{FF2B5EF4-FFF2-40B4-BE49-F238E27FC236}">
                <a16:creationId xmlns:a16="http://schemas.microsoft.com/office/drawing/2014/main" id="{1915303D-4D93-4189-A09E-46614AC4968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23900" y="56959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253;p17">
            <a:extLst>
              <a:ext uri="{FF2B5EF4-FFF2-40B4-BE49-F238E27FC236}">
                <a16:creationId xmlns:a16="http://schemas.microsoft.com/office/drawing/2014/main" id="{267DC7A1-451C-429F-8BE6-3CC9796472D4}"/>
              </a:ext>
            </a:extLst>
          </p:cNvPr>
          <p:cNvSpPr txBox="1"/>
          <p:nvPr/>
        </p:nvSpPr>
        <p:spPr>
          <a:xfrm>
            <a:off x="971550" y="5676900"/>
            <a:ext cx="113014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Mã hóa dữ liệu</a:t>
            </a:r>
            <a:endParaRPr/>
          </a:p>
        </p:txBody>
      </p:sp>
      <p:pic>
        <p:nvPicPr>
          <p:cNvPr id="45" name="Google Shape;254;p17" descr="image.png">
            <a:extLst>
              <a:ext uri="{FF2B5EF4-FFF2-40B4-BE49-F238E27FC236}">
                <a16:creationId xmlns:a16="http://schemas.microsoft.com/office/drawing/2014/main" id="{F578ED04-A306-4A92-BEDB-B77C577A00D7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343650" y="569595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55;p17">
            <a:extLst>
              <a:ext uri="{FF2B5EF4-FFF2-40B4-BE49-F238E27FC236}">
                <a16:creationId xmlns:a16="http://schemas.microsoft.com/office/drawing/2014/main" id="{4C86FBCA-14D6-4600-80E6-7E864503636D}"/>
              </a:ext>
            </a:extLst>
          </p:cNvPr>
          <p:cNvSpPr txBox="1"/>
          <p:nvPr/>
        </p:nvSpPr>
        <p:spPr>
          <a:xfrm>
            <a:off x="6591300" y="5676900"/>
            <a:ext cx="14001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Khả năng mở rộng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218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AFC0-1AF4-7DC1-9E2B-9104AAA9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B3F39FA-81C5-0CF6-B6CE-E21B2F50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914400"/>
          </a:xfrm>
          <a:ln>
            <a:noFill/>
          </a:ln>
        </p:spPr>
        <p:txBody>
          <a:bodyPr>
            <a:normAutofit/>
          </a:bodyPr>
          <a:lstStyle/>
          <a:p>
            <a:pPr>
              <a:tabLst>
                <a:tab pos="228600" algn="l"/>
              </a:tabLst>
            </a:pPr>
            <a:r>
              <a:rPr lang="en-AU" sz="3200">
                <a:latin typeface="+mn-lt"/>
                <a:cs typeface="Times New Roman" panose="02020603050405020304" pitchFamily="18" charset="0"/>
              </a:rPr>
              <a:t>Biz Cap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679A0-EE1F-B77B-DA68-936E3F623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BD5762-3BDC-484D-9503-7EA6D5A9A8C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6D86E-6831-47C6-DD72-4D753C2F3A10}"/>
              </a:ext>
            </a:extLst>
          </p:cNvPr>
          <p:cNvSpPr/>
          <p:nvPr/>
        </p:nvSpPr>
        <p:spPr>
          <a:xfrm>
            <a:off x="596199" y="933812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6" name="Google Shape;807;p104">
            <a:extLst>
              <a:ext uri="{FF2B5EF4-FFF2-40B4-BE49-F238E27FC236}">
                <a16:creationId xmlns:a16="http://schemas.microsoft.com/office/drawing/2014/main" id="{4B5BB798-52DC-B863-E1D5-B54D58C54454}"/>
              </a:ext>
            </a:extLst>
          </p:cNvPr>
          <p:cNvGrpSpPr/>
          <p:nvPr/>
        </p:nvGrpSpPr>
        <p:grpSpPr>
          <a:xfrm>
            <a:off x="9251808" y="2540443"/>
            <a:ext cx="908004" cy="902639"/>
            <a:chOff x="5483226" y="5110164"/>
            <a:chExt cx="260350" cy="258763"/>
          </a:xfrm>
        </p:grpSpPr>
        <p:sp>
          <p:nvSpPr>
            <p:cNvPr id="37" name="Google Shape;808;p104">
              <a:extLst>
                <a:ext uri="{FF2B5EF4-FFF2-40B4-BE49-F238E27FC236}">
                  <a16:creationId xmlns:a16="http://schemas.microsoft.com/office/drawing/2014/main" id="{D7214A92-56CE-1676-C52D-7575390BC19A}"/>
                </a:ext>
              </a:extLst>
            </p:cNvPr>
            <p:cNvSpPr/>
            <p:nvPr/>
          </p:nvSpPr>
          <p:spPr>
            <a:xfrm>
              <a:off x="5522913" y="5275264"/>
              <a:ext cx="82550" cy="93663"/>
            </a:xfrm>
            <a:custGeom>
              <a:avLst/>
              <a:gdLst/>
              <a:ahLst/>
              <a:cxnLst/>
              <a:rect l="l" t="t" r="r" b="b"/>
              <a:pathLst>
                <a:path w="92" h="104" extrusionOk="0">
                  <a:moveTo>
                    <a:pt x="0" y="0"/>
                  </a:moveTo>
                  <a:cubicBezTo>
                    <a:pt x="18" y="24"/>
                    <a:pt x="18" y="24"/>
                    <a:pt x="18" y="24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97"/>
                    <a:pt x="25" y="104"/>
                    <a:pt x="33" y="104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5" y="104"/>
                    <a:pt x="92" y="97"/>
                    <a:pt x="92" y="89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62" y="5"/>
                    <a:pt x="40" y="2"/>
                    <a:pt x="22" y="2"/>
                  </a:cubicBezTo>
                  <a:cubicBezTo>
                    <a:pt x="14" y="2"/>
                    <a:pt x="7" y="1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endParaRPr kumimoji="0" sz="248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Google Shape;809;p104">
              <a:extLst>
                <a:ext uri="{FF2B5EF4-FFF2-40B4-BE49-F238E27FC236}">
                  <a16:creationId xmlns:a16="http://schemas.microsoft.com/office/drawing/2014/main" id="{7A607149-C00F-E322-9A16-D18F7E9F3231}"/>
                </a:ext>
              </a:extLst>
            </p:cNvPr>
            <p:cNvSpPr/>
            <p:nvPr/>
          </p:nvSpPr>
          <p:spPr>
            <a:xfrm>
              <a:off x="5564188" y="5110164"/>
              <a:ext cx="179388" cy="196850"/>
            </a:xfrm>
            <a:custGeom>
              <a:avLst/>
              <a:gdLst/>
              <a:ahLst/>
              <a:cxnLst/>
              <a:rect l="l" t="t" r="r" b="b"/>
              <a:pathLst>
                <a:path w="198" h="219" extrusionOk="0">
                  <a:moveTo>
                    <a:pt x="0" y="160"/>
                  </a:moveTo>
                  <a:cubicBezTo>
                    <a:pt x="78" y="168"/>
                    <a:pt x="185" y="207"/>
                    <a:pt x="198" y="219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82" y="14"/>
                    <a:pt x="77" y="52"/>
                    <a:pt x="0" y="59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endParaRPr kumimoji="0" sz="248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Google Shape;810;p104">
              <a:extLst>
                <a:ext uri="{FF2B5EF4-FFF2-40B4-BE49-F238E27FC236}">
                  <a16:creationId xmlns:a16="http://schemas.microsoft.com/office/drawing/2014/main" id="{4CCD7BE1-D5B2-2C84-C4E4-71972BF6E49E}"/>
                </a:ext>
              </a:extLst>
            </p:cNvPr>
            <p:cNvSpPr/>
            <p:nvPr/>
          </p:nvSpPr>
          <p:spPr>
            <a:xfrm>
              <a:off x="5483226" y="5164139"/>
              <a:ext cx="52388" cy="88900"/>
            </a:xfrm>
            <a:custGeom>
              <a:avLst/>
              <a:gdLst/>
              <a:ahLst/>
              <a:cxnLst/>
              <a:rect l="l" t="t" r="r" b="b"/>
              <a:pathLst>
                <a:path w="57" h="98" extrusionOk="0">
                  <a:moveTo>
                    <a:pt x="57" y="98"/>
                  </a:moveTo>
                  <a:cubicBezTo>
                    <a:pt x="57" y="0"/>
                    <a:pt x="57" y="0"/>
                    <a:pt x="57" y="0"/>
                  </a:cubicBezTo>
                  <a:cubicBezTo>
                    <a:pt x="11" y="3"/>
                    <a:pt x="0" y="31"/>
                    <a:pt x="0" y="49"/>
                  </a:cubicBezTo>
                  <a:cubicBezTo>
                    <a:pt x="0" y="68"/>
                    <a:pt x="10" y="94"/>
                    <a:pt x="57" y="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400"/>
                <a:buFontTx/>
                <a:buNone/>
                <a:tabLst/>
                <a:defRPr/>
              </a:pPr>
              <a:endParaRPr kumimoji="0" sz="248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B4B5A9-8E16-A618-A985-250EE44F02A4}"/>
              </a:ext>
            </a:extLst>
          </p:cNvPr>
          <p:cNvSpPr txBox="1"/>
          <p:nvPr/>
        </p:nvSpPr>
        <p:spPr>
          <a:xfrm>
            <a:off x="527456" y="1366887"/>
            <a:ext cx="670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Link QLYC: </a:t>
            </a:r>
            <a:r>
              <a:rPr lang="en-US" b="1" i="1" dirty="0">
                <a:solidFill>
                  <a:sysClr val="windowText" lastClr="000000"/>
                </a:solidFill>
                <a:latin typeface="Calibri" panose="020F0502020204030204" pitchFamily="34" charset="0"/>
                <a:ea typeface="Aptos" panose="020B0004020202020204" pitchFamily="34" charset="0"/>
              </a:rPr>
              <a:t>QLYC-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94616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EA9D-35E3-4997-E95E-7B73F58B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7AAC702-0F5E-53E5-DE99-A7C94399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 err="1">
                <a:latin typeface="+mn-lt"/>
                <a:cs typeface="Times New Roman" panose="02020603050405020304" pitchFamily="18" charset="0"/>
              </a:rPr>
              <a:t>Kế</a:t>
            </a:r>
            <a:r>
              <a:rPr lang="en-AU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dirty="0" err="1">
                <a:latin typeface="+mn-lt"/>
                <a:cs typeface="Times New Roman" panose="02020603050405020304" pitchFamily="18" charset="0"/>
              </a:rPr>
              <a:t>hoạch</a:t>
            </a:r>
            <a:r>
              <a:rPr lang="en-AU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dirty="0" err="1">
                <a:latin typeface="+mn-lt"/>
                <a:cs typeface="Times New Roman" panose="02020603050405020304" pitchFamily="18" charset="0"/>
              </a:rPr>
              <a:t>triển</a:t>
            </a:r>
            <a:r>
              <a:rPr lang="en-AU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AU" dirty="0" err="1">
                <a:latin typeface="+mn-lt"/>
                <a:cs typeface="Times New Roman" panose="02020603050405020304" pitchFamily="18" charset="0"/>
              </a:rPr>
              <a:t>khai</a:t>
            </a:r>
            <a:endParaRPr lang="en-AU" sz="3200" dirty="0">
              <a:solidFill>
                <a:schemeClr val="accent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5EA0D5-98FC-09D9-5AB1-B3CE9C1EE52E}"/>
              </a:ext>
            </a:extLst>
          </p:cNvPr>
          <p:cNvSpPr/>
          <p:nvPr/>
        </p:nvSpPr>
        <p:spPr>
          <a:xfrm>
            <a:off x="527456" y="723538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415;p26" descr="image.png">
            <a:extLst>
              <a:ext uri="{FF2B5EF4-FFF2-40B4-BE49-F238E27FC236}">
                <a16:creationId xmlns:a16="http://schemas.microsoft.com/office/drawing/2014/main" id="{8029A7C3-C1B6-4D3C-909E-F24006EB9E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43310"/>
            <a:ext cx="5238750" cy="538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16;p26" descr="image.png">
            <a:extLst>
              <a:ext uri="{FF2B5EF4-FFF2-40B4-BE49-F238E27FC236}">
                <a16:creationId xmlns:a16="http://schemas.microsoft.com/office/drawing/2014/main" id="{8552C500-4916-420A-9992-72DA46F4DA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243310"/>
            <a:ext cx="4638421" cy="5381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17;p26" descr="image.png">
            <a:extLst>
              <a:ext uri="{FF2B5EF4-FFF2-40B4-BE49-F238E27FC236}">
                <a16:creationId xmlns:a16="http://schemas.microsoft.com/office/drawing/2014/main" id="{13A97CAC-442F-44F8-98DC-7D344A9422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5929014"/>
            <a:ext cx="4762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18;p26" descr="image.png">
            <a:extLst>
              <a:ext uri="{FF2B5EF4-FFF2-40B4-BE49-F238E27FC236}">
                <a16:creationId xmlns:a16="http://schemas.microsoft.com/office/drawing/2014/main" id="{18CAEC7C-2DEE-448F-A22D-90BA4BB1881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875" y="5929014"/>
            <a:ext cx="4762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19;p26">
            <a:extLst>
              <a:ext uri="{FF2B5EF4-FFF2-40B4-BE49-F238E27FC236}">
                <a16:creationId xmlns:a16="http://schemas.microsoft.com/office/drawing/2014/main" id="{9D6BFE7D-9475-426B-BA98-A2EEEDFBFB6E}"/>
              </a:ext>
            </a:extLst>
          </p:cNvPr>
          <p:cNvSpPr txBox="1"/>
          <p:nvPr/>
        </p:nvSpPr>
        <p:spPr>
          <a:xfrm>
            <a:off x="809625" y="2138660"/>
            <a:ext cx="4762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Mục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tiêu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Vận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hành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sớm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kiểm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chứng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Microservices &amp; Event-driven.</a:t>
            </a:r>
            <a:endParaRPr dirty="0"/>
          </a:p>
        </p:txBody>
      </p:sp>
      <p:sp>
        <p:nvSpPr>
          <p:cNvPr id="13" name="Google Shape;420;p26">
            <a:extLst>
              <a:ext uri="{FF2B5EF4-FFF2-40B4-BE49-F238E27FC236}">
                <a16:creationId xmlns:a16="http://schemas.microsoft.com/office/drawing/2014/main" id="{8693C71B-5836-4891-8FDC-BC77DFBBE063}"/>
              </a:ext>
            </a:extLst>
          </p:cNvPr>
          <p:cNvSpPr txBox="1"/>
          <p:nvPr/>
        </p:nvSpPr>
        <p:spPr>
          <a:xfrm>
            <a:off x="6619875" y="2138660"/>
            <a:ext cx="47625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Mục tiêu: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Mở rộng chức năng không thay đổi kiến trúc lõi.</a:t>
            </a:r>
            <a:endParaRPr/>
          </a:p>
        </p:txBody>
      </p:sp>
      <p:pic>
        <p:nvPicPr>
          <p:cNvPr id="14" name="Google Shape;421;p26" descr="image.png">
            <a:extLst>
              <a:ext uri="{FF2B5EF4-FFF2-40B4-BE49-F238E27FC236}">
                <a16:creationId xmlns:a16="http://schemas.microsoft.com/office/drawing/2014/main" id="{6D9EE55B-8E9F-49DC-B460-960B1058FCA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52906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22;p26">
            <a:extLst>
              <a:ext uri="{FF2B5EF4-FFF2-40B4-BE49-F238E27FC236}">
                <a16:creationId xmlns:a16="http://schemas.microsoft.com/office/drawing/2014/main" id="{2C4790D1-DD07-447D-9247-069BADD8D032}"/>
              </a:ext>
            </a:extLst>
          </p:cNvPr>
          <p:cNvSpPr txBox="1"/>
          <p:nvPr/>
        </p:nvSpPr>
        <p:spPr>
          <a:xfrm>
            <a:off x="1219200" y="1529060"/>
            <a:ext cx="28603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Phase 1: MVP Core &amp; XML</a:t>
            </a:r>
            <a:endParaRPr dirty="0"/>
          </a:p>
        </p:txBody>
      </p:sp>
      <p:sp>
        <p:nvSpPr>
          <p:cNvPr id="16" name="Google Shape;423;p26">
            <a:extLst>
              <a:ext uri="{FF2B5EF4-FFF2-40B4-BE49-F238E27FC236}">
                <a16:creationId xmlns:a16="http://schemas.microsoft.com/office/drawing/2014/main" id="{3CD23595-1287-46BA-A34A-176435BFEF38}"/>
              </a:ext>
            </a:extLst>
          </p:cNvPr>
          <p:cNvSpPr txBox="1"/>
          <p:nvPr/>
        </p:nvSpPr>
        <p:spPr>
          <a:xfrm>
            <a:off x="809625" y="278636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Phạm</a:t>
            </a:r>
            <a:r>
              <a:rPr lang="en-US" sz="1275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vi </a:t>
            </a:r>
            <a:r>
              <a:rPr lang="en-US" sz="1275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triển</a:t>
            </a:r>
            <a:r>
              <a:rPr lang="en-US" sz="1275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275" b="1" i="0" u="none" strike="noStrike" cap="none" dirty="0" err="1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khai</a:t>
            </a:r>
            <a:r>
              <a:rPr lang="en-US" sz="1275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dirty="0"/>
          </a:p>
        </p:txBody>
      </p:sp>
      <p:sp>
        <p:nvSpPr>
          <p:cNvPr id="17" name="Google Shape;424;p26">
            <a:extLst>
              <a:ext uri="{FF2B5EF4-FFF2-40B4-BE49-F238E27FC236}">
                <a16:creationId xmlns:a16="http://schemas.microsoft.com/office/drawing/2014/main" id="{9AF0B125-946A-4726-BCC2-DDC4A225EEAD}"/>
              </a:ext>
            </a:extLst>
          </p:cNvPr>
          <p:cNvSpPr txBox="1"/>
          <p:nvPr/>
        </p:nvSpPr>
        <p:spPr>
          <a:xfrm>
            <a:off x="966787" y="5994185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Kết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quả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Luồng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bất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đồng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bộ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tách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biệt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Upload-Validate-Ingest.</a:t>
            </a:r>
            <a:endParaRPr dirty="0"/>
          </a:p>
        </p:txBody>
      </p:sp>
      <p:pic>
        <p:nvPicPr>
          <p:cNvPr id="18" name="Google Shape;425;p26" descr="image.png">
            <a:extLst>
              <a:ext uri="{FF2B5EF4-FFF2-40B4-BE49-F238E27FC236}">
                <a16:creationId xmlns:a16="http://schemas.microsoft.com/office/drawing/2014/main" id="{70C80D48-60F2-43F5-AB62-CD401E5A9B1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152906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426;p26">
            <a:extLst>
              <a:ext uri="{FF2B5EF4-FFF2-40B4-BE49-F238E27FC236}">
                <a16:creationId xmlns:a16="http://schemas.microsoft.com/office/drawing/2014/main" id="{7B58EA84-BFB1-4F20-A441-8C93271061B6}"/>
              </a:ext>
            </a:extLst>
          </p:cNvPr>
          <p:cNvSpPr txBox="1"/>
          <p:nvPr/>
        </p:nvSpPr>
        <p:spPr>
          <a:xfrm>
            <a:off x="7029450" y="1529060"/>
            <a:ext cx="29203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Phase 2: Scale &amp; Extension</a:t>
            </a:r>
            <a:endParaRPr dirty="0"/>
          </a:p>
        </p:txBody>
      </p:sp>
      <p:sp>
        <p:nvSpPr>
          <p:cNvPr id="20" name="Google Shape;427;p26">
            <a:extLst>
              <a:ext uri="{FF2B5EF4-FFF2-40B4-BE49-F238E27FC236}">
                <a16:creationId xmlns:a16="http://schemas.microsoft.com/office/drawing/2014/main" id="{D6B7C43D-D9EB-4D5D-8749-40A1F83D96FC}"/>
              </a:ext>
            </a:extLst>
          </p:cNvPr>
          <p:cNvSpPr txBox="1"/>
          <p:nvPr/>
        </p:nvSpPr>
        <p:spPr>
          <a:xfrm>
            <a:off x="6619875" y="2786360"/>
            <a:ext cx="47625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Phạm vi mở rộng:</a:t>
            </a:r>
            <a:endParaRPr/>
          </a:p>
        </p:txBody>
      </p:sp>
      <p:sp>
        <p:nvSpPr>
          <p:cNvPr id="21" name="Google Shape;428;p26">
            <a:extLst>
              <a:ext uri="{FF2B5EF4-FFF2-40B4-BE49-F238E27FC236}">
                <a16:creationId xmlns:a16="http://schemas.microsoft.com/office/drawing/2014/main" id="{58FE372A-B7CE-40AF-8E37-9FE2712BAFE1}"/>
              </a:ext>
            </a:extLst>
          </p:cNvPr>
          <p:cNvSpPr txBox="1"/>
          <p:nvPr/>
        </p:nvSpPr>
        <p:spPr>
          <a:xfrm>
            <a:off x="6810121" y="5994185"/>
            <a:ext cx="4505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Kết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quả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Kiến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trúc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Plug-in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theo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file type,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dễ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dàng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mở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rộng</a:t>
            </a:r>
            <a:r>
              <a:rPr lang="en-US" sz="1125" b="0" i="0" u="none" strike="noStrike" cap="none" dirty="0">
                <a:solidFill>
                  <a:srgbClr val="334155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dirty="0"/>
          </a:p>
        </p:txBody>
      </p:sp>
      <p:sp>
        <p:nvSpPr>
          <p:cNvPr id="22" name="Google Shape;429;p26">
            <a:extLst>
              <a:ext uri="{FF2B5EF4-FFF2-40B4-BE49-F238E27FC236}">
                <a16:creationId xmlns:a16="http://schemas.microsoft.com/office/drawing/2014/main" id="{6864A06A-14ED-4718-B705-A6814FB83013}"/>
              </a:ext>
            </a:extLst>
          </p:cNvPr>
          <p:cNvSpPr txBox="1"/>
          <p:nvPr/>
        </p:nvSpPr>
        <p:spPr>
          <a:xfrm>
            <a:off x="933450" y="3080682"/>
            <a:ext cx="6667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dirty="0"/>
          </a:p>
        </p:txBody>
      </p:sp>
      <p:sp>
        <p:nvSpPr>
          <p:cNvPr id="23" name="Google Shape;430;p26">
            <a:extLst>
              <a:ext uri="{FF2B5EF4-FFF2-40B4-BE49-F238E27FC236}">
                <a16:creationId xmlns:a16="http://schemas.microsoft.com/office/drawing/2014/main" id="{6E4BA795-92A9-4077-8B5F-FFB8CD7E27C0}"/>
              </a:ext>
            </a:extLst>
          </p:cNvPr>
          <p:cNvSpPr txBox="1"/>
          <p:nvPr/>
        </p:nvSpPr>
        <p:spPr>
          <a:xfrm>
            <a:off x="1000125" y="2986385"/>
            <a:ext cx="4572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Upload, preview, </a:t>
            </a: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approve, 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tracking.</a:t>
            </a:r>
            <a:endParaRPr dirty="0"/>
          </a:p>
        </p:txBody>
      </p:sp>
      <p:sp>
        <p:nvSpPr>
          <p:cNvPr id="24" name="Google Shape;431;p26">
            <a:extLst>
              <a:ext uri="{FF2B5EF4-FFF2-40B4-BE49-F238E27FC236}">
                <a16:creationId xmlns:a16="http://schemas.microsoft.com/office/drawing/2014/main" id="{41DFCD9B-7219-4244-8157-173424FFC21C}"/>
              </a:ext>
            </a:extLst>
          </p:cNvPr>
          <p:cNvSpPr txBox="1"/>
          <p:nvPr/>
        </p:nvSpPr>
        <p:spPr>
          <a:xfrm>
            <a:off x="933450" y="37568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" name="Google Shape;432;p26">
            <a:extLst>
              <a:ext uri="{FF2B5EF4-FFF2-40B4-BE49-F238E27FC236}">
                <a16:creationId xmlns:a16="http://schemas.microsoft.com/office/drawing/2014/main" id="{C57840C6-DE3E-4992-935E-AC5C06A79576}"/>
              </a:ext>
            </a:extLst>
          </p:cNvPr>
          <p:cNvSpPr txBox="1"/>
          <p:nvPr/>
        </p:nvSpPr>
        <p:spPr>
          <a:xfrm>
            <a:off x="1000125" y="3661559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Core Services: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User, Upload, Validation (XML), Ingest.</a:t>
            </a:r>
            <a:endParaRPr dirty="0"/>
          </a:p>
        </p:txBody>
      </p:sp>
      <p:sp>
        <p:nvSpPr>
          <p:cNvPr id="26" name="Google Shape;433;p26">
            <a:extLst>
              <a:ext uri="{FF2B5EF4-FFF2-40B4-BE49-F238E27FC236}">
                <a16:creationId xmlns:a16="http://schemas.microsoft.com/office/drawing/2014/main" id="{24DABF62-D8A6-4C70-A865-105AEE00EBDB}"/>
              </a:ext>
            </a:extLst>
          </p:cNvPr>
          <p:cNvSpPr txBox="1"/>
          <p:nvPr/>
        </p:nvSpPr>
        <p:spPr>
          <a:xfrm>
            <a:off x="933450" y="443293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7" name="Google Shape;434;p26">
            <a:extLst>
              <a:ext uri="{FF2B5EF4-FFF2-40B4-BE49-F238E27FC236}">
                <a16:creationId xmlns:a16="http://schemas.microsoft.com/office/drawing/2014/main" id="{3C0B4318-2C80-4A83-859B-2AAF1014EDA2}"/>
              </a:ext>
            </a:extLst>
          </p:cNvPr>
          <p:cNvSpPr txBox="1"/>
          <p:nvPr/>
        </p:nvSpPr>
        <p:spPr>
          <a:xfrm>
            <a:off x="1000125" y="4328160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Infra: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API Gateway, Kafka,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MinIO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, Postgres.</a:t>
            </a:r>
            <a:endParaRPr dirty="0"/>
          </a:p>
        </p:txBody>
      </p:sp>
      <p:sp>
        <p:nvSpPr>
          <p:cNvPr id="28" name="Google Shape;435;p26">
            <a:extLst>
              <a:ext uri="{FF2B5EF4-FFF2-40B4-BE49-F238E27FC236}">
                <a16:creationId xmlns:a16="http://schemas.microsoft.com/office/drawing/2014/main" id="{02FA04D8-E760-42BE-B6E8-5772D823B5E3}"/>
              </a:ext>
            </a:extLst>
          </p:cNvPr>
          <p:cNvSpPr txBox="1"/>
          <p:nvPr/>
        </p:nvSpPr>
        <p:spPr>
          <a:xfrm>
            <a:off x="933450" y="510906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9" name="Google Shape;436;p26">
            <a:extLst>
              <a:ext uri="{FF2B5EF4-FFF2-40B4-BE49-F238E27FC236}">
                <a16:creationId xmlns:a16="http://schemas.microsoft.com/office/drawing/2014/main" id="{8655DD25-4551-4D29-9F3C-E5D748C516AB}"/>
              </a:ext>
            </a:extLst>
          </p:cNvPr>
          <p:cNvSpPr txBox="1"/>
          <p:nvPr/>
        </p:nvSpPr>
        <p:spPr>
          <a:xfrm>
            <a:off x="1000125" y="5027042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Security: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JWT, RBAC, Audit Logs.</a:t>
            </a:r>
            <a:endParaRPr dirty="0"/>
          </a:p>
        </p:txBody>
      </p:sp>
      <p:pic>
        <p:nvPicPr>
          <p:cNvPr id="30" name="Google Shape;437;p26" descr="image.png">
            <a:extLst>
              <a:ext uri="{FF2B5EF4-FFF2-40B4-BE49-F238E27FC236}">
                <a16:creationId xmlns:a16="http://schemas.microsoft.com/office/drawing/2014/main" id="{273C5C3F-4EBA-4BCF-9EBE-2E20D16B310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609093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438;p26">
            <a:extLst>
              <a:ext uri="{FF2B5EF4-FFF2-40B4-BE49-F238E27FC236}">
                <a16:creationId xmlns:a16="http://schemas.microsoft.com/office/drawing/2014/main" id="{BA7ACDBE-C4A0-4B3F-ADF6-1FB52693EACD}"/>
              </a:ext>
            </a:extLst>
          </p:cNvPr>
          <p:cNvSpPr txBox="1"/>
          <p:nvPr/>
        </p:nvSpPr>
        <p:spPr>
          <a:xfrm>
            <a:off x="6743700" y="3080682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2" name="Google Shape;439;p26">
            <a:extLst>
              <a:ext uri="{FF2B5EF4-FFF2-40B4-BE49-F238E27FC236}">
                <a16:creationId xmlns:a16="http://schemas.microsoft.com/office/drawing/2014/main" id="{51BA1B26-3CA3-4AE8-AE4E-D82CB8670AE6}"/>
              </a:ext>
            </a:extLst>
          </p:cNvPr>
          <p:cNvSpPr txBox="1"/>
          <p:nvPr/>
        </p:nvSpPr>
        <p:spPr>
          <a:xfrm>
            <a:off x="6810121" y="3668893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Multi-file: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Support Excel, CSV.</a:t>
            </a:r>
            <a:endParaRPr dirty="0"/>
          </a:p>
        </p:txBody>
      </p:sp>
      <p:sp>
        <p:nvSpPr>
          <p:cNvPr id="33" name="Google Shape;440;p26">
            <a:extLst>
              <a:ext uri="{FF2B5EF4-FFF2-40B4-BE49-F238E27FC236}">
                <a16:creationId xmlns:a16="http://schemas.microsoft.com/office/drawing/2014/main" id="{241C2B24-CDB4-450B-B9B4-B5A2E914EB55}"/>
              </a:ext>
            </a:extLst>
          </p:cNvPr>
          <p:cNvSpPr txBox="1"/>
          <p:nvPr/>
        </p:nvSpPr>
        <p:spPr>
          <a:xfrm>
            <a:off x="6743700" y="37568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4" name="Google Shape;441;p26">
            <a:extLst>
              <a:ext uri="{FF2B5EF4-FFF2-40B4-BE49-F238E27FC236}">
                <a16:creationId xmlns:a16="http://schemas.microsoft.com/office/drawing/2014/main" id="{D02E1C5A-F9CF-45EC-83BC-072275B043DA}"/>
              </a:ext>
            </a:extLst>
          </p:cNvPr>
          <p:cNvSpPr txBox="1"/>
          <p:nvPr/>
        </p:nvSpPr>
        <p:spPr>
          <a:xfrm>
            <a:off x="6810121" y="4342743"/>
            <a:ext cx="4572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Advanced Logic: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Rule engine, Data Quality rules</a:t>
            </a: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theo dataset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sp>
        <p:nvSpPr>
          <p:cNvPr id="35" name="Google Shape;442;p26">
            <a:extLst>
              <a:ext uri="{FF2B5EF4-FFF2-40B4-BE49-F238E27FC236}">
                <a16:creationId xmlns:a16="http://schemas.microsoft.com/office/drawing/2014/main" id="{086A7F26-25F4-4EE3-8E9F-592E54F61B14}"/>
              </a:ext>
            </a:extLst>
          </p:cNvPr>
          <p:cNvSpPr txBox="1"/>
          <p:nvPr/>
        </p:nvSpPr>
        <p:spPr>
          <a:xfrm>
            <a:off x="6743700" y="443293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7" name="Google Shape;444;p26">
            <a:extLst>
              <a:ext uri="{FF2B5EF4-FFF2-40B4-BE49-F238E27FC236}">
                <a16:creationId xmlns:a16="http://schemas.microsoft.com/office/drawing/2014/main" id="{96C49DDC-2D25-4DF5-A780-2230D579BE61}"/>
              </a:ext>
            </a:extLst>
          </p:cNvPr>
          <p:cNvSpPr txBox="1"/>
          <p:nvPr/>
        </p:nvSpPr>
        <p:spPr>
          <a:xfrm>
            <a:off x="6743700" y="5109061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8" name="Google Shape;445;p26">
            <a:extLst>
              <a:ext uri="{FF2B5EF4-FFF2-40B4-BE49-F238E27FC236}">
                <a16:creationId xmlns:a16="http://schemas.microsoft.com/office/drawing/2014/main" id="{650EAB87-D566-4C1D-B8FD-703B86B30A89}"/>
              </a:ext>
            </a:extLst>
          </p:cNvPr>
          <p:cNvSpPr txBox="1"/>
          <p:nvPr/>
        </p:nvSpPr>
        <p:spPr>
          <a:xfrm>
            <a:off x="6810121" y="5019452"/>
            <a:ext cx="4572000" cy="618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Ops: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Tối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ưu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hiệu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năng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, Retry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cơ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chế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cao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cấp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39" name="Google Shape;446;p26" descr="image.png">
            <a:extLst>
              <a:ext uri="{FF2B5EF4-FFF2-40B4-BE49-F238E27FC236}">
                <a16:creationId xmlns:a16="http://schemas.microsoft.com/office/drawing/2014/main" id="{C5A5B5A5-7B16-4874-826E-C97CEBD9568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0" y="6090939"/>
            <a:ext cx="1047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30;p26">
            <a:extLst>
              <a:ext uri="{FF2B5EF4-FFF2-40B4-BE49-F238E27FC236}">
                <a16:creationId xmlns:a16="http://schemas.microsoft.com/office/drawing/2014/main" id="{46A84A6C-A91E-4573-840B-82F77DBDECFF}"/>
              </a:ext>
            </a:extLst>
          </p:cNvPr>
          <p:cNvSpPr txBox="1"/>
          <p:nvPr/>
        </p:nvSpPr>
        <p:spPr>
          <a:xfrm>
            <a:off x="6810121" y="2996517"/>
            <a:ext cx="4572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Nhóm các chức năng quản trị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6759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7"/>
          <a:stretch/>
        </p:blipFill>
        <p:spPr>
          <a:xfrm>
            <a:off x="0" y="1482480"/>
            <a:ext cx="12186745" cy="3131038"/>
          </a:xfrm>
          <a:prstGeom prst="rect">
            <a:avLst/>
          </a:prstGeom>
        </p:spPr>
      </p:pic>
      <p:sp>
        <p:nvSpPr>
          <p:cNvPr id="4" name="Title Placeholder 7"/>
          <p:cNvSpPr txBox="1">
            <a:spLocks/>
          </p:cNvSpPr>
          <p:nvPr/>
        </p:nvSpPr>
        <p:spPr>
          <a:xfrm>
            <a:off x="576577" y="1762538"/>
            <a:ext cx="4300223" cy="2570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7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cs typeface="Calibri" charset="0"/>
              </a:rPr>
              <a:t>0</a:t>
            </a:r>
            <a:r>
              <a:rPr lang="en-US" sz="27000" b="0">
                <a:solidFill>
                  <a:prstClr val="white"/>
                </a:solidFill>
              </a:rPr>
              <a:t>2</a:t>
            </a:r>
            <a:endParaRPr kumimoji="0" lang="en-US" sz="27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cs typeface="Calibri" charset="0"/>
            </a:endParaRPr>
          </a:p>
        </p:txBody>
      </p:sp>
      <p:sp>
        <p:nvSpPr>
          <p:cNvPr id="5" name="Title Placeholder 7"/>
          <p:cNvSpPr txBox="1">
            <a:spLocks/>
          </p:cNvSpPr>
          <p:nvPr/>
        </p:nvSpPr>
        <p:spPr>
          <a:xfrm>
            <a:off x="4544391" y="2112579"/>
            <a:ext cx="7205649" cy="124022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Application Architecture</a:t>
            </a: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4544391" y="3223743"/>
            <a:ext cx="6977049" cy="1109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300" dirty="0">
                <a:solidFill>
                  <a:srgbClr val="FFB81C"/>
                </a:solidFill>
              </a:rPr>
              <a:t>App Upload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914400" y="682388"/>
            <a:ext cx="3084394" cy="0"/>
          </a:xfrm>
          <a:prstGeom prst="line">
            <a:avLst/>
          </a:prstGeom>
          <a:ln w="165100" cap="rnd">
            <a:solidFill>
              <a:srgbClr val="FFB8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6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06DD-26B0-11DA-368E-FDC1517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768CB4-7F2F-B1A6-8077-E92C8B2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IT Capability Map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115D5-A19F-CF2D-1AC4-78F1B9F8AC15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812;p104">
            <a:extLst>
              <a:ext uri="{FF2B5EF4-FFF2-40B4-BE49-F238E27FC236}">
                <a16:creationId xmlns:a16="http://schemas.microsoft.com/office/drawing/2014/main" id="{FD025D88-C157-A63D-35D0-FFD2706E1394}"/>
              </a:ext>
            </a:extLst>
          </p:cNvPr>
          <p:cNvSpPr txBox="1"/>
          <p:nvPr/>
        </p:nvSpPr>
        <p:spPr>
          <a:xfrm>
            <a:off x="7726645" y="934804"/>
            <a:ext cx="4150967" cy="575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just">
              <a:spcAft>
                <a:spcPts val="600"/>
              </a:spcAft>
            </a:pPr>
            <a:r>
              <a:rPr lang="vi-VN" sz="1400" b="1" dirty="0">
                <a:latin typeface="Calibri"/>
                <a:ea typeface="Calibri"/>
                <a:cs typeface="Calibri"/>
              </a:rPr>
              <a:t>Diễn giải:</a:t>
            </a:r>
          </a:p>
          <a:p>
            <a:pPr marL="285750" indent="-285750" algn="just">
              <a:spcAft>
                <a:spcPts val="600"/>
              </a:spcAft>
              <a:buFont typeface="Wingdings,Sans-Serif" panose="05000000000000000000" pitchFamily="2" charset="2"/>
              <a:buChar char="§"/>
            </a:pPr>
            <a:endParaRPr lang="en-US" sz="1400" dirty="0">
              <a:latin typeface="Calibri"/>
              <a:ea typeface="Calibri"/>
              <a:cs typeface="Calibri"/>
            </a:endParaRPr>
          </a:p>
          <a:p>
            <a:pPr>
              <a:buFont typeface="Arial" panose="05000000000000000000" pitchFamily="2" charset="2"/>
              <a:buChar char="•"/>
            </a:pPr>
            <a:endParaRPr lang="vi-VN" sz="1400" b="1" dirty="0"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9659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A8EC-C92F-6910-F6DC-59DFF72D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A36B359-4CA0-B6D2-7C8D-E61D122A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>
                <a:latin typeface="Times New Roman"/>
                <a:cs typeface="Times New Roman"/>
              </a:rPr>
              <a:t>Application Architecture</a:t>
            </a:r>
            <a:endParaRPr lang="en-AU" sz="320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F263D-42C6-E769-584C-524261EDDA14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812;p104">
            <a:extLst>
              <a:ext uri="{FF2B5EF4-FFF2-40B4-BE49-F238E27FC236}">
                <a16:creationId xmlns:a16="http://schemas.microsoft.com/office/drawing/2014/main" id="{0A14F816-0812-A103-C0B2-8394A0EF6D8D}"/>
              </a:ext>
            </a:extLst>
          </p:cNvPr>
          <p:cNvSpPr txBox="1"/>
          <p:nvPr/>
        </p:nvSpPr>
        <p:spPr>
          <a:xfrm>
            <a:off x="6886575" y="934804"/>
            <a:ext cx="4991037" cy="575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Front-end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Giao diện người dùng tương tác với hệ thống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API Gateway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JWT Auth, Rate Limiting, Routing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Power BI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công cụ cung cấp báo cáo BI, dashboard cho người dùng cuối.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Service Layer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Là lớp service xử lý nghiệp vụ.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Gồm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Upload Mgt Service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service quản lý các dataset, quá trình và nhật ký upload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User Mgt Service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quản lý user và phân quyền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b="1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Validation Service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thực hiện kiểm tra chất lượng dữ liệu theo bộ quy tắc của từng loại file dữ liệu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b="1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Ingestion Service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thực hiện tải dữ liệu đã được kiểm tra và phê duyệt vào DB tập trung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Infrastructure Layer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gồm các dịch vụ hạ tầng lưu trữ và message queue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Object Storage</a:t>
            </a:r>
            <a:r>
              <a:rPr lang="vi-VN" sz="1400" dirty="0">
                <a:latin typeface="Calibri" panose="020F0502020204030204" pitchFamily="34" charset="0"/>
                <a:cs typeface="Calibri" panose="020F0502020204030204" pitchFamily="34" charset="0"/>
              </a:rPr>
              <a:t>: lưu trữ dữ liệu raw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vi-VN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Database Postgres: </a:t>
            </a:r>
            <a:r>
              <a:rPr lang="vi-VN" sz="1400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dùng làm DB cho các service và DB để lưu dữ liệu upload tập trung.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Cache Redis: </a:t>
            </a:r>
            <a:r>
              <a:rPr lang="vi-VN" sz="1400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cache dữ liệu thường xuyên sử dụng, ít thay đổi dùng cho truy cập nhanh và thường xuyên.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vi-VN" sz="1400" b="1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Message Queue: </a:t>
            </a:r>
            <a:r>
              <a:rPr lang="vi-VN" sz="1400" dirty="0">
                <a:latin typeface="Calibri" panose="020F0502020204030204" pitchFamily="34" charset="0"/>
                <a:ea typeface="Calibri Light"/>
                <a:cs typeface="Calibri" panose="020F0502020204030204" pitchFamily="34" charset="0"/>
              </a:rPr>
              <a:t>giao tiếp giữa các service bất đồng bộ</a:t>
            </a:r>
            <a:endParaRPr lang="vi-VN" sz="1400" b="1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</p:txBody>
      </p:sp>
      <p:pic>
        <p:nvPicPr>
          <p:cNvPr id="7" name="Picture 6" descr="C:\Users\vietda2\AppData\Local\Microsoft\Windows\INetCache\Content.MSO\24D780D7.tmp">
            <a:extLst>
              <a:ext uri="{FF2B5EF4-FFF2-40B4-BE49-F238E27FC236}">
                <a16:creationId xmlns:a16="http://schemas.microsoft.com/office/drawing/2014/main" id="{832B45F0-4986-429B-9BAC-EA2B50BD612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859678"/>
            <a:ext cx="5920422" cy="59045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5724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A8EC-C92F-6910-F6DC-59DFF72D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A36B359-4CA0-B6D2-7C8D-E61D122A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Front-end </a:t>
            </a:r>
            <a:r>
              <a:rPr lang="en-AU" dirty="0" err="1">
                <a:latin typeface="Times New Roman"/>
                <a:cs typeface="Times New Roman"/>
              </a:rPr>
              <a:t>và</a:t>
            </a:r>
            <a:r>
              <a:rPr lang="en-AU" dirty="0">
                <a:latin typeface="Times New Roman"/>
                <a:cs typeface="Times New Roman"/>
              </a:rPr>
              <a:t> API Gateway</a:t>
            </a:r>
            <a:endParaRPr lang="en-AU" sz="3200" dirty="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F263D-42C6-E769-584C-524261EDDA14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812;p104">
            <a:extLst>
              <a:ext uri="{FF2B5EF4-FFF2-40B4-BE49-F238E27FC236}">
                <a16:creationId xmlns:a16="http://schemas.microsoft.com/office/drawing/2014/main" id="{0A14F816-0812-A103-C0B2-8394A0EF6D8D}"/>
              </a:ext>
            </a:extLst>
          </p:cNvPr>
          <p:cNvSpPr txBox="1"/>
          <p:nvPr/>
        </p:nvSpPr>
        <p:spPr>
          <a:xfrm>
            <a:off x="7726645" y="934804"/>
            <a:ext cx="4150967" cy="575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sz="1400" b="1" dirty="0">
                <a:latin typeface="Calibri" panose="020F0502020204030204" pitchFamily="34" charset="0"/>
                <a:cs typeface="Calibri" panose="020F0502020204030204" pitchFamily="34" charset="0"/>
              </a:rPr>
              <a:t>..</a:t>
            </a:r>
            <a:endParaRPr lang="en-US" sz="1400" dirty="0">
              <a:latin typeface="Calibri" panose="020F0502020204030204" pitchFamily="34" charset="0"/>
              <a:ea typeface="Calibri Light"/>
              <a:cs typeface="Calibri" panose="020F050202020403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100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A8EC-C92F-6910-F6DC-59DFF72D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A36B359-4CA0-B6D2-7C8D-E61D122A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Back-end Services</a:t>
            </a:r>
            <a:endParaRPr lang="en-AU" sz="3200" dirty="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F263D-42C6-E769-584C-524261EDDA14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3334DE-1273-4E15-BA06-D4A747365458}"/>
              </a:ext>
            </a:extLst>
          </p:cNvPr>
          <p:cNvGrpSpPr/>
          <p:nvPr/>
        </p:nvGrpSpPr>
        <p:grpSpPr>
          <a:xfrm>
            <a:off x="541753" y="1667823"/>
            <a:ext cx="11270427" cy="4434801"/>
            <a:chOff x="541753" y="1963098"/>
            <a:chExt cx="11270427" cy="4434801"/>
          </a:xfrm>
        </p:grpSpPr>
        <p:pic>
          <p:nvPicPr>
            <p:cNvPr id="25" name="Google Shape;95;p14" descr="image.png">
              <a:extLst>
                <a:ext uri="{FF2B5EF4-FFF2-40B4-BE49-F238E27FC236}">
                  <a16:creationId xmlns:a16="http://schemas.microsoft.com/office/drawing/2014/main" id="{2D121E21-FC2E-4F6C-B697-6883BA169B2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97768" y="2407083"/>
              <a:ext cx="3440670" cy="255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812;p104">
              <a:extLst>
                <a:ext uri="{FF2B5EF4-FFF2-40B4-BE49-F238E27FC236}">
                  <a16:creationId xmlns:a16="http://schemas.microsoft.com/office/drawing/2014/main" id="{E1B6FCBD-1765-43E8-B102-BA1BA819DEA5}"/>
                </a:ext>
              </a:extLst>
            </p:cNvPr>
            <p:cNvSpPr txBox="1"/>
            <p:nvPr/>
          </p:nvSpPr>
          <p:spPr>
            <a:xfrm>
              <a:off x="631630" y="3559764"/>
              <a:ext cx="25527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Quản lý metadata upload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Tạo presigned URLs từ MinIO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Xác nhận upload completion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Phê duyệt/từ chối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Download files</a:t>
              </a:r>
            </a:p>
          </p:txBody>
        </p:sp>
        <p:pic>
          <p:nvPicPr>
            <p:cNvPr id="26" name="Google Shape;95;p14" descr="image.png">
              <a:extLst>
                <a:ext uri="{FF2B5EF4-FFF2-40B4-BE49-F238E27FC236}">
                  <a16:creationId xmlns:a16="http://schemas.microsoft.com/office/drawing/2014/main" id="{A6022100-9B03-40D3-B92B-87DFE489F3C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2987406" y="2407084"/>
              <a:ext cx="3440669" cy="255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812;p104">
              <a:extLst>
                <a:ext uri="{FF2B5EF4-FFF2-40B4-BE49-F238E27FC236}">
                  <a16:creationId xmlns:a16="http://schemas.microsoft.com/office/drawing/2014/main" id="{51B0BC40-1FA1-4034-B875-0B7A591C6F46}"/>
                </a:ext>
              </a:extLst>
            </p:cNvPr>
            <p:cNvSpPr txBox="1"/>
            <p:nvPr/>
          </p:nvSpPr>
          <p:spPr>
            <a:xfrm>
              <a:off x="3431391" y="3578499"/>
              <a:ext cx="25527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Xác thực user qua IAM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Quản lý User và phân quyền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Quản lý nhóm quyền</a:t>
              </a:r>
            </a:p>
          </p:txBody>
        </p:sp>
        <p:pic>
          <p:nvPicPr>
            <p:cNvPr id="28" name="Google Shape;95;p14" descr="image.png">
              <a:extLst>
                <a:ext uri="{FF2B5EF4-FFF2-40B4-BE49-F238E27FC236}">
                  <a16:creationId xmlns:a16="http://schemas.microsoft.com/office/drawing/2014/main" id="{564F8F54-87F6-4A5A-845F-154F0BDA492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5911557" y="2407084"/>
              <a:ext cx="3440669" cy="255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812;p104">
              <a:extLst>
                <a:ext uri="{FF2B5EF4-FFF2-40B4-BE49-F238E27FC236}">
                  <a16:creationId xmlns:a16="http://schemas.microsoft.com/office/drawing/2014/main" id="{56DAF3AB-9C65-4E25-9D31-D50309BD2322}"/>
                </a:ext>
              </a:extLst>
            </p:cNvPr>
            <p:cNvSpPr txBox="1"/>
            <p:nvPr/>
          </p:nvSpPr>
          <p:spPr>
            <a:xfrm>
              <a:off x="6345436" y="3532973"/>
              <a:ext cx="25527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Download file từ MinIO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Kiểm tra chất lượng dữ liệu theo bộ quy tắc của từng loại files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Lưu tổng quan và chi tiết kết quả validate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Preview dữ liệu mẫu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endParaRPr lang="vi-VN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4" name="Google Shape;95;p14" descr="image.png">
              <a:extLst>
                <a:ext uri="{FF2B5EF4-FFF2-40B4-BE49-F238E27FC236}">
                  <a16:creationId xmlns:a16="http://schemas.microsoft.com/office/drawing/2014/main" id="{4E590067-2A49-4F29-A650-293A5E1FE29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5400000">
              <a:off x="8815496" y="2407084"/>
              <a:ext cx="3440669" cy="2552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812;p104">
              <a:extLst>
                <a:ext uri="{FF2B5EF4-FFF2-40B4-BE49-F238E27FC236}">
                  <a16:creationId xmlns:a16="http://schemas.microsoft.com/office/drawing/2014/main" id="{5A91BAF0-3B6C-4354-94AB-B224AA7F8DFC}"/>
                </a:ext>
              </a:extLst>
            </p:cNvPr>
            <p:cNvSpPr txBox="1"/>
            <p:nvPr/>
          </p:nvSpPr>
          <p:spPr>
            <a:xfrm>
              <a:off x="9169606" y="3560118"/>
              <a:ext cx="25527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Download validated files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Convert dữ liệu sang csv hoặc parquet (theo định dạng DB đích mong muốn)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Load dữ liệu vào DB tập trung</a:t>
              </a:r>
            </a:p>
            <a:p>
              <a:pPr marL="285750" indent="-285750" algn="just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vi-VN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Mã hóa/giải mã dữ liệu</a:t>
              </a:r>
            </a:p>
          </p:txBody>
        </p:sp>
        <p:sp>
          <p:nvSpPr>
            <p:cNvPr id="40" name="Google Shape;282;p19">
              <a:extLst>
                <a:ext uri="{FF2B5EF4-FFF2-40B4-BE49-F238E27FC236}">
                  <a16:creationId xmlns:a16="http://schemas.microsoft.com/office/drawing/2014/main" id="{6281B651-29D1-442B-8F83-AAFC2D27A49D}"/>
                </a:ext>
              </a:extLst>
            </p:cNvPr>
            <p:cNvSpPr txBox="1"/>
            <p:nvPr/>
          </p:nvSpPr>
          <p:spPr>
            <a:xfrm>
              <a:off x="668543" y="2740108"/>
              <a:ext cx="2275284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0508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Upload Service</a:t>
              </a:r>
              <a:endParaRPr dirty="0"/>
            </a:p>
          </p:txBody>
        </p:sp>
        <p:sp>
          <p:nvSpPr>
            <p:cNvPr id="41" name="Google Shape;283;p19">
              <a:extLst>
                <a:ext uri="{FF2B5EF4-FFF2-40B4-BE49-F238E27FC236}">
                  <a16:creationId xmlns:a16="http://schemas.microsoft.com/office/drawing/2014/main" id="{80DB12CD-9F11-4085-977D-A5A8D4EFC060}"/>
                </a:ext>
              </a:extLst>
            </p:cNvPr>
            <p:cNvSpPr txBox="1"/>
            <p:nvPr/>
          </p:nvSpPr>
          <p:spPr>
            <a:xfrm>
              <a:off x="722717" y="3130633"/>
              <a:ext cx="2166937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A5568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Spring Boot</a:t>
              </a:r>
              <a:endParaRPr dirty="0"/>
            </a:p>
          </p:txBody>
        </p:sp>
        <p:sp>
          <p:nvSpPr>
            <p:cNvPr id="42" name="Google Shape;284;p19">
              <a:extLst>
                <a:ext uri="{FF2B5EF4-FFF2-40B4-BE49-F238E27FC236}">
                  <a16:creationId xmlns:a16="http://schemas.microsoft.com/office/drawing/2014/main" id="{CF730557-A16F-4683-ADEF-D8E05B20E742}"/>
                </a:ext>
              </a:extLst>
            </p:cNvPr>
            <p:cNvSpPr txBox="1"/>
            <p:nvPr/>
          </p:nvSpPr>
          <p:spPr>
            <a:xfrm>
              <a:off x="3502231" y="2740108"/>
              <a:ext cx="2275284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00508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User Service</a:t>
              </a:r>
              <a:endParaRPr/>
            </a:p>
          </p:txBody>
        </p:sp>
        <p:sp>
          <p:nvSpPr>
            <p:cNvPr id="43" name="Google Shape;285;p19">
              <a:extLst>
                <a:ext uri="{FF2B5EF4-FFF2-40B4-BE49-F238E27FC236}">
                  <a16:creationId xmlns:a16="http://schemas.microsoft.com/office/drawing/2014/main" id="{7AF047FC-63D2-463F-8BDC-5F1F5EE90BAD}"/>
                </a:ext>
              </a:extLst>
            </p:cNvPr>
            <p:cNvSpPr txBox="1"/>
            <p:nvPr/>
          </p:nvSpPr>
          <p:spPr>
            <a:xfrm>
              <a:off x="3556404" y="3130633"/>
              <a:ext cx="2166937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>
                  <a:solidFill>
                    <a:srgbClr val="4A5568"/>
                  </a:solidFill>
                  <a:latin typeface="Open Sans"/>
                  <a:ea typeface="Open Sans"/>
                  <a:cs typeface="Open Sans"/>
                  <a:sym typeface="Open Sans"/>
                </a:rPr>
                <a:t>Spring Boot</a:t>
              </a:r>
              <a:endParaRPr dirty="0"/>
            </a:p>
          </p:txBody>
        </p:sp>
        <p:sp>
          <p:nvSpPr>
            <p:cNvPr id="44" name="Google Shape;286;p19">
              <a:extLst>
                <a:ext uri="{FF2B5EF4-FFF2-40B4-BE49-F238E27FC236}">
                  <a16:creationId xmlns:a16="http://schemas.microsoft.com/office/drawing/2014/main" id="{FE9CA1BD-6B76-49E1-9A19-3CA5C0B52ED4}"/>
                </a:ext>
              </a:extLst>
            </p:cNvPr>
            <p:cNvSpPr txBox="1"/>
            <p:nvPr/>
          </p:nvSpPr>
          <p:spPr>
            <a:xfrm>
              <a:off x="6335918" y="2740108"/>
              <a:ext cx="2275284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00508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Validation Service</a:t>
              </a:r>
              <a:endParaRPr/>
            </a:p>
          </p:txBody>
        </p:sp>
        <p:sp>
          <p:nvSpPr>
            <p:cNvPr id="45" name="Google Shape;287;p19">
              <a:extLst>
                <a:ext uri="{FF2B5EF4-FFF2-40B4-BE49-F238E27FC236}">
                  <a16:creationId xmlns:a16="http://schemas.microsoft.com/office/drawing/2014/main" id="{D57019F5-8A02-48A6-B227-17287647AB96}"/>
                </a:ext>
              </a:extLst>
            </p:cNvPr>
            <p:cNvSpPr txBox="1"/>
            <p:nvPr/>
          </p:nvSpPr>
          <p:spPr>
            <a:xfrm>
              <a:off x="6390092" y="3130633"/>
              <a:ext cx="2166937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4A5568"/>
                  </a:solidFill>
                  <a:latin typeface="Open Sans"/>
                  <a:ea typeface="Open Sans"/>
                  <a:cs typeface="Open Sans"/>
                  <a:sym typeface="Open Sans"/>
                </a:rPr>
                <a:t>FastAPI</a:t>
              </a:r>
              <a:endParaRPr dirty="0"/>
            </a:p>
          </p:txBody>
        </p:sp>
        <p:sp>
          <p:nvSpPr>
            <p:cNvPr id="46" name="Google Shape;288;p19">
              <a:extLst>
                <a:ext uri="{FF2B5EF4-FFF2-40B4-BE49-F238E27FC236}">
                  <a16:creationId xmlns:a16="http://schemas.microsoft.com/office/drawing/2014/main" id="{7AECA02D-4F7D-4B72-BBF3-B18F01F8B4A5}"/>
                </a:ext>
              </a:extLst>
            </p:cNvPr>
            <p:cNvSpPr txBox="1"/>
            <p:nvPr/>
          </p:nvSpPr>
          <p:spPr>
            <a:xfrm>
              <a:off x="9169606" y="2740108"/>
              <a:ext cx="2275284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00508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Ingest Service</a:t>
              </a:r>
              <a:endParaRPr dirty="0"/>
            </a:p>
          </p:txBody>
        </p:sp>
        <p:sp>
          <p:nvSpPr>
            <p:cNvPr id="47" name="Google Shape;289;p19">
              <a:extLst>
                <a:ext uri="{FF2B5EF4-FFF2-40B4-BE49-F238E27FC236}">
                  <a16:creationId xmlns:a16="http://schemas.microsoft.com/office/drawing/2014/main" id="{D5F2A8F9-94B8-4AAF-A769-967025D66A72}"/>
                </a:ext>
              </a:extLst>
            </p:cNvPr>
            <p:cNvSpPr txBox="1"/>
            <p:nvPr/>
          </p:nvSpPr>
          <p:spPr>
            <a:xfrm>
              <a:off x="9223779" y="3130633"/>
              <a:ext cx="2166937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 dirty="0" err="1">
                  <a:solidFill>
                    <a:srgbClr val="4A5568"/>
                  </a:solidFill>
                  <a:latin typeface="Open Sans"/>
                  <a:ea typeface="Open Sans"/>
                  <a:cs typeface="Open Sans"/>
                  <a:sym typeface="Open Sans"/>
                </a:rPr>
                <a:t>FastAPI</a:t>
              </a:r>
              <a:endParaRPr dirty="0"/>
            </a:p>
          </p:txBody>
        </p:sp>
        <p:pic>
          <p:nvPicPr>
            <p:cNvPr id="48" name="Google Shape;290;p19" descr="image.png">
              <a:extLst>
                <a:ext uri="{FF2B5EF4-FFF2-40B4-BE49-F238E27FC236}">
                  <a16:creationId xmlns:a16="http://schemas.microsoft.com/office/drawing/2014/main" id="{F0E01927-5C39-46C6-B50D-1AE0D0AEE5F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3310" y="2101933"/>
              <a:ext cx="28575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291;p19" descr="image.png">
              <a:extLst>
                <a:ext uri="{FF2B5EF4-FFF2-40B4-BE49-F238E27FC236}">
                  <a16:creationId xmlns:a16="http://schemas.microsoft.com/office/drawing/2014/main" id="{E55C6B6D-BDA6-4500-8153-030AEEFFD2F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401748" y="2101933"/>
              <a:ext cx="47625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292;p19" descr="image.png">
              <a:extLst>
                <a:ext uri="{FF2B5EF4-FFF2-40B4-BE49-F238E27FC236}">
                  <a16:creationId xmlns:a16="http://schemas.microsoft.com/office/drawing/2014/main" id="{FE87B577-5EF5-41CC-8B5A-A77C332E166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306873" y="2101933"/>
              <a:ext cx="333375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293;p19" descr="image.png">
              <a:extLst>
                <a:ext uri="{FF2B5EF4-FFF2-40B4-BE49-F238E27FC236}">
                  <a16:creationId xmlns:a16="http://schemas.microsoft.com/office/drawing/2014/main" id="{A552667E-9C20-46A0-B8F3-8C7BE8A124F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195315" y="2101933"/>
              <a:ext cx="333375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53749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A8EC-C92F-6910-F6DC-59DFF72D0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A36B359-4CA0-B6D2-7C8D-E61D122AA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Storage layer</a:t>
            </a:r>
            <a:endParaRPr lang="en-AU" sz="3200" dirty="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F263D-42C6-E769-584C-524261EDDA14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oogle Shape;302;p20" descr="image.png">
            <a:extLst>
              <a:ext uri="{FF2B5EF4-FFF2-40B4-BE49-F238E27FC236}">
                <a16:creationId xmlns:a16="http://schemas.microsoft.com/office/drawing/2014/main" id="{857379DE-BC08-499F-A188-A271CBE684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838200"/>
            <a:ext cx="6096000" cy="58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3;p20">
            <a:extLst>
              <a:ext uri="{FF2B5EF4-FFF2-40B4-BE49-F238E27FC236}">
                <a16:creationId xmlns:a16="http://schemas.microsoft.com/office/drawing/2014/main" id="{8F3E4539-A31E-4C63-ACC7-6DC1A3BF8749}"/>
              </a:ext>
            </a:extLst>
          </p:cNvPr>
          <p:cNvSpPr txBox="1"/>
          <p:nvPr/>
        </p:nvSpPr>
        <p:spPr>
          <a:xfrm>
            <a:off x="571500" y="952500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MinIO</a:t>
            </a:r>
            <a:r>
              <a:rPr lang="en-US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(Object Storage)</a:t>
            </a:r>
            <a:endParaRPr dirty="0"/>
          </a:p>
        </p:txBody>
      </p:sp>
      <p:sp>
        <p:nvSpPr>
          <p:cNvPr id="8" name="Google Shape;304;p20">
            <a:extLst>
              <a:ext uri="{FF2B5EF4-FFF2-40B4-BE49-F238E27FC236}">
                <a16:creationId xmlns:a16="http://schemas.microsoft.com/office/drawing/2014/main" id="{424237B8-B274-4EF2-B229-599BF89C5B89}"/>
              </a:ext>
            </a:extLst>
          </p:cNvPr>
          <p:cNvSpPr txBox="1"/>
          <p:nvPr/>
        </p:nvSpPr>
        <p:spPr>
          <a:xfrm>
            <a:off x="571500" y="1357312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Kho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lưu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trữ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file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thô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(Raw Zone),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tương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thích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chuẩn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S3 API.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Sử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dụng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cơ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chế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Presigned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URLs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phép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Client upload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trực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tiếp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giảm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tải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I/O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backend server.</a:t>
            </a:r>
            <a:endParaRPr dirty="0"/>
          </a:p>
        </p:txBody>
      </p:sp>
      <p:sp>
        <p:nvSpPr>
          <p:cNvPr id="9" name="Google Shape;305;p20">
            <a:extLst>
              <a:ext uri="{FF2B5EF4-FFF2-40B4-BE49-F238E27FC236}">
                <a16:creationId xmlns:a16="http://schemas.microsoft.com/office/drawing/2014/main" id="{071E0324-B4A0-4B56-92F5-5B8FE3B0C774}"/>
              </a:ext>
            </a:extLst>
          </p:cNvPr>
          <p:cNvSpPr txBox="1"/>
          <p:nvPr/>
        </p:nvSpPr>
        <p:spPr>
          <a:xfrm>
            <a:off x="571500" y="2527845"/>
            <a:ext cx="5200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Database Cluster</a:t>
            </a:r>
            <a:r>
              <a:rPr lang="vi-VN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Postgres</a:t>
            </a:r>
            <a:endParaRPr dirty="0"/>
          </a:p>
        </p:txBody>
      </p:sp>
      <p:sp>
        <p:nvSpPr>
          <p:cNvPr id="10" name="Google Shape;306;p20">
            <a:extLst>
              <a:ext uri="{FF2B5EF4-FFF2-40B4-BE49-F238E27FC236}">
                <a16:creationId xmlns:a16="http://schemas.microsoft.com/office/drawing/2014/main" id="{F46BD97E-406F-4D4C-B3EA-2B6DB168237B}"/>
              </a:ext>
            </a:extLst>
          </p:cNvPr>
          <p:cNvSpPr txBox="1"/>
          <p:nvPr/>
        </p:nvSpPr>
        <p:spPr>
          <a:xfrm>
            <a:off x="571500" y="2889795"/>
            <a:ext cx="495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Sử dụng 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PostgreSQL </a:t>
            </a: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làm DB cho từng services và target DB lưu dữ liệu upload</a:t>
            </a:r>
            <a:endParaRPr dirty="0"/>
          </a:p>
        </p:txBody>
      </p:sp>
      <p:sp>
        <p:nvSpPr>
          <p:cNvPr id="11" name="Google Shape;307;p20">
            <a:extLst>
              <a:ext uri="{FF2B5EF4-FFF2-40B4-BE49-F238E27FC236}">
                <a16:creationId xmlns:a16="http://schemas.microsoft.com/office/drawing/2014/main" id="{32BAB44F-192E-4995-AAEA-F1F4CDB877BF}"/>
              </a:ext>
            </a:extLst>
          </p:cNvPr>
          <p:cNvSpPr txBox="1"/>
          <p:nvPr/>
        </p:nvSpPr>
        <p:spPr>
          <a:xfrm>
            <a:off x="571500" y="3719354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Apache Kafka (Message Queue)</a:t>
            </a:r>
            <a:endParaRPr dirty="0"/>
          </a:p>
        </p:txBody>
      </p:sp>
      <p:sp>
        <p:nvSpPr>
          <p:cNvPr id="13" name="Google Shape;308;p20">
            <a:extLst>
              <a:ext uri="{FF2B5EF4-FFF2-40B4-BE49-F238E27FC236}">
                <a16:creationId xmlns:a16="http://schemas.microsoft.com/office/drawing/2014/main" id="{70004BCC-9ACF-462D-B62A-44A58B62862F}"/>
              </a:ext>
            </a:extLst>
          </p:cNvPr>
          <p:cNvSpPr txBox="1"/>
          <p:nvPr/>
        </p:nvSpPr>
        <p:spPr>
          <a:xfrm>
            <a:off x="571500" y="4113489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Trục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xương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sống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cho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kiến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trúc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Event-Driven.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Đảm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bảo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tính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toàn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vẹn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dữ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liệu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, decoupling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giữa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các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 service (Upload -&gt; Validate -&gt; Ingest).</a:t>
            </a:r>
            <a:endParaRPr dirty="0"/>
          </a:p>
        </p:txBody>
      </p:sp>
      <p:sp>
        <p:nvSpPr>
          <p:cNvPr id="14" name="Google Shape;307;p20">
            <a:extLst>
              <a:ext uri="{FF2B5EF4-FFF2-40B4-BE49-F238E27FC236}">
                <a16:creationId xmlns:a16="http://schemas.microsoft.com/office/drawing/2014/main" id="{8CEB3CD9-80FD-4F5A-A751-759A55E52FC3}"/>
              </a:ext>
            </a:extLst>
          </p:cNvPr>
          <p:cNvSpPr txBox="1"/>
          <p:nvPr/>
        </p:nvSpPr>
        <p:spPr>
          <a:xfrm>
            <a:off x="571500" y="5233988"/>
            <a:ext cx="5200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800" b="0" i="0" u="none" strike="noStrike" cap="none" dirty="0">
                <a:solidFill>
                  <a:srgbClr val="00508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Redis Cache</a:t>
            </a:r>
            <a:endParaRPr dirty="0"/>
          </a:p>
        </p:txBody>
      </p:sp>
      <p:sp>
        <p:nvSpPr>
          <p:cNvPr id="15" name="Google Shape;308;p20">
            <a:extLst>
              <a:ext uri="{FF2B5EF4-FFF2-40B4-BE49-F238E27FC236}">
                <a16:creationId xmlns:a16="http://schemas.microsoft.com/office/drawing/2014/main" id="{2082AADC-BD35-4AED-A3BF-B1CBFD453BD2}"/>
              </a:ext>
            </a:extLst>
          </p:cNvPr>
          <p:cNvSpPr txBox="1"/>
          <p:nvPr/>
        </p:nvSpPr>
        <p:spPr>
          <a:xfrm>
            <a:off x="575081" y="5589864"/>
            <a:ext cx="495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350" b="0" i="0" u="none" strike="noStrike" cap="none" dirty="0">
                <a:solidFill>
                  <a:srgbClr val="4A5568"/>
                </a:solidFill>
                <a:latin typeface="Open Sans"/>
                <a:ea typeface="Open Sans"/>
                <a:cs typeface="Open Sans"/>
                <a:sym typeface="Open Sans"/>
              </a:rPr>
              <a:t>Sử dụng làm cache layer và Celery backend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2894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06DD-26B0-11DA-368E-FDC1517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768CB4-7F2F-B1A6-8077-E92C8B2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>
                <a:latin typeface="Times New Roman"/>
                <a:cs typeface="Times New Roman"/>
              </a:rPr>
              <a:t>Integration Architecture</a:t>
            </a:r>
            <a:endParaRPr lang="en-AU" sz="320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115D5-A19F-CF2D-1AC4-78F1B9F8AC15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812;p104">
            <a:extLst>
              <a:ext uri="{FF2B5EF4-FFF2-40B4-BE49-F238E27FC236}">
                <a16:creationId xmlns:a16="http://schemas.microsoft.com/office/drawing/2014/main" id="{FD025D88-C157-A63D-35D0-FFD2706E1394}"/>
              </a:ext>
            </a:extLst>
          </p:cNvPr>
          <p:cNvSpPr txBox="1"/>
          <p:nvPr/>
        </p:nvSpPr>
        <p:spPr>
          <a:xfrm>
            <a:off x="7726645" y="934804"/>
            <a:ext cx="4150967" cy="575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742950" lvl="1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1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8" name="Picture 7" descr="C:\Users\vietda2\AppData\Local\Microsoft\Windows\INetCache\Content.MSO\FBB5460C.tmp">
            <a:extLst>
              <a:ext uri="{FF2B5EF4-FFF2-40B4-BE49-F238E27FC236}">
                <a16:creationId xmlns:a16="http://schemas.microsoft.com/office/drawing/2014/main" id="{7AC2D6E9-6E80-4097-B10E-BDDB1E010EA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56" y="1020444"/>
            <a:ext cx="6863944" cy="49631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488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06DD-26B0-11DA-368E-FDC1517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768CB4-7F2F-B1A6-8077-E92C8B2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Sequence </a:t>
            </a:r>
            <a:r>
              <a:rPr lang="en-AU" dirty="0" err="1">
                <a:latin typeface="Times New Roman"/>
                <a:cs typeface="Times New Roman"/>
              </a:rPr>
              <a:t>digram</a:t>
            </a:r>
            <a:r>
              <a:rPr lang="en-AU" dirty="0">
                <a:latin typeface="Times New Roman"/>
                <a:cs typeface="Times New Roman"/>
              </a:rPr>
              <a:t> – </a:t>
            </a:r>
            <a:r>
              <a:rPr lang="en-AU" dirty="0" err="1">
                <a:latin typeface="Times New Roman"/>
                <a:cs typeface="Times New Roman"/>
              </a:rPr>
              <a:t>luồng</a:t>
            </a:r>
            <a:r>
              <a:rPr lang="en-AU" dirty="0">
                <a:latin typeface="Times New Roman"/>
                <a:cs typeface="Times New Roman"/>
              </a:rPr>
              <a:t> upload files</a:t>
            </a:r>
            <a:endParaRPr lang="en-AU" sz="3200" dirty="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115D5-A19F-CF2D-1AC4-78F1B9F8AC15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:\Users\vietda2\AppData\Local\Microsoft\Windows\INetCache\Content.MSO\44B2B7FD.tmp">
            <a:extLst>
              <a:ext uri="{FF2B5EF4-FFF2-40B4-BE49-F238E27FC236}">
                <a16:creationId xmlns:a16="http://schemas.microsoft.com/office/drawing/2014/main" id="{956334E3-2103-4CAE-81A0-40FF06674DD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84" y="769257"/>
            <a:ext cx="10292944" cy="5982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22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06DD-26B0-11DA-368E-FDC1517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768CB4-7F2F-B1A6-8077-E92C8B2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Sequence diagram – </a:t>
            </a:r>
            <a:r>
              <a:rPr lang="en-AU" dirty="0" err="1">
                <a:latin typeface="Times New Roman"/>
                <a:cs typeface="Times New Roman"/>
              </a:rPr>
              <a:t>luồng</a:t>
            </a:r>
            <a:r>
              <a:rPr lang="en-AU" dirty="0">
                <a:latin typeface="Times New Roman"/>
                <a:cs typeface="Times New Roman"/>
              </a:rPr>
              <a:t> d</a:t>
            </a:r>
            <a:r>
              <a:rPr lang="en-US" dirty="0" err="1">
                <a:latin typeface="Times New Roman"/>
                <a:cs typeface="Times New Roman"/>
              </a:rPr>
              <a:t>ownload</a:t>
            </a:r>
            <a:r>
              <a:rPr lang="en-US" dirty="0">
                <a:latin typeface="Times New Roman"/>
                <a:cs typeface="Times New Roman"/>
              </a:rPr>
              <a:t> files</a:t>
            </a:r>
            <a:endParaRPr lang="en-AU" sz="3200" dirty="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115D5-A19F-CF2D-1AC4-78F1B9F8AC15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5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06DD-26B0-11DA-368E-FDC15174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C768CB4-7F2F-B1A6-8077-E92C8B2F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>
                <a:latin typeface="Times New Roman"/>
                <a:cs typeface="Times New Roman"/>
              </a:rPr>
              <a:t>Deployment Architecture</a:t>
            </a:r>
            <a:endParaRPr lang="en-AU" sz="3200">
              <a:solidFill>
                <a:schemeClr val="accent5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D115D5-A19F-CF2D-1AC4-78F1B9F8AC15}"/>
              </a:ext>
            </a:extLst>
          </p:cNvPr>
          <p:cNvSpPr/>
          <p:nvPr/>
        </p:nvSpPr>
        <p:spPr>
          <a:xfrm>
            <a:off x="527456" y="723538"/>
            <a:ext cx="1135015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:\Users\vietda2\AppData\Local\Microsoft\Windows\INetCache\Content.MSO\B690F3FA.tmp">
            <a:extLst>
              <a:ext uri="{FF2B5EF4-FFF2-40B4-BE49-F238E27FC236}">
                <a16:creationId xmlns:a16="http://schemas.microsoft.com/office/drawing/2014/main" id="{51470AC5-1730-4C92-B3F9-BC68FA12443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456" y="1121319"/>
            <a:ext cx="6292444" cy="46432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E3451C-2208-4D42-AE01-A900FF0A9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671431"/>
              </p:ext>
            </p:extLst>
          </p:nvPr>
        </p:nvGraphicFramePr>
        <p:xfrm>
          <a:off x="6962775" y="1010094"/>
          <a:ext cx="4914836" cy="54091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7956">
                  <a:extLst>
                    <a:ext uri="{9D8B030D-6E8A-4147-A177-3AD203B41FA5}">
                      <a16:colId xmlns:a16="http://schemas.microsoft.com/office/drawing/2014/main" val="714370535"/>
                    </a:ext>
                  </a:extLst>
                </a:gridCol>
                <a:gridCol w="1037956">
                  <a:extLst>
                    <a:ext uri="{9D8B030D-6E8A-4147-A177-3AD203B41FA5}">
                      <a16:colId xmlns:a16="http://schemas.microsoft.com/office/drawing/2014/main" val="1183666459"/>
                    </a:ext>
                  </a:extLst>
                </a:gridCol>
                <a:gridCol w="1037956">
                  <a:extLst>
                    <a:ext uri="{9D8B030D-6E8A-4147-A177-3AD203B41FA5}">
                      <a16:colId xmlns:a16="http://schemas.microsoft.com/office/drawing/2014/main" val="452407919"/>
                    </a:ext>
                  </a:extLst>
                </a:gridCol>
                <a:gridCol w="1800968">
                  <a:extLst>
                    <a:ext uri="{9D8B030D-6E8A-4147-A177-3AD203B41FA5}">
                      <a16:colId xmlns:a16="http://schemas.microsoft.com/office/drawing/2014/main" val="2540653315"/>
                    </a:ext>
                  </a:extLst>
                </a:gridCol>
              </a:tblGrid>
              <a:tr h="115883">
                <a:tc>
                  <a:txBody>
                    <a:bodyPr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Service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Port(s)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Description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Deployments &amp; Pods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1496393721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Frontend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3000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React UI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Image: frontend:latest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2 (HPA)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Resources: 256Mi/500m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Health: /health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377071187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Kong Gateway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8000, 8001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API Gateway &amp; Admin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Image: kong:3.4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Resources: 512Mi/1000m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Plugins: JWT, Rate Limit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1472116290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Upload Management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8080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Java Spring Boot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• Image: </a:t>
                      </a:r>
                      <a:r>
                        <a:rPr lang="en-US" sz="600" dirty="0" err="1">
                          <a:effectLst/>
                        </a:rPr>
                        <a:t>upload-service:latest</a:t>
                      </a:r>
                      <a:endParaRPr lang="en-US" sz="600" dirty="0">
                        <a:effectLst/>
                      </a:endParaRP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• Replicas: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• Resources: 1Gi/1000m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• JVM: -Xmx768m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1984185674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User Management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8081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Java Spring Boot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Image: user-service:latest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Resources: 1Gi/1000m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JVM: -Xmx768m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573843031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Validation Service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8002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Python </a:t>
                      </a:r>
                      <a:r>
                        <a:rPr lang="en-US" sz="600" dirty="0" err="1">
                          <a:effectLst/>
                        </a:rPr>
                        <a:t>FastAPI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Image: validation-service:latest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Resources: 512Mi/500m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Workers: 3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4005400371"/>
                  </a:ext>
                </a:extLst>
              </a:tr>
              <a:tr h="47365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Ingest Service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8003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Python FastAPI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Image: ingest-service:latest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Resources: 1Gi/1000m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Celery Workers: 3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28254996"/>
                  </a:ext>
                </a:extLst>
              </a:tr>
              <a:tr h="592909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MinIO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9000, 9001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Object Storage &amp; Console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MinIO StatefulSet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4 (distributed)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PVC: 100Gi per pod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Storage Class: 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Access Mode: ReadWriteOnce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1187580094"/>
                  </a:ext>
                </a:extLst>
              </a:tr>
              <a:tr h="712165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PostgreSQL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5432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Main Database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PostgreSQL StatefulSet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Replicas: 3 (HA cluster)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PVC: 50Gi per pod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Storage Class: 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Patroni for HA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DB per service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903163541"/>
                  </a:ext>
                </a:extLst>
              </a:tr>
              <a:tr h="831422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Kafka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9092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Message Broker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Kafka bankwide. 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Topics: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upload.completed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validation.completed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ingestion.completed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• partitions: 2</a:t>
                      </a:r>
                    </a:p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 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2114417115"/>
                  </a:ext>
                </a:extLst>
              </a:tr>
              <a:tr h="115883"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Redis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6379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>
                          <a:effectLst/>
                        </a:rPr>
                        <a:t>Cache</a:t>
                      </a:r>
                      <a:endParaRPr lang="en-US" sz="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5000"/>
                        </a:lnSpc>
                        <a:spcAft>
                          <a:spcPts val="0"/>
                        </a:spcAft>
                      </a:pPr>
                      <a:r>
                        <a:rPr lang="en-US" sz="600" dirty="0">
                          <a:effectLst/>
                        </a:rPr>
                        <a:t>Redis </a:t>
                      </a:r>
                      <a:r>
                        <a:rPr lang="en-US" sz="600" dirty="0" err="1">
                          <a:effectLst/>
                        </a:rPr>
                        <a:t>tập</a:t>
                      </a:r>
                      <a:r>
                        <a:rPr lang="en-US" sz="600" dirty="0">
                          <a:effectLst/>
                        </a:rPr>
                        <a:t> </a:t>
                      </a:r>
                      <a:r>
                        <a:rPr lang="en-US" sz="600" dirty="0" err="1">
                          <a:effectLst/>
                        </a:rPr>
                        <a:t>trung</a:t>
                      </a:r>
                      <a:endParaRPr lang="en-US" sz="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01" marR="4601" marT="4601" marB="4601"/>
                </a:tc>
                <a:extLst>
                  <a:ext uri="{0D108BD9-81ED-4DB2-BD59-A6C34878D82A}">
                    <a16:rowId xmlns:a16="http://schemas.microsoft.com/office/drawing/2014/main" val="3273691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221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26CF-FC28-6FA9-274E-E1AA4E9D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6D5A94C-FF9A-FFD0-9FB1-03FA18DD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dirty="0">
                <a:latin typeface="Times New Roman"/>
                <a:cs typeface="Times New Roman"/>
              </a:rPr>
              <a:t>Tech stack</a:t>
            </a: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35AE87-3495-5464-DDBD-61E806C91216}"/>
              </a:ext>
            </a:extLst>
          </p:cNvPr>
          <p:cNvSpPr/>
          <p:nvPr/>
        </p:nvSpPr>
        <p:spPr>
          <a:xfrm>
            <a:off x="527456" y="723538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62182-F8EA-BDCA-64D7-3493995A8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701261"/>
              </p:ext>
            </p:extLst>
          </p:nvPr>
        </p:nvGraphicFramePr>
        <p:xfrm>
          <a:off x="571499" y="1278383"/>
          <a:ext cx="11049000" cy="424317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23069">
                  <a:extLst>
                    <a:ext uri="{9D8B030D-6E8A-4147-A177-3AD203B41FA5}">
                      <a16:colId xmlns:a16="http://schemas.microsoft.com/office/drawing/2014/main" val="1147448285"/>
                    </a:ext>
                  </a:extLst>
                </a:gridCol>
                <a:gridCol w="2258004">
                  <a:extLst>
                    <a:ext uri="{9D8B030D-6E8A-4147-A177-3AD203B41FA5}">
                      <a16:colId xmlns:a16="http://schemas.microsoft.com/office/drawing/2014/main" val="3234409639"/>
                    </a:ext>
                  </a:extLst>
                </a:gridCol>
                <a:gridCol w="8067927">
                  <a:extLst>
                    <a:ext uri="{9D8B030D-6E8A-4147-A177-3AD203B41FA5}">
                      <a16:colId xmlns:a16="http://schemas.microsoft.com/office/drawing/2014/main" val="495585687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No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vi-VN" sz="1400" kern="1200" dirty="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Service Component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vi-VN" sz="1400" kern="1200" dirty="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Tech stack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140344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Frontend UI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3210" indent="-283210" rtl="0" fontAlgn="base">
                        <a:buClrTx/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React Single Page Application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7043543"/>
                  </a:ext>
                </a:extLst>
              </a:tr>
              <a:tr h="503029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API Gateway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vi-VN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Kong Gateway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6108770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3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Upload Mgt Service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Java Spring Boot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7260139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4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User Mgt Service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Java Spring Boot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1861515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5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Validation Service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Python FastAPI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389614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6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Ingestion Sevice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Python FastAPI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69496574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7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Object Storae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MinIO S3 Compatible Object Storage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19221589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8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Database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Postgres DB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848428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9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Message Queue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Kafka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5639401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10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Cache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vi-VN" sz="1400" dirty="0">
                          <a:effectLst/>
                          <a:latin typeface="Calibri (Body)"/>
                        </a:rPr>
                        <a:t>Redis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96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328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0C676-FA49-5962-B81B-DD9DC734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46C0DA1-DF4A-4025-8B97-C2633998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 err="1">
                <a:latin typeface="+mn-lt"/>
                <a:cs typeface="Times New Roman" panose="02020603050405020304" pitchFamily="18" charset="0"/>
              </a:rPr>
              <a:t>Mô</a:t>
            </a:r>
            <a:r>
              <a:rPr lang="en-AU">
                <a:latin typeface="+mn-lt"/>
                <a:cs typeface="Times New Roman" panose="02020603050405020304" pitchFamily="18" charset="0"/>
              </a:rPr>
              <a:t> </a:t>
            </a:r>
            <a:r>
              <a:rPr lang="en-AU" err="1">
                <a:latin typeface="+mn-lt"/>
                <a:cs typeface="Times New Roman" panose="02020603050405020304" pitchFamily="18" charset="0"/>
              </a:rPr>
              <a:t>tả</a:t>
            </a:r>
            <a:r>
              <a:rPr lang="en-AU">
                <a:latin typeface="+mn-lt"/>
                <a:cs typeface="Times New Roman" panose="02020603050405020304" pitchFamily="18" charset="0"/>
              </a:rPr>
              <a:t> </a:t>
            </a:r>
            <a:r>
              <a:rPr lang="en-AU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AU">
                <a:latin typeface="+mn-lt"/>
                <a:cs typeface="Times New Roman" panose="02020603050405020304" pitchFamily="18" charset="0"/>
              </a:rPr>
              <a:t> </a:t>
            </a:r>
            <a:r>
              <a:rPr lang="en-AU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AU">
                <a:latin typeface="+mn-lt"/>
                <a:cs typeface="Times New Roman" panose="02020603050405020304" pitchFamily="18" charset="0"/>
              </a:rPr>
              <a:t> </a:t>
            </a:r>
            <a:r>
              <a:rPr lang="en-AU" err="1">
                <a:latin typeface="+mn-lt"/>
                <a:cs typeface="Times New Roman" panose="02020603050405020304" pitchFamily="18" charset="0"/>
              </a:rPr>
              <a:t>hệ</a:t>
            </a:r>
            <a:r>
              <a:rPr lang="en-AU">
                <a:latin typeface="+mn-lt"/>
                <a:cs typeface="Times New Roman" panose="02020603050405020304" pitchFamily="18" charset="0"/>
              </a:rPr>
              <a:t> </a:t>
            </a:r>
            <a:r>
              <a:rPr lang="en-AU" err="1">
                <a:latin typeface="+mn-lt"/>
                <a:cs typeface="Times New Roman" panose="02020603050405020304" pitchFamily="18" charset="0"/>
              </a:rPr>
              <a:t>thống</a:t>
            </a:r>
            <a:endParaRPr lang="en-AU" sz="3200">
              <a:solidFill>
                <a:schemeClr val="accent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BE22BA-E982-3AEE-47C5-1B473A34819E}"/>
              </a:ext>
            </a:extLst>
          </p:cNvPr>
          <p:cNvSpPr/>
          <p:nvPr/>
        </p:nvSpPr>
        <p:spPr>
          <a:xfrm>
            <a:off x="527456" y="723538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494ED54B-EA6A-AF10-93AF-DC52F2500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04050"/>
              </p:ext>
            </p:extLst>
          </p:nvPr>
        </p:nvGraphicFramePr>
        <p:xfrm>
          <a:off x="527456" y="1142432"/>
          <a:ext cx="1076959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514">
                  <a:extLst>
                    <a:ext uri="{9D8B030D-6E8A-4147-A177-3AD203B41FA5}">
                      <a16:colId xmlns:a16="http://schemas.microsoft.com/office/drawing/2014/main" val="3458938680"/>
                    </a:ext>
                  </a:extLst>
                </a:gridCol>
                <a:gridCol w="2591755">
                  <a:extLst>
                    <a:ext uri="{9D8B030D-6E8A-4147-A177-3AD203B41FA5}">
                      <a16:colId xmlns:a16="http://schemas.microsoft.com/office/drawing/2014/main" val="1608458283"/>
                    </a:ext>
                  </a:extLst>
                </a:gridCol>
                <a:gridCol w="1629953">
                  <a:extLst>
                    <a:ext uri="{9D8B030D-6E8A-4147-A177-3AD203B41FA5}">
                      <a16:colId xmlns:a16="http://schemas.microsoft.com/office/drawing/2014/main" val="6265326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4830036"/>
                    </a:ext>
                  </a:extLst>
                </a:gridCol>
                <a:gridCol w="1724068">
                  <a:extLst>
                    <a:ext uri="{9D8B030D-6E8A-4147-A177-3AD203B41FA5}">
                      <a16:colId xmlns:a16="http://schemas.microsoft.com/office/drawing/2014/main" val="2883255219"/>
                    </a:ext>
                  </a:extLst>
                </a:gridCol>
                <a:gridCol w="1538514">
                  <a:extLst>
                    <a:ext uri="{9D8B030D-6E8A-4147-A177-3AD203B41FA5}">
                      <a16:colId xmlns:a16="http://schemas.microsoft.com/office/drawing/2014/main" val="2476655119"/>
                    </a:ext>
                  </a:extLst>
                </a:gridCol>
                <a:gridCol w="1538514">
                  <a:extLst>
                    <a:ext uri="{9D8B030D-6E8A-4147-A177-3AD203B41FA5}">
                      <a16:colId xmlns:a16="http://schemas.microsoft.com/office/drawing/2014/main" val="3239915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System Profile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Sub-Item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46264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dirty="0"/>
                        <a:t>App Upload System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dirty="0"/>
                        <a:t>Front-end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ym typeface="Wingdings 2" panose="05020102010507070707" pitchFamily="18" charset="2"/>
                        </a:rPr>
                        <a:t></a:t>
                      </a:r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2222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ym typeface="Wingdings 2" panose="05020102010507070707" pitchFamily="18" charset="2"/>
                        </a:rPr>
                        <a:t></a:t>
                      </a:r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1398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>
                          <a:sym typeface="Wingdings 2" panose="05020102010507070707" pitchFamily="18" charset="2"/>
                        </a:rPr>
                        <a:t></a:t>
                      </a:r>
                      <a:endParaRPr lang="en-US" b="1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031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Gateway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79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Management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9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Upload Management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803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Validation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882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Ingestion 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91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015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26CF-FC28-6FA9-274E-E1AA4E9D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6D5A94C-FF9A-FFD0-9FB1-03FA18DD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56" y="152400"/>
            <a:ext cx="10769600" cy="616857"/>
          </a:xfrm>
          <a:ln>
            <a:noFill/>
          </a:ln>
        </p:spPr>
        <p:txBody>
          <a:bodyPr>
            <a:normAutofit fontScale="90000"/>
          </a:bodyPr>
          <a:lstStyle/>
          <a:p>
            <a:pPr>
              <a:tabLst>
                <a:tab pos="228600" algn="l"/>
              </a:tabLst>
            </a:pPr>
            <a:r>
              <a:rPr lang="en-AU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35AE87-3495-5464-DDBD-61E806C91216}"/>
              </a:ext>
            </a:extLst>
          </p:cNvPr>
          <p:cNvSpPr/>
          <p:nvPr/>
        </p:nvSpPr>
        <p:spPr>
          <a:xfrm>
            <a:off x="527456" y="723538"/>
            <a:ext cx="1049271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62182-F8EA-BDCA-64D7-3493995A8E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1499" y="1278383"/>
          <a:ext cx="11049000" cy="242182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23069">
                  <a:extLst>
                    <a:ext uri="{9D8B030D-6E8A-4147-A177-3AD203B41FA5}">
                      <a16:colId xmlns:a16="http://schemas.microsoft.com/office/drawing/2014/main" val="1147448285"/>
                    </a:ext>
                  </a:extLst>
                </a:gridCol>
                <a:gridCol w="2258004">
                  <a:extLst>
                    <a:ext uri="{9D8B030D-6E8A-4147-A177-3AD203B41FA5}">
                      <a16:colId xmlns:a16="http://schemas.microsoft.com/office/drawing/2014/main" val="3234409639"/>
                    </a:ext>
                  </a:extLst>
                </a:gridCol>
                <a:gridCol w="8067927">
                  <a:extLst>
                    <a:ext uri="{9D8B030D-6E8A-4147-A177-3AD203B41FA5}">
                      <a16:colId xmlns:a16="http://schemas.microsoft.com/office/drawing/2014/main" val="495585687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No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400" kern="1200" dirty="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Domain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FFFFFF"/>
                          </a:solidFill>
                          <a:effectLst/>
                          <a:latin typeface="Calibri (Body)"/>
                        </a:rPr>
                        <a:t>Description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1403446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System classification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3210" indent="-283210" rtl="0" fontAlgn="base">
                        <a:buClrTx/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Hệ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thống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cấp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2, </a:t>
                      </a: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phục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vụ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ng</a:t>
                      </a:r>
                      <a:r>
                        <a:rPr lang="vi-VN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ư</a:t>
                      </a:r>
                      <a:r>
                        <a:rPr lang="en-US" sz="1400" kern="120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ời</a:t>
                      </a:r>
                      <a:r>
                        <a:rPr lang="en-US" sz="1400" kern="12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dung 8/5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7043543"/>
                  </a:ext>
                </a:extLst>
              </a:tr>
              <a:tr h="503029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Access Control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vi-VN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JWT Authentication: User Service cấp Access (24h) &amp; Refresh Token (7 ngày).</a:t>
                      </a: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vi-VN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Kong Gateway: Validate signature JWT trước khi request vào backend.</a:t>
                      </a: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vi-VN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RBAC: Phân quyền chi tiết (User, Dept Manager, Admin).</a:t>
                      </a: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  <a:p>
                      <a:pPr marL="285750" marR="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6108770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3</a:t>
                      </a:r>
                      <a:endParaRPr lang="en-US" sz="140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Data Security</a:t>
                      </a: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Mã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hoá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tr</a:t>
                      </a:r>
                      <a:r>
                        <a:rPr lang="vi-VN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ư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ờng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dữ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liệu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nhạy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cảm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theo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cấu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hình</a:t>
                      </a: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  <a:p>
                      <a:pPr marL="285750" marR="0" indent="-285750" algn="l" rtl="0" eaLnBrk="1" fontAlgn="auto" latinLnBrk="0" hangingPunct="1">
                        <a:buClr>
                          <a:srgbClr val="000000"/>
                        </a:buClr>
                        <a:buSzPts val="1400"/>
                        <a:buFont typeface="Arial" panose="05000000000000000000" pitchFamily="2" charset="2"/>
                        <a:buChar char="•"/>
                      </a:pPr>
                      <a:endParaRPr lang="en-US" sz="1400" dirty="0">
                        <a:effectLst/>
                        <a:latin typeface="Calibri (Body)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726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258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 txBox="1">
            <a:spLocks/>
          </p:cNvSpPr>
          <p:nvPr/>
        </p:nvSpPr>
        <p:spPr>
          <a:xfrm>
            <a:off x="673100" y="2650210"/>
            <a:ext cx="10515600" cy="18994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Appendix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673100" y="6219825"/>
            <a:ext cx="10515600" cy="398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cs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834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7"/>
          <p:cNvSpPr txBox="1">
            <a:spLocks/>
          </p:cNvSpPr>
          <p:nvPr/>
        </p:nvSpPr>
        <p:spPr>
          <a:xfrm>
            <a:off x="673100" y="2650210"/>
            <a:ext cx="10515600" cy="18994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Calibri" charset="0"/>
                <a:cs typeface="Calibri" charset="0"/>
              </a:rPr>
              <a:t>Thank You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" name="Title Placeholder 7"/>
          <p:cNvSpPr txBox="1">
            <a:spLocks/>
          </p:cNvSpPr>
          <p:nvPr/>
        </p:nvSpPr>
        <p:spPr>
          <a:xfrm>
            <a:off x="673100" y="6219825"/>
            <a:ext cx="10515600" cy="3984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charset="0"/>
              <a:cs typeface="Calibri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5AEFDB-77E9-6F49-A567-61A20237C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680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1_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B22600"/>
      </a:accent5>
      <a:accent6>
        <a:srgbClr val="CC9900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84C22"/>
        </a:accent1>
        <a:accent2>
          <a:srgbClr val="FFBD47"/>
        </a:accent2>
        <a:accent3>
          <a:srgbClr val="B64926"/>
        </a:accent3>
        <a:accent4>
          <a:srgbClr val="FF8427"/>
        </a:accent4>
        <a:accent5>
          <a:srgbClr val="B22600"/>
        </a:accent5>
        <a:accent6>
          <a:srgbClr val="CC9900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Custom Color6">
      <a:srgbClr val="505046"/>
    </a:custClr>
    <a:custClr name="Custom Color7">
      <a:srgbClr val="EEECE1"/>
    </a:custClr>
  </a:custClrLst>
  <a:extLst>
    <a:ext uri="{05A4C25C-085E-4340-85A3-A5531E510DB2}">
      <thm15:themeFamily xmlns:thm15="http://schemas.microsoft.com/office/thememl/2012/main" name="HN0280_OFF_v2.potx" id="{E59590D3-4A92-481B-85BC-588C90199318}" vid="{9FF13323-8FE1-475C-AAD5-F59011BC78D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DA">
    <a:dk1>
      <a:srgbClr val="000000"/>
    </a:dk1>
    <a:lt1>
      <a:srgbClr val="FFFFFF"/>
    </a:lt1>
    <a:dk2>
      <a:srgbClr val="0B5DAC"/>
    </a:dk2>
    <a:lt2>
      <a:srgbClr val="E6E6E6"/>
    </a:lt2>
    <a:accent1>
      <a:srgbClr val="008FD5"/>
    </a:accent1>
    <a:accent2>
      <a:srgbClr val="139CFF"/>
    </a:accent2>
    <a:accent3>
      <a:srgbClr val="0B5DAC"/>
    </a:accent3>
    <a:accent4>
      <a:srgbClr val="6E6E6E"/>
    </a:accent4>
    <a:accent5>
      <a:srgbClr val="8C8C8C"/>
    </a:accent5>
    <a:accent6>
      <a:srgbClr val="505050"/>
    </a:accent6>
    <a:hlink>
      <a:srgbClr val="008FD5"/>
    </a:hlink>
    <a:folHlink>
      <a:srgbClr val="6E6E6E"/>
    </a:folHlink>
  </a:clrScheme>
</a:themeOverride>
</file>

<file path=ppt/theme/themeOverride2.xml><?xml version="1.0" encoding="utf-8"?>
<a:themeOverride xmlns:a="http://schemas.openxmlformats.org/drawingml/2006/main">
  <a:clrScheme name="Red Orange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3.xml><?xml version="1.0" encoding="utf-8"?>
<a:themeOverride xmlns:a="http://schemas.openxmlformats.org/drawingml/2006/main">
  <a:clrScheme name="Red Orange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ppt/theme/themeOverride4.xml><?xml version="1.0" encoding="utf-8"?>
<a:themeOverride xmlns:a="http://schemas.openxmlformats.org/drawingml/2006/main">
  <a:clrScheme name="Red Orange">
    <a:dk1>
      <a:sysClr val="windowText" lastClr="000000"/>
    </a:dk1>
    <a:lt1>
      <a:sysClr val="window" lastClr="FFFFFF"/>
    </a:lt1>
    <a:dk2>
      <a:srgbClr val="505046"/>
    </a:dk2>
    <a:lt2>
      <a:srgbClr val="EEECE1"/>
    </a:lt2>
    <a:accent1>
      <a:srgbClr val="E84C22"/>
    </a:accent1>
    <a:accent2>
      <a:srgbClr val="FFBD47"/>
    </a:accent2>
    <a:accent3>
      <a:srgbClr val="B64926"/>
    </a:accent3>
    <a:accent4>
      <a:srgbClr val="FF8427"/>
    </a:accent4>
    <a:accent5>
      <a:srgbClr val="CC9900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EA11C03CA70545B9A1ED5C361E1168" ma:contentTypeVersion="13" ma:contentTypeDescription="Create a new document." ma:contentTypeScope="" ma:versionID="e1f303b77f5e0ead8d73ba77827871c3">
  <xsd:schema xmlns:xsd="http://www.w3.org/2001/XMLSchema" xmlns:xs="http://www.w3.org/2001/XMLSchema" xmlns:p="http://schemas.microsoft.com/office/2006/metadata/properties" xmlns:ns1="http://schemas.microsoft.com/sharepoint/v3" xmlns:ns2="1d99faa5-1ec0-48ac-9a9d-f31792ac7cb8" xmlns:ns3="7df24817-ab1d-4ab0-910f-2dce16cfc2e0" targetNamespace="http://schemas.microsoft.com/office/2006/metadata/properties" ma:root="true" ma:fieldsID="35bdae46ed1306af5b40d4c0d7fffe70" ns1:_="" ns2:_="" ns3:_="">
    <xsd:import namespace="http://schemas.microsoft.com/sharepoint/v3"/>
    <xsd:import namespace="1d99faa5-1ec0-48ac-9a9d-f31792ac7cb8"/>
    <xsd:import namespace="7df24817-ab1d-4ab0-910f-2dce16cfc2e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99faa5-1ec0-48ac-9a9d-f31792ac7c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a6a986a6-5f44-4353-a687-c857d57407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f24817-ab1d-4ab0-910f-2dce16cfc2e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02ad324-e714-48af-9614-e71296737b83}" ma:internalName="TaxCatchAll" ma:showField="CatchAllData" ma:web="7df24817-ab1d-4ab0-910f-2dce16cfc2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1d99faa5-1ec0-48ac-9a9d-f31792ac7cb8">
      <Terms xmlns="http://schemas.microsoft.com/office/infopath/2007/PartnerControls"/>
    </lcf76f155ced4ddcb4097134ff3c332f>
    <TaxCatchAll xmlns="7df24817-ab1d-4ab0-910f-2dce16cfc2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913B53-9679-43FD-9E79-9E15F54586E4}">
  <ds:schemaRefs>
    <ds:schemaRef ds:uri="1d99faa5-1ec0-48ac-9a9d-f31792ac7cb8"/>
    <ds:schemaRef ds:uri="7df24817-ab1d-4ab0-910f-2dce16cfc2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D71806-9F0F-4F13-8771-B1F56D9E13DB}">
  <ds:schemaRefs>
    <ds:schemaRef ds:uri="7df24817-ab1d-4ab0-910f-2dce16cfc2e0"/>
    <ds:schemaRef ds:uri="1d99faa5-1ec0-48ac-9a9d-f31792ac7cb8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4B8C060-DEB8-4FAE-B93A-D72A2E57FE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6326</TotalTime>
  <Words>2297</Words>
  <Application>Microsoft Office PowerPoint</Application>
  <PresentationFormat>Widescreen</PresentationFormat>
  <Paragraphs>370</Paragraphs>
  <Slides>24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3" baseType="lpstr">
      <vt:lpstr>Aptos</vt:lpstr>
      <vt:lpstr>Arial</vt:lpstr>
      <vt:lpstr>Calibri</vt:lpstr>
      <vt:lpstr>Calibri (Body)</vt:lpstr>
      <vt:lpstr>Calibri Light</vt:lpstr>
      <vt:lpstr>Courier New</vt:lpstr>
      <vt:lpstr>Open Sans</vt:lpstr>
      <vt:lpstr>Open Sans Medium</vt:lpstr>
      <vt:lpstr>Open Sans SemiBold</vt:lpstr>
      <vt:lpstr>Roboto</vt:lpstr>
      <vt:lpstr>Roboto SemiBold</vt:lpstr>
      <vt:lpstr>Segoe UI</vt:lpstr>
      <vt:lpstr>Times New Roman</vt:lpstr>
      <vt:lpstr>Wingdings</vt:lpstr>
      <vt:lpstr>Wingdings 2</vt:lpstr>
      <vt:lpstr>Wingdings,Sans-Serif</vt:lpstr>
      <vt:lpstr>1_Office Theme</vt:lpstr>
      <vt:lpstr>White</vt:lpstr>
      <vt:lpstr>think-cell Slide</vt:lpstr>
      <vt:lpstr>PowerPoint Presentation</vt:lpstr>
      <vt:lpstr>PowerPoint Presentation</vt:lpstr>
      <vt:lpstr>PowerPoint Presentation</vt:lpstr>
      <vt:lpstr>Nhu cầu nghiệp vụ</vt:lpstr>
      <vt:lpstr>Luồng hành trình người dùng upload file</vt:lpstr>
      <vt:lpstr>Yêu cầu chức năng</vt:lpstr>
      <vt:lpstr>Yêu cầu phi chức năng</vt:lpstr>
      <vt:lpstr>Biz Cap</vt:lpstr>
      <vt:lpstr>Kế hoạch triển khai</vt:lpstr>
      <vt:lpstr>PowerPoint Presentation</vt:lpstr>
      <vt:lpstr>IT Capability Map</vt:lpstr>
      <vt:lpstr>Application Architecture</vt:lpstr>
      <vt:lpstr>Front-end và API Gateway</vt:lpstr>
      <vt:lpstr>Back-end Services</vt:lpstr>
      <vt:lpstr>Storage layer</vt:lpstr>
      <vt:lpstr>Integration Architecture</vt:lpstr>
      <vt:lpstr>Sequence digram – luồng upload files</vt:lpstr>
      <vt:lpstr>Sequence diagram – luồng download files</vt:lpstr>
      <vt:lpstr>Deployment Architecture</vt:lpstr>
      <vt:lpstr>Tech stack</vt:lpstr>
      <vt:lpstr>Mô tả thay đổi hệ thống</vt:lpstr>
      <vt:lpstr>Security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thanhtc3@msb.com.vn</dc:creator>
  <cp:lastModifiedBy>Administrator</cp:lastModifiedBy>
  <cp:revision>187</cp:revision>
  <dcterms:created xsi:type="dcterms:W3CDTF">2019-12-04T02:29:14Z</dcterms:created>
  <dcterms:modified xsi:type="dcterms:W3CDTF">2026-02-24T18:25:50Z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0x0101007FEA11C03CA70545B9A1ED5C361E1168</vt:lpwstr>
  </property>
  <property fmtid="{D5CDD505-2E9C-101B-9397-08002B2CF9AE}" pid="3" name="MediaServiceImageTags">
    <vt:lpwstr/>
  </property>
</Properties>
</file>