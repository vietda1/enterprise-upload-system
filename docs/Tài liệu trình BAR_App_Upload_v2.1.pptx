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64.xml" ContentType="application/vnd.openxmlformats-officedocument.presentationml.tags+xml"/>
  <Override PartName="/ppt/notesSlides/notesSlide2.xml" ContentType="application/vnd.openxmlformats-officedocument.presentationml.notesSlide+xml"/>
  <Override PartName="/ppt/tags/tag165.xml" ContentType="application/vnd.openxmlformats-officedocument.presentationml.tags+xml"/>
  <Override PartName="/ppt/notesSlides/notesSlide3.xml" ContentType="application/vnd.openxmlformats-officedocument.presentationml.notesSlide+xml"/>
  <Override PartName="/ppt/tags/tag166.xml" ContentType="application/vnd.openxmlformats-officedocument.presentationml.tags+xml"/>
  <Override PartName="/ppt/notesSlides/notesSlide4.xml" ContentType="application/vnd.openxmlformats-officedocument.presentationml.notesSlide+xml"/>
  <Override PartName="/ppt/tags/tag167.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68.xml" ContentType="application/vnd.openxmlformats-officedocument.presentationml.tags+xml"/>
  <Override PartName="/ppt/tags/tag16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4.xml" ContentType="application/vnd.openxmlformats-officedocument.themeOverride+xml"/>
  <Override PartName="/ppt/notesSlides/notesSlide21.xml" ContentType="application/vnd.openxmlformats-officedocument.presentationml.notesSlide+xml"/>
  <Override PartName="/ppt/theme/themeOverride5.xml" ContentType="application/vnd.openxmlformats-officedocument.themeOverr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20"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304" autoAdjust="0"/>
  </p:normalViewPr>
  <p:slideViewPr>
    <p:cSldViewPr snapToGrid="0">
      <p:cViewPr>
        <p:scale>
          <a:sx n="100" d="100"/>
          <a:sy n="100" d="100"/>
        </p:scale>
        <p:origin x="1032" y="108"/>
      </p:cViewPr>
      <p:guideLst>
        <p:guide orient="horz" pos="2304"/>
        <p:guide pos="3840"/>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54.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3/21/2026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sz="1100" dirty="0" err="1"/>
              <a:t>Trao</a:t>
            </a:r>
            <a:r>
              <a:rPr lang="en-US" sz="1100" dirty="0"/>
              <a:t> </a:t>
            </a:r>
            <a:r>
              <a:rPr lang="en-US" sz="1100" dirty="0" err="1"/>
              <a:t>đổi</a:t>
            </a:r>
            <a:r>
              <a:rPr lang="en-US" sz="1100" dirty="0"/>
              <a:t> </a:t>
            </a:r>
            <a:r>
              <a:rPr lang="en-US" sz="1100" dirty="0" err="1"/>
              <a:t>với</a:t>
            </a:r>
            <a:r>
              <a:rPr lang="en-US" sz="1100" dirty="0"/>
              <a:t> </a:t>
            </a:r>
            <a:r>
              <a:rPr lang="en-US" sz="1100" dirty="0" err="1"/>
              <a:t>DnD</a:t>
            </a:r>
            <a:r>
              <a:rPr lang="en-US" sz="1100" dirty="0"/>
              <a:t> </a:t>
            </a:r>
            <a:r>
              <a:rPr lang="en-US" sz="1100" dirty="0" err="1"/>
              <a:t>để</a:t>
            </a:r>
            <a:r>
              <a:rPr lang="en-US" sz="1100" dirty="0"/>
              <a:t> </a:t>
            </a:r>
            <a:r>
              <a:rPr lang="en-US" sz="1100" dirty="0" err="1"/>
              <a:t>hỗ</a:t>
            </a:r>
            <a:r>
              <a:rPr lang="en-US" sz="1100" dirty="0"/>
              <a:t> </a:t>
            </a:r>
            <a:r>
              <a:rPr lang="en-US" sz="1100" dirty="0" err="1"/>
              <a:t>trợ</a:t>
            </a:r>
            <a:r>
              <a:rPr lang="en-US" sz="1100" dirty="0"/>
              <a:t> </a:t>
            </a:r>
            <a:r>
              <a:rPr lang="vi-VN" sz="1100" dirty="0"/>
              <a:t>điền.</a:t>
            </a:r>
          </a:p>
          <a:p>
            <a:r>
              <a:rPr lang="vi-VN" sz="1100" dirty="0"/>
              <a:t>DnD confirm do là tech-debt nên không có Biz Cap</a:t>
            </a:r>
            <a:endParaRPr lang="en-US" sz="1100" dirty="0"/>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Times New Roman" panose="02020603050405020304" pitchFamily="18" charset="0"/>
                <a:cs typeface="Times New Roman" panose="02020603050405020304" pitchFamily="18" charset="0"/>
              </a:rPr>
              <a:t>Kết</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quả</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kiến</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trúc</a:t>
            </a:r>
            <a:r>
              <a:rPr lang="vi-VN" sz="1100" b="1" dirty="0">
                <a:latin typeface="Times New Roman" panose="02020603050405020304" pitchFamily="18" charset="0"/>
                <a:cs typeface="Times New Roman" panose="02020603050405020304" pitchFamily="18" charset="0"/>
              </a:rPr>
              <a:t> phase 1</a:t>
            </a:r>
            <a:endParaRPr lang="en-US" sz="1100" dirty="0">
              <a:latin typeface="Times New Roman" panose="02020603050405020304" pitchFamily="18" charset="0"/>
              <a:ea typeface="Calibri"/>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Luồng</a:t>
            </a:r>
            <a:r>
              <a:rPr lang="en-US" sz="1100" dirty="0">
                <a:latin typeface="Times New Roman" panose="02020603050405020304" pitchFamily="18" charset="0"/>
                <a:cs typeface="Times New Roman" panose="02020603050405020304" pitchFamily="18" charset="0"/>
              </a:rPr>
              <a:t> upload </a:t>
            </a:r>
            <a:r>
              <a:rPr lang="en-US" sz="1100" b="1" dirty="0">
                <a:latin typeface="Times New Roman" panose="02020603050405020304" pitchFamily="18" charset="0"/>
                <a:cs typeface="Times New Roman" panose="02020603050405020304" pitchFamily="18" charset="0"/>
              </a:rPr>
              <a:t>synchronous</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Tách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biệt</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rõ</a:t>
            </a:r>
            <a:r>
              <a:rPr lang="vi-VN" sz="1100" dirty="0">
                <a:latin typeface="Times New Roman" panose="02020603050405020304" pitchFamily="18" charset="0"/>
                <a:cs typeface="Times New Roman" panose="02020603050405020304" pitchFamily="18" charset="0"/>
              </a:rPr>
              <a:t> các service:</a:t>
            </a:r>
            <a:r>
              <a:rPr lang="en-US" sz="1100" dirty="0">
                <a:latin typeface="Times New Roman" panose="02020603050405020304" pitchFamily="18" charset="0"/>
                <a:cs typeface="Times New Roman" panose="02020603050405020304" pitchFamily="18" charset="0"/>
              </a:rPr>
              <a:t> </a:t>
            </a:r>
            <a:r>
              <a:rPr lang="en-US" sz="1100" b="1" dirty="0">
                <a:latin typeface="Times New Roman" panose="02020603050405020304" pitchFamily="18" charset="0"/>
                <a:cs typeface="Times New Roman" panose="02020603050405020304" pitchFamily="18" charset="0"/>
              </a:rPr>
              <a:t>upload – validate – ingest</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Sẵn</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sàng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mở</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rộng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định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dạng</a:t>
            </a:r>
            <a:r>
              <a:rPr lang="en-US" sz="1100" dirty="0">
                <a:latin typeface="Times New Roman" panose="02020603050405020304" pitchFamily="18" charset="0"/>
                <a:cs typeface="Times New Roman" panose="02020603050405020304" pitchFamily="18" charset="0"/>
              </a:rPr>
              <a:t> file</a:t>
            </a:r>
          </a:p>
          <a:p>
            <a:pPr>
              <a:buFont typeface=""/>
              <a:buChar char="•"/>
            </a:pPr>
            <a:r>
              <a:rPr lang="en-US" sz="1100" b="1" dirty="0">
                <a:latin typeface="Times New Roman" panose="02020603050405020304" pitchFamily="18" charset="0"/>
                <a:ea typeface="Segoe UI"/>
                <a:cs typeface="Times New Roman" panose="02020603050405020304" pitchFamily="18" charset="0"/>
              </a:rPr>
              <a:t>Phase 1 (Checklist)</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MVP, validate </a:t>
            </a:r>
            <a:r>
              <a:rPr lang="en-US" sz="1100" dirty="0" err="1">
                <a:latin typeface="Times New Roman" panose="02020603050405020304" pitchFamily="18" charset="0"/>
                <a:ea typeface="Segoe UI"/>
                <a:cs typeface="Times New Roman" panose="02020603050405020304" pitchFamily="18" charset="0"/>
              </a:rPr>
              <a:t>kiến</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trúc</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kiểm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soát</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phạm</a:t>
            </a:r>
            <a:r>
              <a:rPr lang="en-US" sz="1100" dirty="0">
                <a:latin typeface="Times New Roman" panose="02020603050405020304" pitchFamily="18" charset="0"/>
                <a:ea typeface="Segoe UI"/>
                <a:cs typeface="Times New Roman" panose="02020603050405020304" pitchFamily="18" charset="0"/>
              </a:rPr>
              <a:t> vi, </a:t>
            </a:r>
            <a:r>
              <a:rPr lang="en-US" sz="1100" dirty="0" err="1">
                <a:latin typeface="Times New Roman" panose="02020603050405020304" pitchFamily="18" charset="0"/>
                <a:ea typeface="Segoe UI"/>
                <a:cs typeface="Times New Roman" panose="02020603050405020304" pitchFamily="18" charset="0"/>
              </a:rPr>
              <a:t>giảm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rủi</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ro</a:t>
            </a:r>
            <a:endParaRPr lang="en-US" sz="1100" dirty="0">
              <a:latin typeface="Times New Roman" panose="02020603050405020304" pitchFamily="18" charset="0"/>
              <a:ea typeface="Segoe UI"/>
              <a:cs typeface="Times New Roman" panose="02020603050405020304" pitchFamily="18" charset="0"/>
            </a:endParaRPr>
          </a:p>
          <a:p>
            <a:pPr>
              <a:buFont typeface=""/>
              <a:buChar char="•"/>
            </a:pPr>
            <a:r>
              <a:rPr lang="en-US" sz="1100" b="1" dirty="0">
                <a:latin typeface="Times New Roman" panose="02020603050405020304" pitchFamily="18" charset="0"/>
                <a:ea typeface="Segoe UI"/>
                <a:cs typeface="Times New Roman" panose="02020603050405020304" pitchFamily="18" charset="0"/>
              </a:rPr>
              <a:t>Phase 2 (Folder </a:t>
            </a:r>
            <a:r>
              <a:rPr lang="en-US" sz="1100" b="1" dirty="0" err="1">
                <a:latin typeface="Times New Roman" panose="02020603050405020304" pitchFamily="18" charset="0"/>
                <a:ea typeface="Segoe UI"/>
                <a:cs typeface="Times New Roman" panose="02020603050405020304" pitchFamily="18" charset="0"/>
              </a:rPr>
              <a:t>mở</a:t>
            </a:r>
            <a:r>
              <a:rPr lang="en-US" sz="1100" b="1" dirty="0">
                <a:latin typeface="Times New Roman" panose="02020603050405020304" pitchFamily="18" charset="0"/>
                <a:ea typeface="Segoe UI"/>
                <a:cs typeface="Times New Roman" panose="02020603050405020304" pitchFamily="18" charset="0"/>
              </a:rPr>
              <a:t> </a:t>
            </a:r>
            <a:r>
              <a:rPr lang="en-US" sz="1100" b="1" dirty="0" err="1">
                <a:latin typeface="Times New Roman" panose="02020603050405020304" pitchFamily="18" charset="0"/>
                <a:ea typeface="Segoe UI"/>
                <a:cs typeface="Times New Roman" panose="02020603050405020304" pitchFamily="18" charset="0"/>
              </a:rPr>
              <a:t>rộng</a:t>
            </a:r>
            <a:r>
              <a:rPr lang="en-US" sz="1100" b="1" dirty="0">
                <a:latin typeface="Times New Roman" panose="02020603050405020304" pitchFamily="18" charset="0"/>
                <a:ea typeface="Segoe UI"/>
                <a:cs typeface="Times New Roman" panose="02020603050405020304" pitchFamily="18" charset="0"/>
              </a:rPr>
              <a:t>)</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Scale capability, </a:t>
            </a:r>
            <a:r>
              <a:rPr lang="en-US" sz="1100" dirty="0" err="1">
                <a:latin typeface="Times New Roman" panose="02020603050405020304" pitchFamily="18" charset="0"/>
                <a:ea typeface="Segoe UI"/>
                <a:cs typeface="Times New Roman" panose="02020603050405020304" pitchFamily="18" charset="0"/>
              </a:rPr>
              <a:t>không</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thay</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đổi</a:t>
            </a:r>
            <a:r>
              <a:rPr lang="en-US" sz="1100" dirty="0">
                <a:latin typeface="Times New Roman" panose="02020603050405020304" pitchFamily="18" charset="0"/>
                <a:ea typeface="Segoe UI"/>
                <a:cs typeface="Times New Roman" panose="02020603050405020304" pitchFamily="18" charset="0"/>
              </a:rPr>
              <a:t> foundation</a:t>
            </a:r>
          </a:p>
          <a:p>
            <a:endParaRPr lang="en-US" sz="1100" dirty="0">
              <a:latin typeface="Times New Roman" panose="02020603050405020304" pitchFamily="18" charset="0"/>
              <a:ea typeface="Segoe UI"/>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Reference Data Management</a:t>
            </a:r>
          </a:p>
          <a:p>
            <a:r>
              <a:rPr lang="vi-VN" dirty="0"/>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dirty="0"/>
              <a:t>Ví dụ dữ liệu tham chiếu: đơn vị đó, mã vùng, mã doanh nghiệp, tỷ lệ chuyển đổi cố định (độ đo), lịch biểu...</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Privacy</a:t>
            </a:r>
          </a:p>
          <a:p>
            <a:r>
              <a:rPr lang="vi-VN" dirty="0"/>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dirty="0"/>
              <a:t>Data privacy bao gồm (nhưng không giới hạn):</a:t>
            </a:r>
          </a:p>
          <a:p>
            <a:r>
              <a:rPr lang="vi-VN" dirty="0"/>
              <a:t>- PII: theo quy định pháp luật</a:t>
            </a:r>
          </a:p>
          <a:p>
            <a:r>
              <a:rPr lang="vi-VN" dirty="0"/>
              <a:t>- Sensitive data: dữ liệu nhạy cảm, theo yêu cầu kinh doanh</a:t>
            </a:r>
          </a:p>
          <a:p>
            <a:r>
              <a:rPr lang="vi-VN" dirty="0"/>
              <a:t>- Các cách bảo vệ dữ liệu</a:t>
            </a:r>
          </a:p>
          <a:p>
            <a:pPr marL="171450" indent="-171450">
              <a:buFontTx/>
              <a:buChar char="-"/>
            </a:pPr>
            <a:r>
              <a:rPr lang="vi-VN" dirty="0"/>
              <a:t>Ma trận phân quyền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Master Data Management</a:t>
            </a:r>
          </a:p>
          <a:p>
            <a:pPr marL="0" indent="0">
              <a:buFontTx/>
              <a:buNone/>
            </a:pPr>
            <a:r>
              <a:rPr lang="vi-VN" dirty="0"/>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dirty="0"/>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Lifecycle Management</a:t>
            </a:r>
          </a:p>
          <a:p>
            <a:pPr marL="0" indent="0">
              <a:buFontTx/>
              <a:buNone/>
            </a:pPr>
            <a:r>
              <a:rPr lang="vi-VN" dirty="0"/>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Data staging &amp; operational management platform</a:t>
            </a:r>
          </a:p>
          <a:p>
            <a:pPr marL="0" indent="0">
              <a:buFontTx/>
              <a:buNone/>
            </a:pPr>
            <a:r>
              <a:rPr lang="vi-VN" dirty="0"/>
              <a:t>- Staging area (Landing Zone) là một vùng lưu trữ trung gian được xử dụng trong khi xử lý ETL</a:t>
            </a:r>
          </a:p>
          <a:p>
            <a:pPr marL="171450" indent="-171450">
              <a:buFontTx/>
              <a:buChar char="-"/>
            </a:pPr>
            <a:r>
              <a:rPr lang="vi-VN" dirty="0"/>
              <a:t>Operational data store (ODS) là một loại database, thường dùng để tích hợp dữ liệu từ nhiều nguồn khác, phục vụ báo cáo vận hành, có thể thành một nguồn cho DWH.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On-demand (API/Microservices Consumption)</a:t>
            </a:r>
          </a:p>
          <a:p>
            <a:pPr marL="0" indent="0">
              <a:buFontTx/>
              <a:buNone/>
            </a:pPr>
            <a:r>
              <a:rPr lang="en-US" dirty="0" err="1"/>
              <a:t>Dùng</a:t>
            </a:r>
            <a:r>
              <a:rPr lang="en-US" dirty="0"/>
              <a:t> microservices </a:t>
            </a:r>
            <a:r>
              <a:rPr lang="en-US" dirty="0" err="1"/>
              <a:t>và</a:t>
            </a:r>
            <a:r>
              <a:rPr lang="en-US" dirty="0"/>
              <a:t> </a:t>
            </a:r>
            <a:r>
              <a:rPr lang="en-US" dirty="0" err="1"/>
              <a:t>Api</a:t>
            </a:r>
            <a:r>
              <a:rPr lang="en-US" dirty="0"/>
              <a:t> </a:t>
            </a:r>
            <a:r>
              <a:rPr lang="en-US" dirty="0" err="1"/>
              <a:t>để</a:t>
            </a:r>
            <a:r>
              <a:rPr lang="en-US" dirty="0"/>
              <a:t> </a:t>
            </a:r>
            <a:r>
              <a:rPr lang="en-US" dirty="0" err="1"/>
              <a:t>giao</a:t>
            </a:r>
            <a:r>
              <a:rPr lang="en-US" dirty="0"/>
              <a:t> </a:t>
            </a:r>
            <a:r>
              <a:rPr lang="en-US" dirty="0" err="1"/>
              <a:t>tiếp</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Deposited data (by users)</a:t>
            </a:r>
          </a:p>
          <a:p>
            <a:pPr marL="0" indent="0">
              <a:buFontTx/>
              <a:buNone/>
            </a:pPr>
            <a:r>
              <a:rPr lang="vi-VN" dirty="0"/>
              <a:t>Lưu trữ dữ liệu cho người dùng (sanbox)</a:t>
            </a: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E83F-D510-088B-D27C-AB3325DDF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48754-7954-B0AC-AB57-8119359D4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F3686-60B5-FFEB-4FA2-38C3F7B9BB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C2B3D8-F54B-B196-3B12-817D4844BC29}"/>
              </a:ext>
            </a:extLst>
          </p:cNvPr>
          <p:cNvSpPr>
            <a:spLocks noGrp="1"/>
          </p:cNvSpPr>
          <p:nvPr>
            <p:ph type="sldNum" sz="quarter" idx="5"/>
          </p:nvPr>
        </p:nvSpPr>
        <p:spPr/>
        <p:txBody>
          <a:bodyPr/>
          <a:lstStyle/>
          <a:p>
            <a:fld id="{5D2A4B31-E220-4D9A-8D6D-C00945709A12}" type="slidenum">
              <a:rPr lang="en-US" smtClean="0"/>
              <a:t>21</a:t>
            </a:fld>
            <a:endParaRPr lang="en-US"/>
          </a:p>
        </p:txBody>
      </p:sp>
    </p:spTree>
    <p:extLst>
      <p:ext uri="{BB962C8B-B14F-4D97-AF65-F5344CB8AC3E}">
        <p14:creationId xmlns:p14="http://schemas.microsoft.com/office/powerpoint/2010/main" val="71372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tags" Target="../tags/tag29.xml"/><Relationship Id="rId7"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3.vml"/><Relationship Id="rId6" Type="http://schemas.openxmlformats.org/officeDocument/2006/relationships/tags" Target="../tags/tag32.xml"/><Relationship Id="rId5" Type="http://schemas.openxmlformats.org/officeDocument/2006/relationships/tags" Target="../tags/tag31.xml"/><Relationship Id="rId10" Type="http://schemas.openxmlformats.org/officeDocument/2006/relationships/image" Target="../media/image5.jpeg"/><Relationship Id="rId4" Type="http://schemas.openxmlformats.org/officeDocument/2006/relationships/tags" Target="../tags/tag30.xml"/><Relationship Id="rId9"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4.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3.xml"/><Relationship Id="rId1" Type="http://schemas.openxmlformats.org/officeDocument/2006/relationships/vmlDrawing" Target="../drawings/vmlDrawing4.vml"/><Relationship Id="rId6" Type="http://schemas.openxmlformats.org/officeDocument/2006/relationships/tags" Target="../tags/tag37.xml"/><Relationship Id="rId11" Type="http://schemas.openxmlformats.org/officeDocument/2006/relationships/image" Target="../media/image2.png"/><Relationship Id="rId5" Type="http://schemas.openxmlformats.org/officeDocument/2006/relationships/tags" Target="../tags/tag36.xml"/><Relationship Id="rId10" Type="http://schemas.openxmlformats.org/officeDocument/2006/relationships/image" Target="../media/image6.png"/><Relationship Id="rId4" Type="http://schemas.openxmlformats.org/officeDocument/2006/relationships/tags" Target="../tags/tag35.xml"/><Relationship Id="rId9"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8.png"/><Relationship Id="rId3" Type="http://schemas.openxmlformats.org/officeDocument/2006/relationships/tags" Target="../tags/tag39.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8.xml"/><Relationship Id="rId1" Type="http://schemas.openxmlformats.org/officeDocument/2006/relationships/vmlDrawing" Target="../drawings/vmlDrawing5.vml"/><Relationship Id="rId6" Type="http://schemas.openxmlformats.org/officeDocument/2006/relationships/tags" Target="../tags/tag42.xml"/><Relationship Id="rId11" Type="http://schemas.openxmlformats.org/officeDocument/2006/relationships/image" Target="../media/image2.png"/><Relationship Id="rId5" Type="http://schemas.openxmlformats.org/officeDocument/2006/relationships/tags" Target="../tags/tag41.xml"/><Relationship Id="rId10" Type="http://schemas.openxmlformats.org/officeDocument/2006/relationships/image" Target="../media/image7.jpeg"/><Relationship Id="rId4" Type="http://schemas.openxmlformats.org/officeDocument/2006/relationships/tags" Target="../tags/tag40.xml"/><Relationship Id="rId9"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8" Type="http://schemas.openxmlformats.org/officeDocument/2006/relationships/tags" Target="../tags/tag49.xml"/><Relationship Id="rId3" Type="http://schemas.openxmlformats.org/officeDocument/2006/relationships/tags" Target="../tags/tag44.xml"/><Relationship Id="rId7" Type="http://schemas.openxmlformats.org/officeDocument/2006/relationships/tags" Target="../tags/tag48.xml"/><Relationship Id="rId2" Type="http://schemas.openxmlformats.org/officeDocument/2006/relationships/tags" Target="../tags/tag43.xml"/><Relationship Id="rId1" Type="http://schemas.openxmlformats.org/officeDocument/2006/relationships/vmlDrawing" Target="../drawings/vmlDrawing6.vml"/><Relationship Id="rId6" Type="http://schemas.openxmlformats.org/officeDocument/2006/relationships/tags" Target="../tags/tag47.xml"/><Relationship Id="rId11" Type="http://schemas.openxmlformats.org/officeDocument/2006/relationships/image" Target="../media/image1.emf"/><Relationship Id="rId5" Type="http://schemas.openxmlformats.org/officeDocument/2006/relationships/tags" Target="../tags/tag46.xml"/><Relationship Id="rId10" Type="http://schemas.openxmlformats.org/officeDocument/2006/relationships/oleObject" Target="../embeddings/oleObject1.bin"/><Relationship Id="rId4" Type="http://schemas.openxmlformats.org/officeDocument/2006/relationships/tags" Target="../tags/tag45.xml"/><Relationship Id="rId9"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6.xml"/><Relationship Id="rId3" Type="http://schemas.openxmlformats.org/officeDocument/2006/relationships/tags" Target="../tags/tag51.xml"/><Relationship Id="rId7" Type="http://schemas.openxmlformats.org/officeDocument/2006/relationships/tags" Target="../tags/tag55.xml"/><Relationship Id="rId2" Type="http://schemas.openxmlformats.org/officeDocument/2006/relationships/tags" Target="../tags/tag50.xml"/><Relationship Id="rId1" Type="http://schemas.openxmlformats.org/officeDocument/2006/relationships/vmlDrawing" Target="../drawings/vmlDrawing7.vml"/><Relationship Id="rId6" Type="http://schemas.openxmlformats.org/officeDocument/2006/relationships/tags" Target="../tags/tag54.xml"/><Relationship Id="rId11" Type="http://schemas.openxmlformats.org/officeDocument/2006/relationships/image" Target="../media/image1.emf"/><Relationship Id="rId5" Type="http://schemas.openxmlformats.org/officeDocument/2006/relationships/tags" Target="../tags/tag53.xml"/><Relationship Id="rId10" Type="http://schemas.openxmlformats.org/officeDocument/2006/relationships/oleObject" Target="../embeddings/oleObject6.bin"/><Relationship Id="rId4" Type="http://schemas.openxmlformats.org/officeDocument/2006/relationships/tags" Target="../tags/tag52.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58.xml"/><Relationship Id="rId7" Type="http://schemas.openxmlformats.org/officeDocument/2006/relationships/tags" Target="../tags/tag62.xml"/><Relationship Id="rId2" Type="http://schemas.openxmlformats.org/officeDocument/2006/relationships/tags" Target="../tags/tag57.xml"/><Relationship Id="rId1" Type="http://schemas.openxmlformats.org/officeDocument/2006/relationships/vmlDrawing" Target="../drawings/vmlDrawing8.vml"/><Relationship Id="rId6" Type="http://schemas.openxmlformats.org/officeDocument/2006/relationships/tags" Target="../tags/tag61.xml"/><Relationship Id="rId5" Type="http://schemas.openxmlformats.org/officeDocument/2006/relationships/tags" Target="../tags/tag60.xml"/><Relationship Id="rId10" Type="http://schemas.openxmlformats.org/officeDocument/2006/relationships/image" Target="../media/image4.emf"/><Relationship Id="rId4" Type="http://schemas.openxmlformats.org/officeDocument/2006/relationships/tags" Target="../tags/tag59.xml"/><Relationship Id="rId9"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4.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11" Type="http://schemas.openxmlformats.org/officeDocument/2006/relationships/image" Target="../media/image5.jpeg"/><Relationship Id="rId5" Type="http://schemas.openxmlformats.org/officeDocument/2006/relationships/tags" Target="../tags/tag72.xml"/><Relationship Id="rId10" Type="http://schemas.openxmlformats.org/officeDocument/2006/relationships/image" Target="../media/image4.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tags" Target="../tags/tag81.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4.emf"/><Relationship Id="rId5" Type="http://schemas.openxmlformats.org/officeDocument/2006/relationships/tags" Target="../tags/tag78.xml"/><Relationship Id="rId10" Type="http://schemas.openxmlformats.org/officeDocument/2006/relationships/oleObject" Target="../embeddings/oleObject10.bin"/><Relationship Id="rId4" Type="http://schemas.openxmlformats.org/officeDocument/2006/relationships/tags" Target="../tags/tag77.xml"/><Relationship Id="rId9"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8.xml"/><Relationship Id="rId13" Type="http://schemas.openxmlformats.org/officeDocument/2006/relationships/image" Target="../media/image2.png"/><Relationship Id="rId3" Type="http://schemas.openxmlformats.org/officeDocument/2006/relationships/tags" Target="../tags/tag83.xml"/><Relationship Id="rId7" Type="http://schemas.openxmlformats.org/officeDocument/2006/relationships/tags" Target="../tags/tag87.xml"/><Relationship Id="rId12" Type="http://schemas.openxmlformats.org/officeDocument/2006/relationships/image" Target="../media/image1.emf"/><Relationship Id="rId2" Type="http://schemas.openxmlformats.org/officeDocument/2006/relationships/tags" Target="../tags/tag82.xml"/><Relationship Id="rId1" Type="http://schemas.openxmlformats.org/officeDocument/2006/relationships/vmlDrawing" Target="../drawings/vmlDrawing12.vml"/><Relationship Id="rId6" Type="http://schemas.openxmlformats.org/officeDocument/2006/relationships/tags" Target="../tags/tag86.xml"/><Relationship Id="rId11" Type="http://schemas.openxmlformats.org/officeDocument/2006/relationships/oleObject" Target="../embeddings/oleObject11.bin"/><Relationship Id="rId5" Type="http://schemas.openxmlformats.org/officeDocument/2006/relationships/tags" Target="../tags/tag85.xml"/><Relationship Id="rId10" Type="http://schemas.openxmlformats.org/officeDocument/2006/relationships/slideMaster" Target="../slideMasters/slideMaster2.xml"/><Relationship Id="rId4" Type="http://schemas.openxmlformats.org/officeDocument/2006/relationships/tags" Target="../tags/tag84.xml"/><Relationship Id="rId9" Type="http://schemas.openxmlformats.org/officeDocument/2006/relationships/tags" Target="../tags/tag89.xml"/><Relationship Id="rId14" Type="http://schemas.openxmlformats.org/officeDocument/2006/relationships/image" Target="../media/image3.svg"/></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image" Target="../media/image2.png"/><Relationship Id="rId3" Type="http://schemas.openxmlformats.org/officeDocument/2006/relationships/tags" Target="../tags/tag91.xml"/><Relationship Id="rId7" Type="http://schemas.openxmlformats.org/officeDocument/2006/relationships/tags" Target="../tags/tag95.xml"/><Relationship Id="rId12" Type="http://schemas.openxmlformats.org/officeDocument/2006/relationships/image" Target="../media/image1.emf"/><Relationship Id="rId2" Type="http://schemas.openxmlformats.org/officeDocument/2006/relationships/tags" Target="../tags/tag90.xml"/><Relationship Id="rId1" Type="http://schemas.openxmlformats.org/officeDocument/2006/relationships/vmlDrawing" Target="../drawings/vmlDrawing13.vml"/><Relationship Id="rId6" Type="http://schemas.openxmlformats.org/officeDocument/2006/relationships/tags" Target="../tags/tag94.xml"/><Relationship Id="rId11" Type="http://schemas.openxmlformats.org/officeDocument/2006/relationships/oleObject" Target="../embeddings/oleObject12.bin"/><Relationship Id="rId5" Type="http://schemas.openxmlformats.org/officeDocument/2006/relationships/tags" Target="../tags/tag93.xml"/><Relationship Id="rId10" Type="http://schemas.openxmlformats.org/officeDocument/2006/relationships/slideMaster" Target="../slideMasters/slideMaster2.xml"/><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4.xml"/><Relationship Id="rId13" Type="http://schemas.openxmlformats.org/officeDocument/2006/relationships/image" Target="../media/image2.png"/><Relationship Id="rId3" Type="http://schemas.openxmlformats.org/officeDocument/2006/relationships/tags" Target="../tags/tag99.xml"/><Relationship Id="rId7" Type="http://schemas.openxmlformats.org/officeDocument/2006/relationships/tags" Target="../tags/tag103.xml"/><Relationship Id="rId12" Type="http://schemas.openxmlformats.org/officeDocument/2006/relationships/image" Target="../media/image1.emf"/><Relationship Id="rId2" Type="http://schemas.openxmlformats.org/officeDocument/2006/relationships/tags" Target="../tags/tag98.xml"/><Relationship Id="rId1" Type="http://schemas.openxmlformats.org/officeDocument/2006/relationships/vmlDrawing" Target="../drawings/vmlDrawing14.vml"/><Relationship Id="rId6" Type="http://schemas.openxmlformats.org/officeDocument/2006/relationships/tags" Target="../tags/tag102.xml"/><Relationship Id="rId11" Type="http://schemas.openxmlformats.org/officeDocument/2006/relationships/oleObject" Target="../embeddings/oleObject13.bin"/><Relationship Id="rId5" Type="http://schemas.openxmlformats.org/officeDocument/2006/relationships/tags" Target="../tags/tag101.xml"/><Relationship Id="rId10" Type="http://schemas.openxmlformats.org/officeDocument/2006/relationships/slideMaster" Target="../slideMasters/slideMaster2.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image" Target="../media/image2.png"/><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image" Target="../media/image9.emf"/><Relationship Id="rId2" Type="http://schemas.openxmlformats.org/officeDocument/2006/relationships/tags" Target="../tags/tag106.xml"/><Relationship Id="rId1" Type="http://schemas.openxmlformats.org/officeDocument/2006/relationships/vmlDrawing" Target="../drawings/vmlDrawing15.vml"/><Relationship Id="rId6" Type="http://schemas.openxmlformats.org/officeDocument/2006/relationships/tags" Target="../tags/tag110.xml"/><Relationship Id="rId11" Type="http://schemas.openxmlformats.org/officeDocument/2006/relationships/oleObject" Target="../embeddings/oleObject14.bin"/><Relationship Id="rId5" Type="http://schemas.openxmlformats.org/officeDocument/2006/relationships/tags" Target="../tags/tag109.xml"/><Relationship Id="rId10" Type="http://schemas.openxmlformats.org/officeDocument/2006/relationships/slideMaster" Target="../slideMasters/slideMaster2.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image" Target="../media/image2.png"/><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image" Target="../media/image1.emf"/><Relationship Id="rId2" Type="http://schemas.openxmlformats.org/officeDocument/2006/relationships/tags" Target="../tags/tag114.xml"/><Relationship Id="rId1" Type="http://schemas.openxmlformats.org/officeDocument/2006/relationships/vmlDrawing" Target="../drawings/vmlDrawing16.vml"/><Relationship Id="rId6" Type="http://schemas.openxmlformats.org/officeDocument/2006/relationships/tags" Target="../tags/tag118.xml"/><Relationship Id="rId11" Type="http://schemas.openxmlformats.org/officeDocument/2006/relationships/oleObject" Target="../embeddings/oleObject15.bin"/><Relationship Id="rId5" Type="http://schemas.openxmlformats.org/officeDocument/2006/relationships/tags" Target="../tags/tag117.xml"/><Relationship Id="rId10" Type="http://schemas.openxmlformats.org/officeDocument/2006/relationships/slideMaster" Target="../slideMasters/slideMaster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image" Target="../media/image3.svg"/><Relationship Id="rId2" Type="http://schemas.openxmlformats.org/officeDocument/2006/relationships/tags" Target="../tags/tag122.xml"/><Relationship Id="rId1" Type="http://schemas.openxmlformats.org/officeDocument/2006/relationships/vmlDrawing" Target="../drawings/vmlDrawing17.vml"/><Relationship Id="rId6" Type="http://schemas.openxmlformats.org/officeDocument/2006/relationships/tags" Target="../tags/tag126.xml"/><Relationship Id="rId11" Type="http://schemas.openxmlformats.org/officeDocument/2006/relationships/image" Target="../media/image2.png"/><Relationship Id="rId5" Type="http://schemas.openxmlformats.org/officeDocument/2006/relationships/tags" Target="../tags/tag125.xml"/><Relationship Id="rId10" Type="http://schemas.openxmlformats.org/officeDocument/2006/relationships/image" Target="../media/image4.emf"/><Relationship Id="rId4" Type="http://schemas.openxmlformats.org/officeDocument/2006/relationships/tags" Target="../tags/tag124.xml"/><Relationship Id="rId9" Type="http://schemas.openxmlformats.org/officeDocument/2006/relationships/oleObject" Target="../embeddings/oleObject16.bin"/></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emf"/><Relationship Id="rId3" Type="http://schemas.openxmlformats.org/officeDocument/2006/relationships/tags" Target="../tags/tag129.xml"/><Relationship Id="rId7" Type="http://schemas.openxmlformats.org/officeDocument/2006/relationships/oleObject" Target="../embeddings/oleObject17.bin"/><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slideMaster" Target="../slideMasters/slideMaster2.xml"/><Relationship Id="rId5" Type="http://schemas.openxmlformats.org/officeDocument/2006/relationships/tags" Target="../tags/tag131.xml"/><Relationship Id="rId10" Type="http://schemas.openxmlformats.org/officeDocument/2006/relationships/image" Target="../media/image3.svg"/><Relationship Id="rId4" Type="http://schemas.openxmlformats.org/officeDocument/2006/relationships/tags" Target="../tags/tag130.xml"/><Relationship Id="rId9"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3.xml"/><Relationship Id="rId7" Type="http://schemas.openxmlformats.org/officeDocument/2006/relationships/image" Target="../media/image2.png"/><Relationship Id="rId2" Type="http://schemas.openxmlformats.org/officeDocument/2006/relationships/tags" Target="../tags/tag132.xml"/><Relationship Id="rId1" Type="http://schemas.openxmlformats.org/officeDocument/2006/relationships/vmlDrawing" Target="../drawings/vmlDrawing19.vml"/><Relationship Id="rId6" Type="http://schemas.openxmlformats.org/officeDocument/2006/relationships/image" Target="../media/image4.emf"/><Relationship Id="rId5" Type="http://schemas.openxmlformats.org/officeDocument/2006/relationships/oleObject" Target="../embeddings/oleObject18.bin"/><Relationship Id="rId4"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8" Type="http://schemas.openxmlformats.org/officeDocument/2006/relationships/tags" Target="../tags/tag140.xml"/><Relationship Id="rId3" Type="http://schemas.openxmlformats.org/officeDocument/2006/relationships/tags" Target="../tags/tag135.xml"/><Relationship Id="rId7" Type="http://schemas.openxmlformats.org/officeDocument/2006/relationships/tags" Target="../tags/tag139.xml"/><Relationship Id="rId2" Type="http://schemas.openxmlformats.org/officeDocument/2006/relationships/tags" Target="../tags/tag134.xml"/><Relationship Id="rId1" Type="http://schemas.openxmlformats.org/officeDocument/2006/relationships/vmlDrawing" Target="../drawings/vmlDrawing20.vml"/><Relationship Id="rId6" Type="http://schemas.openxmlformats.org/officeDocument/2006/relationships/tags" Target="../tags/tag138.xml"/><Relationship Id="rId11" Type="http://schemas.openxmlformats.org/officeDocument/2006/relationships/image" Target="../media/image1.emf"/><Relationship Id="rId5" Type="http://schemas.openxmlformats.org/officeDocument/2006/relationships/tags" Target="../tags/tag137.xml"/><Relationship Id="rId10" Type="http://schemas.openxmlformats.org/officeDocument/2006/relationships/oleObject" Target="../embeddings/oleObject19.bin"/><Relationship Id="rId4" Type="http://schemas.openxmlformats.org/officeDocument/2006/relationships/tags" Target="../tags/tag136.xml"/><Relationship Id="rId9"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image" Target="../media/image2.png"/><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image" Target="../media/image4.emf"/><Relationship Id="rId2" Type="http://schemas.openxmlformats.org/officeDocument/2006/relationships/tags" Target="../tags/tag141.xml"/><Relationship Id="rId1" Type="http://schemas.openxmlformats.org/officeDocument/2006/relationships/vmlDrawing" Target="../drawings/vmlDrawing21.vml"/><Relationship Id="rId6" Type="http://schemas.openxmlformats.org/officeDocument/2006/relationships/tags" Target="../tags/tag145.xml"/><Relationship Id="rId11" Type="http://schemas.openxmlformats.org/officeDocument/2006/relationships/oleObject" Target="../embeddings/oleObject20.bin"/><Relationship Id="rId5" Type="http://schemas.openxmlformats.org/officeDocument/2006/relationships/tags" Target="../tags/tag144.xml"/><Relationship Id="rId10" Type="http://schemas.openxmlformats.org/officeDocument/2006/relationships/slideMaster" Target="../slideMasters/slideMaster2.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image" Target="../media/image3.svg"/></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5.xml"/><Relationship Id="rId13" Type="http://schemas.openxmlformats.org/officeDocument/2006/relationships/image" Target="../media/image2.png"/><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image" Target="../media/image4.emf"/><Relationship Id="rId2" Type="http://schemas.openxmlformats.org/officeDocument/2006/relationships/tags" Target="../tags/tag149.xml"/><Relationship Id="rId1" Type="http://schemas.openxmlformats.org/officeDocument/2006/relationships/vmlDrawing" Target="../drawings/vmlDrawing22.vml"/><Relationship Id="rId6" Type="http://schemas.openxmlformats.org/officeDocument/2006/relationships/tags" Target="../tags/tag153.xml"/><Relationship Id="rId11" Type="http://schemas.openxmlformats.org/officeDocument/2006/relationships/oleObject" Target="../embeddings/oleObject21.bin"/><Relationship Id="rId5" Type="http://schemas.openxmlformats.org/officeDocument/2006/relationships/tags" Target="../tags/tag152.xml"/><Relationship Id="rId10" Type="http://schemas.openxmlformats.org/officeDocument/2006/relationships/slideMaster" Target="../slideMasters/slideMaster2.xml"/><Relationship Id="rId4" Type="http://schemas.openxmlformats.org/officeDocument/2006/relationships/tags" Target="../tags/tag151.xml"/><Relationship Id="rId9" Type="http://schemas.openxmlformats.org/officeDocument/2006/relationships/tags" Target="../tags/tag156.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vmlDrawing" Target="../drawings/vmlDrawing23.vml"/><Relationship Id="rId6" Type="http://schemas.openxmlformats.org/officeDocument/2006/relationships/tags" Target="../tags/tag161.xml"/><Relationship Id="rId11" Type="http://schemas.openxmlformats.org/officeDocument/2006/relationships/image" Target="../media/image1.emf"/><Relationship Id="rId5" Type="http://schemas.openxmlformats.org/officeDocument/2006/relationships/tags" Target="../tags/tag160.xml"/><Relationship Id="rId10" Type="http://schemas.openxmlformats.org/officeDocument/2006/relationships/oleObject" Target="../embeddings/oleObject19.bin"/><Relationship Id="rId4" Type="http://schemas.openxmlformats.org/officeDocument/2006/relationships/tags" Target="../tags/tag159.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47"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95"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219"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243"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67"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291"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315"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339"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63"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87"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411"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435"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459"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483"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507"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531"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asvg="http://schemas.microsoft.com/office/drawing/2016/SVG/main"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555"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asvg="http://schemas.microsoft.com/office/drawing/2016/SVG/main"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579"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asvg="http://schemas.microsoft.com/office/drawing/2016/SVG/main"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603"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27"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651"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75"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tags" Target="../tags/tag10.xml"/><Relationship Id="rId39" Type="http://schemas.openxmlformats.org/officeDocument/2006/relationships/tags" Target="../tags/tag23.xml"/><Relationship Id="rId21" Type="http://schemas.openxmlformats.org/officeDocument/2006/relationships/slideLayout" Target="../slideLayouts/slideLayout35.xml"/><Relationship Id="rId34" Type="http://schemas.openxmlformats.org/officeDocument/2006/relationships/tags" Target="../tags/tag18.xml"/><Relationship Id="rId42" Type="http://schemas.openxmlformats.org/officeDocument/2006/relationships/tags" Target="../tags/tag26.xml"/><Relationship Id="rId47" Type="http://schemas.openxmlformats.org/officeDocument/2006/relationships/image" Target="../media/image3.svg"/><Relationship Id="rId7" Type="http://schemas.openxmlformats.org/officeDocument/2006/relationships/slideLayout" Target="../slideLayouts/slideLayout2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9" Type="http://schemas.openxmlformats.org/officeDocument/2006/relationships/tags" Target="../tags/tag13.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tags" Target="../tags/tag8.xml"/><Relationship Id="rId32" Type="http://schemas.openxmlformats.org/officeDocument/2006/relationships/tags" Target="../tags/tag16.xml"/><Relationship Id="rId37" Type="http://schemas.openxmlformats.org/officeDocument/2006/relationships/tags" Target="../tags/tag21.xml"/><Relationship Id="rId40" Type="http://schemas.openxmlformats.org/officeDocument/2006/relationships/tags" Target="../tags/tag24.xml"/><Relationship Id="rId45" Type="http://schemas.openxmlformats.org/officeDocument/2006/relationships/image" Target="../media/image1.emf"/><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vmlDrawing" Target="../drawings/vmlDrawing2.vml"/><Relationship Id="rId28" Type="http://schemas.openxmlformats.org/officeDocument/2006/relationships/tags" Target="../tags/tag12.xml"/><Relationship Id="rId36" Type="http://schemas.openxmlformats.org/officeDocument/2006/relationships/tags" Target="../tags/tag20.xml"/><Relationship Id="rId10" Type="http://schemas.openxmlformats.org/officeDocument/2006/relationships/slideLayout" Target="../slideLayouts/slideLayout24.xml"/><Relationship Id="rId19" Type="http://schemas.openxmlformats.org/officeDocument/2006/relationships/slideLayout" Target="../slideLayouts/slideLayout33.xml"/><Relationship Id="rId31" Type="http://schemas.openxmlformats.org/officeDocument/2006/relationships/tags" Target="../tags/tag15.xml"/><Relationship Id="rId44" Type="http://schemas.openxmlformats.org/officeDocument/2006/relationships/oleObject" Target="../embeddings/oleObject2.bin"/><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theme" Target="../theme/theme2.xml"/><Relationship Id="rId27" Type="http://schemas.openxmlformats.org/officeDocument/2006/relationships/tags" Target="../tags/tag11.xml"/><Relationship Id="rId30" Type="http://schemas.openxmlformats.org/officeDocument/2006/relationships/tags" Target="../tags/tag14.xml"/><Relationship Id="rId35" Type="http://schemas.openxmlformats.org/officeDocument/2006/relationships/tags" Target="../tags/tag19.xml"/><Relationship Id="rId43" Type="http://schemas.openxmlformats.org/officeDocument/2006/relationships/tags" Target="../tags/tag27.xml"/><Relationship Id="rId8" Type="http://schemas.openxmlformats.org/officeDocument/2006/relationships/slideLayout" Target="../slideLayouts/slideLayout22.xml"/><Relationship Id="rId3" Type="http://schemas.openxmlformats.org/officeDocument/2006/relationships/slideLayout" Target="../slideLayouts/slideLayout17.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tags" Target="../tags/tag9.xml"/><Relationship Id="rId33" Type="http://schemas.openxmlformats.org/officeDocument/2006/relationships/tags" Target="../tags/tag17.xml"/><Relationship Id="rId38" Type="http://schemas.openxmlformats.org/officeDocument/2006/relationships/tags" Target="../tags/tag22.xml"/><Relationship Id="rId46" Type="http://schemas.openxmlformats.org/officeDocument/2006/relationships/image" Target="../media/image2.png"/><Relationship Id="rId20" Type="http://schemas.openxmlformats.org/officeDocument/2006/relationships/slideLayout" Target="../slideLayouts/slideLayout34.xml"/><Relationship Id="rId41" Type="http://schemas.openxmlformats.org/officeDocument/2006/relationships/tags" Target="../tags/tag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71"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asvg="http://schemas.microsoft.com/office/drawing/2016/SVG/main"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10.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6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notesSlide" Target="../notesSlides/notesSlide3.xml"/><Relationship Id="rId7" Type="http://schemas.openxmlformats.org/officeDocument/2006/relationships/image" Target="../media/image17.png"/><Relationship Id="rId2" Type="http://schemas.openxmlformats.org/officeDocument/2006/relationships/slideLayout" Target="../slideLayouts/slideLayout13.xml"/><Relationship Id="rId1" Type="http://schemas.openxmlformats.org/officeDocument/2006/relationships/tags" Target="../tags/tag16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66.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18" Type="http://schemas.openxmlformats.org/officeDocument/2006/relationships/image" Target="../media/image33.png"/><Relationship Id="rId3" Type="http://schemas.openxmlformats.org/officeDocument/2006/relationships/notesSlide" Target="../notesSlides/notesSlide5.xml"/><Relationship Id="rId7" Type="http://schemas.openxmlformats.org/officeDocument/2006/relationships/image" Target="../media/image22.png"/><Relationship Id="rId12" Type="http://schemas.openxmlformats.org/officeDocument/2006/relationships/image" Target="../media/image27.png"/><Relationship Id="rId17" Type="http://schemas.openxmlformats.org/officeDocument/2006/relationships/image" Target="../media/image32.png"/><Relationship Id="rId2" Type="http://schemas.openxmlformats.org/officeDocument/2006/relationships/slideLayout" Target="../slideLayouts/slideLayout13.xml"/><Relationship Id="rId16" Type="http://schemas.openxmlformats.org/officeDocument/2006/relationships/image" Target="../media/image31.png"/><Relationship Id="rId1" Type="http://schemas.openxmlformats.org/officeDocument/2006/relationships/tags" Target="../tags/tag16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19" Type="http://schemas.openxmlformats.org/officeDocument/2006/relationships/image" Target="../media/image34.png"/><Relationship Id="rId4" Type="http://schemas.openxmlformats.org/officeDocument/2006/relationships/image" Target="../media/image12.png"/><Relationship Id="rId9" Type="http://schemas.openxmlformats.org/officeDocument/2006/relationships/image" Target="../media/image24.png"/><Relationship Id="rId14" Type="http://schemas.openxmlformats.org/officeDocument/2006/relationships/image" Target="../media/image29.png"/></Relationships>
</file>

<file path=ppt/slides/_rels/slide8.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1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notesSlide" Target="../notesSlides/notesSlide6.xml"/><Relationship Id="rId16" Type="http://schemas.openxmlformats.org/officeDocument/2006/relationships/image" Target="../media/image47.png"/><Relationship Id="rId1" Type="http://schemas.openxmlformats.org/officeDocument/2006/relationships/slideLayout" Target="../slideLayouts/slideLayout13.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12.png"/><Relationship Id="rId7" Type="http://schemas.openxmlformats.org/officeDocument/2006/relationships/image" Target="../media/image52.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tags" Target="../tags/tag169.xml"/><Relationship Id="rId7" Type="http://schemas.openxmlformats.org/officeDocument/2006/relationships/image" Target="../media/image54.emf"/><Relationship Id="rId2" Type="http://schemas.openxmlformats.org/officeDocument/2006/relationships/tags" Target="../tags/tag168.xml"/><Relationship Id="rId1" Type="http://schemas.openxmlformats.org/officeDocument/2006/relationships/vmlDrawing" Target="../drawings/vmlDrawing24.vml"/><Relationship Id="rId6" Type="http://schemas.openxmlformats.org/officeDocument/2006/relationships/oleObject" Target="../embeddings/oleObject22.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1.png"/></Relationships>
</file>

<file path=ppt/slides/_rels/slide1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4.png"/></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416760" y="2274307"/>
            <a:ext cx="11358479"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a:t>
            </a:r>
            <a:r>
              <a:rPr lang="vi-VN" sz="4800" b="1" dirty="0">
                <a:solidFill>
                  <a:prstClr val="white"/>
                </a:solidFill>
                <a:latin typeface="Calibri" charset="0"/>
                <a:ea typeface="Calibri" charset="0"/>
                <a:cs typeface="Calibri" charset="0"/>
              </a:rPr>
              <a:t>Workstation Data Ingestion Portal</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vi-VN" sz="2400" b="1" dirty="0">
                <a:solidFill>
                  <a:prstClr val="white"/>
                </a:solidFill>
                <a:latin typeface="Calibri"/>
                <a:ea typeface="Calibri"/>
                <a:cs typeface="Calibri"/>
              </a:rPr>
              <a:t>Mar</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a:solidFill>
                  <a:srgbClr val="FFB81C"/>
                </a:solidFill>
              </a:rPr>
              <a:t>Workstation Data Ingestion Portal</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908149"/>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a:solidFill>
                  <a:srgbClr val="0F172A"/>
                </a:solidFill>
                <a:latin typeface="Roboto SemiBold"/>
                <a:ea typeface="Roboto SemiBold"/>
                <a:cs typeface="Roboto SemiBold"/>
                <a:sym typeface="Roboto SemiBold"/>
              </a:rPr>
              <a:t>Một</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số</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công</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cụ</a:t>
            </a:r>
            <a:r>
              <a:rPr lang="en-US" b="0" i="0" u="none" strike="noStrike" cap="none" dirty="0">
                <a:solidFill>
                  <a:srgbClr val="0F172A"/>
                </a:solidFill>
                <a:latin typeface="Roboto SemiBold"/>
                <a:ea typeface="Roboto SemiBold"/>
                <a:cs typeface="Roboto SemiBold"/>
                <a:sym typeface="Roboto SemiBold"/>
              </a:rPr>
              <a:t> upload </a:t>
            </a:r>
            <a:r>
              <a:rPr lang="en-US" b="0" i="0" u="none" strike="noStrike" cap="none" dirty="0" err="1">
                <a:solidFill>
                  <a:srgbClr val="0F172A"/>
                </a:solidFill>
                <a:latin typeface="Roboto SemiBold"/>
                <a:ea typeface="Roboto SemiBold"/>
                <a:cs typeface="Roboto SemiBold"/>
                <a:sym typeface="Roboto SemiBold"/>
              </a:rPr>
              <a:t>hiện</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có</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tại</a:t>
            </a:r>
            <a:r>
              <a:rPr lang="en-US" b="0" i="0" u="none" strike="noStrike" cap="none" dirty="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Hệ</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thống</a:t>
            </a:r>
            <a:r>
              <a:rPr lang="en-US" sz="1200" b="1" i="0" u="none" strike="noStrike" cap="none" dirty="0">
                <a:solidFill>
                  <a:srgbClr val="0F172A"/>
                </a:solidFill>
                <a:latin typeface="Roboto"/>
                <a:ea typeface="Roboto"/>
                <a:cs typeface="Roboto"/>
                <a:sym typeface="Roboto"/>
              </a:rPr>
              <a:t> Data </a:t>
            </a:r>
            <a:r>
              <a:rPr lang="en-US" sz="1200" b="1" i="0" u="none" strike="noStrike" cap="none" dirty="0" err="1">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LDZ.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xử</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lý</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được</a:t>
            </a:r>
            <a:r>
              <a:rPr lang="en-US" sz="1200" b="0" i="0" u="none" strike="noStrike" cap="none" dirty="0">
                <a:solidFill>
                  <a:srgbClr val="64748B"/>
                </a:solidFill>
                <a:latin typeface="Open Sans"/>
                <a:ea typeface="Open Sans"/>
                <a:cs typeface="Open Sans"/>
                <a:sym typeface="Open Sans"/>
              </a:rPr>
              <a:t> file Excel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hạn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số</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100,000</a:t>
            </a:r>
            <a:r>
              <a:rPr lang="en-US" sz="1200" b="0" i="0" u="none" strike="noStrike" cap="none" dirty="0">
                <a:solidFill>
                  <a:srgbClr val="64748B"/>
                </a:solidFill>
                <a:latin typeface="Open Sans"/>
                <a:ea typeface="Open Sans"/>
                <a:cs typeface="Open Sans"/>
                <a:sym typeface="Open Sans"/>
              </a:rPr>
              <a:t>.bản </a:t>
            </a:r>
            <a:r>
              <a:rPr lang="en-US" sz="1200" b="0" i="0" u="none" strike="noStrike" cap="none" dirty="0" err="1">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MA Tool</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601355"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BDM </a:t>
            </a:r>
            <a:r>
              <a:rPr lang="en-US" sz="1200" b="0" i="0" u="none" strike="noStrike" cap="none" dirty="0" err="1">
                <a:solidFill>
                  <a:srgbClr val="64748B"/>
                </a:solidFill>
                <a:latin typeface="Open Sans"/>
                <a:ea typeface="Open Sans"/>
                <a:cs typeface="Open Sans"/>
                <a:sym typeface="Open Sans"/>
              </a:rPr>
              <a:t>theo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cơ</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SCD1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SCD2, </a:t>
            </a:r>
            <a:r>
              <a:rPr lang="en-US" sz="1200" b="0" i="0" u="none" strike="noStrike" cap="none" dirty="0" err="1">
                <a:solidFill>
                  <a:srgbClr val="64748B"/>
                </a:solidFill>
                <a:latin typeface="Open Sans"/>
                <a:ea typeface="Open Sans"/>
                <a:cs typeface="Open Sans"/>
                <a:sym typeface="Open Sans"/>
              </a:rPr>
              <a:t>có</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chức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năng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phân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quyền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nhập</a:t>
            </a:r>
            <a:r>
              <a:rPr lang="en-US" sz="1200" b="0" i="0" u="none" strike="noStrike" cap="none" dirty="0">
                <a:solidFill>
                  <a:srgbClr val="64748B"/>
                </a:solidFill>
                <a:latin typeface="Open Sans"/>
                <a:ea typeface="Open Sans"/>
                <a:cs typeface="Open Sans"/>
                <a:sym typeface="Open Sans"/>
              </a:rPr>
              <a:t>/</a:t>
            </a:r>
            <a:r>
              <a:rPr lang="vi-VN" sz="1200" b="0" i="0" u="none" strike="noStrike" cap="none" dirty="0">
                <a:solidFill>
                  <a:srgbClr val="64748B"/>
                </a:solidFill>
                <a:latin typeface="Open Sans"/>
                <a:ea typeface="Open Sans"/>
                <a:cs typeface="Open Sans"/>
                <a:sym typeface="Open Sans"/>
              </a:rPr>
              <a:t>duyệt. Không hỗ trợ file dung lượng lớn</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99465" y="3325536"/>
            <a:ext cx="2614311"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nhiều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định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dạng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bán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phi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ddung</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file </a:t>
            </a:r>
            <a:r>
              <a:rPr lang="en-US" sz="1200" dirty="0" err="1">
                <a:solidFill>
                  <a:srgbClr val="64748B"/>
                </a:solidFill>
                <a:latin typeface="Open Sans"/>
                <a:ea typeface="Open Sans"/>
                <a:cs typeface="Open Sans"/>
                <a:sym typeface="Open Sans"/>
              </a:rPr>
              <a:t>lớn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Hạn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về</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cơ</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phân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quyền</a:t>
            </a:r>
            <a:r>
              <a:rPr lang="en-US" sz="1200" dirty="0">
                <a:solidFill>
                  <a:srgbClr val="64748B"/>
                </a:solidFill>
                <a:latin typeface="Open Sans"/>
                <a:ea typeface="Open Sans"/>
                <a:cs typeface="Open Sans"/>
                <a:sym typeface="Open Sans"/>
              </a:rPr>
              <a:t>, audit log, preview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CSDL </a:t>
            </a:r>
            <a:r>
              <a:rPr lang="en-US" sz="1200" b="1" i="0" u="none" strike="noStrike" cap="none" dirty="0" err="1">
                <a:solidFill>
                  <a:srgbClr val="0F172A"/>
                </a:solidFill>
                <a:latin typeface="Roboto"/>
                <a:ea typeface="Roboto"/>
                <a:cs typeface="Roboto"/>
                <a:sym typeface="Roboto"/>
              </a:rPr>
              <a:t>Hành</a:t>
            </a:r>
            <a:r>
              <a:rPr lang="en-US" sz="1200" b="1" i="0" u="none" strike="noStrike" cap="none" dirty="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các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tiêu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tính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toán</a:t>
            </a:r>
            <a:r>
              <a:rPr lang="en-US" sz="1200" b="0" i="0" u="none" strike="noStrike" cap="none" dirty="0">
                <a:solidFill>
                  <a:srgbClr val="64748B"/>
                </a:solidFill>
                <a:latin typeface="Open Sans"/>
                <a:ea typeface="Open Sans"/>
                <a:cs typeface="Open Sans"/>
                <a:sym typeface="Open Sans"/>
              </a:rPr>
              <a:t> manual </a:t>
            </a:r>
            <a:r>
              <a:rPr lang="en-US" sz="1200" b="0" i="0" u="none" strike="noStrike" cap="none" dirty="0" err="1">
                <a:solidFill>
                  <a:srgbClr val="64748B"/>
                </a:solidFill>
                <a:latin typeface="Open Sans"/>
                <a:ea typeface="Open Sans"/>
                <a:cs typeface="Open Sans"/>
                <a:sym typeface="Open Sans"/>
              </a:rPr>
              <a:t>từ</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máy</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trạm</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vào</a:t>
            </a:r>
            <a:r>
              <a:rPr lang="en-US" sz="1200" b="0" i="0" u="none" strike="noStrike" cap="none" dirty="0">
                <a:solidFill>
                  <a:srgbClr val="64748B"/>
                </a:solidFill>
                <a:latin typeface="Open Sans"/>
                <a:ea typeface="Open Sans"/>
                <a:cs typeface="Open Sans"/>
                <a:sym typeface="Open Sans"/>
              </a:rPr>
              <a:t> CSDL </a:t>
            </a:r>
            <a:r>
              <a:rPr lang="en-US" sz="1200" b="0" i="0" u="none" strike="noStrike" cap="none" dirty="0" err="1">
                <a:solidFill>
                  <a:srgbClr val="64748B"/>
                </a:solidFill>
                <a:latin typeface="Open Sans"/>
                <a:ea typeface="Open Sans"/>
                <a:cs typeface="Open Sans"/>
                <a:sym typeface="Open Sans"/>
              </a:rPr>
              <a:t>Hành</a:t>
            </a:r>
            <a:r>
              <a:rPr lang="en-US" sz="1200" b="0" i="0" u="none" strike="noStrike" cap="none" dirty="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1441" y="4945463"/>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a:latin typeface="Roboto SemiBold"/>
                <a:sym typeface="Roboto SemiBold"/>
              </a:rPr>
              <a:t>Nội</a:t>
            </a:r>
            <a:r>
              <a:rPr lang="en-US" dirty="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680800"/>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đang</a:t>
            </a:r>
            <a:r>
              <a:rPr lang="en-US" sz="1200" b="0" i="0" u="none" strike="noStrike" cap="none" dirty="0">
                <a:solidFill>
                  <a:srgbClr val="4A5568"/>
                </a:solidFill>
                <a:latin typeface="Open Sans"/>
                <a:ea typeface="Open Sans"/>
                <a:cs typeface="Open Sans"/>
                <a:sym typeface="Open Sans"/>
              </a:rPr>
              <a:t> upload file </a:t>
            </a:r>
            <a:r>
              <a:rPr lang="en-US" sz="1200" b="0" i="0" u="none" strike="noStrike" cap="none" dirty="0" err="1">
                <a:solidFill>
                  <a:srgbClr val="4A5568"/>
                </a:solidFill>
                <a:latin typeface="Open Sans"/>
                <a:ea typeface="Open Sans"/>
                <a:cs typeface="Open Sans"/>
                <a:sym typeface="Open Sans"/>
              </a:rPr>
              <a:t>thông</a:t>
            </a:r>
            <a:r>
              <a:rPr lang="en-US" sz="1200" b="0" i="0" u="none" strike="noStrike" cap="none" dirty="0">
                <a:solidFill>
                  <a:srgbClr val="4A5568"/>
                </a:solidFill>
                <a:latin typeface="Open Sans"/>
                <a:ea typeface="Open Sans"/>
                <a:cs typeface="Open Sans"/>
                <a:sym typeface="Open Sans"/>
              </a:rPr>
              <a:t> tin </a:t>
            </a:r>
            <a:r>
              <a:rPr lang="en-US" sz="1200" b="0" i="0" u="none" strike="noStrike" cap="none" dirty="0" err="1">
                <a:solidFill>
                  <a:srgbClr val="4A5568"/>
                </a:solidFill>
                <a:latin typeface="Open Sans"/>
                <a:ea typeface="Open Sans"/>
                <a:cs typeface="Open Sans"/>
                <a:sym typeface="Open Sans"/>
              </a:rPr>
              <a:t>người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nộp</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thuế</a:t>
            </a:r>
            <a:r>
              <a:rPr lang="en-US" sz="1200" b="0" i="0" u="none" strike="noStrike" cap="none" dirty="0">
                <a:solidFill>
                  <a:srgbClr val="4A5568"/>
                </a:solidFill>
                <a:latin typeface="Open Sans"/>
                <a:ea typeface="Open Sans"/>
                <a:cs typeface="Open Sans"/>
                <a:sym typeface="Open Sans"/>
              </a:rPr>
              <a:t> qua </a:t>
            </a:r>
            <a:r>
              <a:rPr lang="en-US" sz="1200" b="0" i="0" u="none" strike="noStrike" cap="none" dirty="0" err="1">
                <a:solidFill>
                  <a:srgbClr val="4A5568"/>
                </a:solidFill>
                <a:latin typeface="Open Sans"/>
                <a:ea typeface="Open Sans"/>
                <a:cs typeface="Open Sans"/>
                <a:sym typeface="Open Sans"/>
              </a:rPr>
              <a:t>hệ</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thống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này</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được</a:t>
            </a:r>
            <a:r>
              <a:rPr lang="en-US" sz="1200" b="0" i="0" u="none" strike="noStrike" cap="none" dirty="0">
                <a:solidFill>
                  <a:srgbClr val="4A5568"/>
                </a:solidFill>
                <a:latin typeface="Open Sans"/>
                <a:ea typeface="Open Sans"/>
                <a:cs typeface="Open Sans"/>
                <a:sym typeface="Open Sans"/>
              </a:rPr>
              <a:t> ETL </a:t>
            </a:r>
            <a:r>
              <a:rPr lang="en-US" sz="1200" b="0" i="0" u="none" strike="noStrike" cap="none" dirty="0" err="1">
                <a:solidFill>
                  <a:srgbClr val="4A5568"/>
                </a:solidFill>
                <a:latin typeface="Open Sans"/>
                <a:ea typeface="Open Sans"/>
                <a:cs typeface="Open Sans"/>
                <a:sym typeface="Open Sans"/>
              </a:rPr>
              <a:t>về</a:t>
            </a:r>
            <a:r>
              <a:rPr lang="en-US" sz="1200" b="0" i="0" u="none" strike="noStrike" cap="none" dirty="0">
                <a:solidFill>
                  <a:srgbClr val="4A5568"/>
                </a:solidFill>
                <a:latin typeface="Open Sans"/>
                <a:ea typeface="Open Sans"/>
                <a:cs typeface="Open Sans"/>
                <a:sym typeface="Open Sans"/>
              </a:rPr>
              <a:t> LDZ </a:t>
            </a:r>
            <a:r>
              <a:rPr lang="en-US" sz="1200" b="0" i="0" u="none" strike="noStrike" cap="none" dirty="0" err="1">
                <a:solidFill>
                  <a:srgbClr val="4A5568"/>
                </a:solidFill>
                <a:latin typeface="Open Sans"/>
                <a:ea typeface="Open Sans"/>
                <a:cs typeface="Open Sans"/>
                <a:sym typeface="Open Sans"/>
              </a:rPr>
              <a:t>và</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thực</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hiện</a:t>
            </a:r>
            <a:r>
              <a:rPr lang="en-US" sz="1200" b="0" i="0" u="none" strike="noStrike" cap="none" dirty="0">
                <a:solidFill>
                  <a:srgbClr val="4A5568"/>
                </a:solidFill>
                <a:latin typeface="Open Sans"/>
                <a:ea typeface="Open Sans"/>
                <a:cs typeface="Open Sans"/>
                <a:sym typeface="Open Sans"/>
              </a:rPr>
              <a:t> map </a:t>
            </a:r>
            <a:r>
              <a:rPr lang="en-US" sz="1200" b="0" i="0" u="none" strike="noStrike" cap="none" dirty="0" err="1">
                <a:solidFill>
                  <a:srgbClr val="4A5568"/>
                </a:solidFill>
                <a:latin typeface="Open Sans"/>
                <a:ea typeface="Open Sans"/>
                <a:cs typeface="Open Sans"/>
                <a:sym typeface="Open Sans"/>
              </a:rPr>
              <a:t>với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MSB. File </a:t>
            </a:r>
            <a:r>
              <a:rPr lang="en-US" sz="1200" b="0" i="0" u="none" strike="noStrike" cap="none" dirty="0" err="1">
                <a:solidFill>
                  <a:srgbClr val="4A5568"/>
                </a:solidFill>
                <a:latin typeface="Open Sans"/>
                <a:ea typeface="Open Sans"/>
                <a:cs typeface="Open Sans"/>
                <a:sym typeface="Open Sans"/>
              </a:rPr>
              <a:t>kết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quả</a:t>
            </a:r>
            <a:r>
              <a:rPr lang="en-US" sz="1200" b="0" i="0" u="none" strike="noStrike" cap="none"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trả</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về</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cho</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dirty="0">
                <a:solidFill>
                  <a:srgbClr val="4A5568"/>
                </a:solidFill>
                <a:latin typeface="Open Sans"/>
                <a:ea typeface="Open Sans"/>
                <a:cs typeface="Open Sans"/>
                <a:sym typeface="Open Sans"/>
              </a:rPr>
              <a:t> qua </a:t>
            </a:r>
            <a:r>
              <a:rPr lang="en-US" sz="1200" dirty="0" err="1">
                <a:solidFill>
                  <a:srgbClr val="4A5568"/>
                </a:solidFill>
                <a:latin typeface="Open Sans"/>
                <a:ea typeface="Open Sans"/>
                <a:cs typeface="Open Sans"/>
                <a:sym typeface="Open Sans"/>
              </a:rPr>
              <a:t>hệ</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thống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3" y="2734605"/>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a:solidFill>
                  <a:srgbClr val="4A5568"/>
                </a:solidFill>
                <a:latin typeface="Open Sans"/>
                <a:ea typeface="Open Sans"/>
                <a:cs typeface="Open Sans"/>
                <a:sym typeface="Open Sans"/>
              </a:rPr>
              <a:t>Thiết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tuân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thủ</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quy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hoạch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kiến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Reconcile”</a:t>
            </a:r>
          </a:p>
          <a:p>
            <a:pPr marL="0" marR="0" lvl="0" indent="0" algn="l" rtl="0">
              <a:lnSpc>
                <a:spcPct val="160000"/>
              </a:lnSpc>
              <a:spcBef>
                <a:spcPts val="0"/>
              </a:spcBef>
              <a:spcAft>
                <a:spcPts val="0"/>
              </a:spcAft>
              <a:buNone/>
            </a:pPr>
            <a:endParaRPr sz="1200" dirty="0"/>
          </a:p>
        </p:txBody>
      </p:sp>
      <p:sp>
        <p:nvSpPr>
          <p:cNvPr id="43" name="Google Shape;304;p20">
            <a:extLst>
              <a:ext uri="{FF2B5EF4-FFF2-40B4-BE49-F238E27FC236}">
                <a16:creationId xmlns:a16="http://schemas.microsoft.com/office/drawing/2014/main" id="{424237B8-B274-4EF2-B229-599BF89C5B89}"/>
              </a:ext>
            </a:extLst>
          </p:cNvPr>
          <p:cNvSpPr txBox="1"/>
          <p:nvPr/>
        </p:nvSpPr>
        <p:spPr>
          <a:xfrm>
            <a:off x="670603" y="3842600"/>
            <a:ext cx="4953000" cy="590931"/>
          </a:xfrm>
          <a:prstGeom prst="rect">
            <a:avLst/>
          </a:prstGeom>
          <a:noFill/>
          <a:ln>
            <a:noFill/>
          </a:ln>
        </p:spPr>
        <p:txBody>
          <a:bodyPr spcFirstLastPara="1" wrap="square" lIns="0" tIns="0" rIns="0" bIns="0" anchor="t" anchorCtr="0">
            <a:spAutoFit/>
          </a:bodyPr>
          <a:lstStyle/>
          <a:p>
            <a:pPr lvl="0">
              <a:lnSpc>
                <a:spcPct val="160000"/>
              </a:lnSpc>
            </a:pPr>
            <a:r>
              <a:rPr lang="en-US" sz="1200" dirty="0">
                <a:solidFill>
                  <a:srgbClr val="4A5568"/>
                </a:solidFill>
                <a:latin typeface="Open Sans"/>
                <a:ea typeface="Open Sans"/>
                <a:cs typeface="Open Sans"/>
                <a:sym typeface="Open Sans"/>
              </a:rPr>
              <a:t>TTDLL </a:t>
            </a:r>
            <a:r>
              <a:rPr lang="en-US" sz="1200" dirty="0" err="1">
                <a:solidFill>
                  <a:srgbClr val="4A5568"/>
                </a:solidFill>
                <a:latin typeface="Open Sans"/>
                <a:ea typeface="Open Sans"/>
                <a:cs typeface="Open Sans"/>
                <a:sym typeface="Open Sans"/>
              </a:rPr>
              <a:t>có</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một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số</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cụ</a:t>
            </a:r>
            <a:r>
              <a:rPr lang="en-US" sz="1200" dirty="0">
                <a:solidFill>
                  <a:srgbClr val="4A5568"/>
                </a:solidFill>
                <a:latin typeface="Open Sans"/>
                <a:ea typeface="Open Sans"/>
                <a:cs typeface="Open Sans"/>
                <a:sym typeface="Open Sans"/>
              </a:rPr>
              <a:t> upload file </a:t>
            </a:r>
            <a:r>
              <a:rPr lang="en-US" sz="1200" dirty="0" err="1">
                <a:solidFill>
                  <a:srgbClr val="4A5568"/>
                </a:solidFill>
                <a:latin typeface="Open Sans"/>
                <a:ea typeface="Open Sans"/>
                <a:cs typeface="Open Sans"/>
                <a:sym typeface="Open Sans"/>
              </a:rPr>
              <a:t>như</a:t>
            </a:r>
            <a:r>
              <a:rPr lang="en-US" sz="1200" dirty="0">
                <a:solidFill>
                  <a:srgbClr val="4A5568"/>
                </a:solidFill>
                <a:latin typeface="Open Sans"/>
                <a:ea typeface="Open Sans"/>
                <a:cs typeface="Open Sans"/>
                <a:sym typeface="Open Sans"/>
              </a:rPr>
              <a:t> Data </a:t>
            </a:r>
            <a:r>
              <a:rPr lang="en-US" sz="1200" dirty="0" err="1">
                <a:solidFill>
                  <a:srgbClr val="4A5568"/>
                </a:solidFill>
                <a:latin typeface="Open Sans"/>
                <a:ea typeface="Open Sans"/>
                <a:cs typeface="Open Sans"/>
                <a:sym typeface="Open Sans"/>
              </a:rPr>
              <a:t>Gov</a:t>
            </a:r>
            <a:r>
              <a:rPr lang="en-US" sz="1200" dirty="0">
                <a:solidFill>
                  <a:srgbClr val="4A5568"/>
                </a:solidFill>
                <a:latin typeface="Open Sans"/>
                <a:ea typeface="Open Sans"/>
                <a:cs typeface="Open Sans"/>
                <a:sym typeface="Open Sans"/>
              </a:rPr>
              <a:t>, MA Tool, CSDL </a:t>
            </a:r>
            <a:r>
              <a:rPr lang="en-US" sz="1200" dirty="0" err="1">
                <a:solidFill>
                  <a:srgbClr val="4A5568"/>
                </a:solidFill>
                <a:latin typeface="Open Sans"/>
                <a:ea typeface="Open Sans"/>
                <a:cs typeface="Open Sans"/>
                <a:sym typeface="Open Sans"/>
              </a:rPr>
              <a:t>Hành</a:t>
            </a:r>
            <a:r>
              <a:rPr lang="en-US" sz="1200" dirty="0">
                <a:solidFill>
                  <a:srgbClr val="4A5568"/>
                </a:solidFill>
                <a:latin typeface="Open Sans"/>
                <a:ea typeface="Open Sans"/>
                <a:cs typeface="Open Sans"/>
                <a:sym typeface="Open Sans"/>
              </a:rPr>
              <a:t> vi … </a:t>
            </a:r>
            <a:r>
              <a:rPr lang="en-US" sz="1200" dirty="0" err="1">
                <a:solidFill>
                  <a:srgbClr val="4A5568"/>
                </a:solidFill>
                <a:latin typeface="Open Sans"/>
                <a:ea typeface="Open Sans"/>
                <a:cs typeface="Open Sans"/>
                <a:sym typeface="Open Sans"/>
              </a:rPr>
              <a:t>tuy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nhiên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các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hỗ</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trợ</a:t>
            </a:r>
            <a:r>
              <a:rPr lang="en-US" sz="1200" dirty="0">
                <a:solidFill>
                  <a:srgbClr val="4A5568"/>
                </a:solidFill>
                <a:latin typeface="Open Sans"/>
                <a:ea typeface="Open Sans"/>
                <a:cs typeface="Open Sans"/>
                <a:sym typeface="Open Sans"/>
              </a:rPr>
              <a:t> upload file XML </a:t>
            </a: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Một</a:t>
            </a:r>
            <a:r>
              <a:rPr lang="en-US" sz="1200" b="1" dirty="0">
                <a:solidFill>
                  <a:srgbClr val="0F172A"/>
                </a:solidFill>
                <a:latin typeface="Roboto"/>
                <a:sym typeface="Roboto"/>
              </a:rPr>
              <a:t> </a:t>
            </a:r>
            <a:r>
              <a:rPr lang="en-US" sz="1200" b="1" dirty="0" err="1">
                <a:solidFill>
                  <a:srgbClr val="0F172A"/>
                </a:solidFill>
                <a:latin typeface="Roboto"/>
                <a:sym typeface="Roboto"/>
              </a:rPr>
              <a:t>số</a:t>
            </a:r>
            <a:r>
              <a:rPr lang="en-US" sz="1200" b="1" dirty="0">
                <a:solidFill>
                  <a:srgbClr val="0F172A"/>
                </a:solidFill>
                <a:latin typeface="Roboto"/>
                <a:sym typeface="Roboto"/>
              </a:rPr>
              <a:t> </a:t>
            </a:r>
            <a:r>
              <a:rPr lang="en-US" sz="1200" b="1" dirty="0" err="1">
                <a:solidFill>
                  <a:srgbClr val="0F172A"/>
                </a:solidFill>
                <a:latin typeface="Roboto"/>
                <a:sym typeface="Roboto"/>
              </a:rPr>
              <a:t>hạn</a:t>
            </a:r>
            <a:r>
              <a:rPr lang="en-US" sz="1200" b="1" dirty="0">
                <a:solidFill>
                  <a:srgbClr val="0F172A"/>
                </a:solidFill>
                <a:latin typeface="Roboto"/>
                <a:sym typeface="Roboto"/>
              </a:rPr>
              <a:t> </a:t>
            </a:r>
            <a:r>
              <a:rPr lang="en-US" sz="1200" b="1" dirty="0" err="1">
                <a:solidFill>
                  <a:srgbClr val="0F172A"/>
                </a:solidFill>
                <a:latin typeface="Roboto"/>
                <a:sym typeface="Roboto"/>
              </a:rPr>
              <a:t>chế</a:t>
            </a:r>
            <a:r>
              <a:rPr lang="en-US" sz="1200" b="1" dirty="0">
                <a:solidFill>
                  <a:srgbClr val="0F172A"/>
                </a:solidFill>
                <a:latin typeface="Roboto"/>
                <a:sym typeface="Roboto"/>
              </a:rPr>
              <a:t> </a:t>
            </a:r>
            <a:r>
              <a:rPr lang="en-US" sz="1200" b="1" dirty="0" err="1">
                <a:solidFill>
                  <a:srgbClr val="0F172A"/>
                </a:solidFill>
                <a:latin typeface="Roboto"/>
                <a:sym typeface="Roboto"/>
              </a:rPr>
              <a:t>chung</a:t>
            </a:r>
            <a:r>
              <a:rPr lang="en-US" sz="1200" b="1" dirty="0">
                <a:solidFill>
                  <a:srgbClr val="0F172A"/>
                </a:solidFill>
                <a:latin typeface="Roboto"/>
                <a:sym typeface="Roboto"/>
              </a:rPr>
              <a:t> </a:t>
            </a:r>
            <a:r>
              <a:rPr lang="en-US" sz="1200" b="1" dirty="0" err="1">
                <a:solidFill>
                  <a:srgbClr val="0F172A"/>
                </a:solidFill>
                <a:latin typeface="Roboto"/>
                <a:sym typeface="Roboto"/>
              </a:rPr>
              <a:t>của</a:t>
            </a:r>
            <a:r>
              <a:rPr lang="en-US" sz="1200" b="1" dirty="0">
                <a:solidFill>
                  <a:srgbClr val="0F172A"/>
                </a:solidFill>
                <a:latin typeface="Roboto"/>
                <a:sym typeface="Roboto"/>
              </a:rPr>
              <a:t> </a:t>
            </a:r>
            <a:r>
              <a:rPr lang="en-US" sz="1200" b="1" dirty="0" err="1">
                <a:solidFill>
                  <a:srgbClr val="0F172A"/>
                </a:solidFill>
                <a:latin typeface="Roboto"/>
                <a:sym typeface="Roboto"/>
              </a:rPr>
              <a:t>các</a:t>
            </a:r>
            <a:r>
              <a:rPr lang="en-US" sz="1200" b="1" dirty="0">
                <a:solidFill>
                  <a:srgbClr val="0F172A"/>
                </a:solidFill>
                <a:latin typeface="Roboto"/>
                <a:sym typeface="Roboto"/>
              </a:rPr>
              <a:t> </a:t>
            </a:r>
            <a:r>
              <a:rPr lang="en-US" sz="1200" b="1" dirty="0" err="1">
                <a:solidFill>
                  <a:srgbClr val="0F172A"/>
                </a:solidFill>
                <a:latin typeface="Roboto"/>
                <a:sym typeface="Roboto"/>
              </a:rPr>
              <a:t>công</a:t>
            </a:r>
            <a:r>
              <a:rPr lang="en-US" sz="1200" b="1" dirty="0">
                <a:solidFill>
                  <a:srgbClr val="0F172A"/>
                </a:solidFill>
                <a:latin typeface="Roboto"/>
                <a:sym typeface="Roboto"/>
              </a:rPr>
              <a:t> </a:t>
            </a:r>
            <a:r>
              <a:rPr lang="en-US" sz="1200" b="1" dirty="0" err="1">
                <a:solidFill>
                  <a:srgbClr val="0F172A"/>
                </a:solidFill>
                <a:latin typeface="Roboto"/>
                <a:sym typeface="Roboto"/>
              </a:rPr>
              <a:t>cụ</a:t>
            </a:r>
            <a:r>
              <a:rPr lang="en-US" sz="1200" b="1" dirty="0">
                <a:solidFill>
                  <a:srgbClr val="0F172A"/>
                </a:solidFill>
                <a:latin typeface="Roboto"/>
                <a:sym typeface="Roboto"/>
              </a:rPr>
              <a:t> Upload </a:t>
            </a:r>
            <a:r>
              <a:rPr lang="en-US" sz="1200" b="1" dirty="0" err="1">
                <a:solidFill>
                  <a:srgbClr val="0F172A"/>
                </a:solidFill>
                <a:latin typeface="Roboto"/>
                <a:sym typeface="Roboto"/>
              </a:rPr>
              <a:t>hiện</a:t>
            </a:r>
            <a:r>
              <a:rPr lang="en-US" sz="1200" b="1" dirty="0">
                <a:solidFill>
                  <a:srgbClr val="0F172A"/>
                </a:solidFill>
                <a:latin typeface="Roboto"/>
                <a:sym typeface="Roboto"/>
              </a:rPr>
              <a:t> </a:t>
            </a:r>
            <a:r>
              <a:rPr lang="en-US" sz="1200" b="1" dirty="0" err="1">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Chỉ</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hỗ</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trợ</a:t>
            </a:r>
            <a:r>
              <a:rPr lang="en-US" sz="1200" dirty="0">
                <a:latin typeface="Open Sans"/>
                <a:cs typeface="Calibri" panose="020F0502020204030204" pitchFamily="34" charset="0"/>
              </a:rPr>
              <a:t> file Excel, </a:t>
            </a:r>
            <a:r>
              <a:rPr lang="en-US" sz="1200" dirty="0" err="1">
                <a:latin typeface="Open Sans"/>
                <a:cs typeface="Calibri" panose="020F0502020204030204" pitchFamily="34" charset="0"/>
              </a:rPr>
              <a:t>hạn</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về</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số</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lượng</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bản</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ghi</a:t>
            </a:r>
            <a:r>
              <a:rPr lang="en-US" sz="1200" dirty="0">
                <a:latin typeface="Open Sans"/>
                <a:cs typeface="Calibri" panose="020F0502020204030204" pitchFamily="34" charset="0"/>
              </a:rPr>
              <a:t>, dung </a:t>
            </a:r>
            <a:r>
              <a:rPr lang="en-US" sz="1200" dirty="0" err="1">
                <a:latin typeface="Open Sans"/>
                <a:cs typeface="Calibri" panose="020F0502020204030204" pitchFamily="34" charset="0"/>
              </a:rPr>
              <a:t>lượng</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Chưa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có</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cơ</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kiểm</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chất</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lượng</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dữ</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liệu</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cho</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phép</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người</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dùng</a:t>
            </a:r>
            <a:r>
              <a:rPr lang="en-US" sz="1200" dirty="0">
                <a:latin typeface="Open Sans"/>
                <a:cs typeface="Calibri" panose="020F0502020204030204" pitchFamily="34" charset="0"/>
              </a:rPr>
              <a:t> overview </a:t>
            </a:r>
            <a:r>
              <a:rPr lang="en-US" sz="1200" dirty="0" err="1">
                <a:latin typeface="Open Sans"/>
                <a:cs typeface="Calibri" panose="020F0502020204030204" pitchFamily="34" charset="0"/>
              </a:rPr>
              <a:t>và</a:t>
            </a:r>
            <a:r>
              <a:rPr lang="en-US" sz="1200" dirty="0">
                <a:latin typeface="Open Sans"/>
                <a:cs typeface="Calibri" panose="020F0502020204030204" pitchFamily="34" charset="0"/>
              </a:rPr>
              <a:t> preview </a:t>
            </a:r>
            <a:r>
              <a:rPr lang="en-US" sz="1200" dirty="0" err="1">
                <a:latin typeface="Open Sans"/>
                <a:cs typeface="Calibri" panose="020F0502020204030204" pitchFamily="34" charset="0"/>
              </a:rPr>
              <a:t>dữ</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liệu</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a:latin typeface="Open Sans"/>
                <a:cs typeface="Calibri" panose="020F0502020204030204" pitchFamily="34" charset="0"/>
              </a:rPr>
              <a:t>Upload qua EDP: </a:t>
            </a:r>
            <a:r>
              <a:rPr lang="vi-VN" sz="1200" dirty="0">
                <a:latin typeface="Open Sans"/>
                <a:cs typeface="Calibri" panose="020F0502020204030204" pitchFamily="34" charset="0"/>
              </a:rPr>
              <a:t>thuần kỹ thuật, chưa có quy trình nghiệp vụ upload</a:t>
            </a:r>
          </a:p>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Chưa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hỗ</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trợ</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cơ</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nhập</a:t>
            </a:r>
            <a:r>
              <a:rPr lang="en-US" sz="1200" dirty="0">
                <a:latin typeface="Open Sans"/>
                <a:cs typeface="Calibri" panose="020F0502020204030204" pitchFamily="34" charset="0"/>
              </a:rPr>
              <a:t>/</a:t>
            </a:r>
            <a:r>
              <a:rPr lang="en-US" sz="1200" dirty="0" err="1">
                <a:latin typeface="Open Sans"/>
                <a:cs typeface="Calibri" panose="020F0502020204030204" pitchFamily="34" charset="0"/>
              </a:rPr>
              <a:t>duyệt</a:t>
            </a:r>
            <a:endParaRPr lang="vi-VN" sz="1200" dirty="0">
              <a:latin typeface="Open Sans"/>
              <a:cs typeface="Calibri" panose="020F0502020204030204" pitchFamily="34" charset="0"/>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313244"/>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3200" dirty="0">
                <a:solidFill>
                  <a:srgbClr val="F04E23"/>
                </a:solidFill>
                <a:latin typeface="Calibri" panose="020F0502020204030204" pitchFamily="34" charset="0"/>
                <a:ea typeface="Calibri" charset="0"/>
                <a:cs typeface="Calibri" panose="020F0502020204030204" pitchFamily="34" charset="0"/>
              </a:rPr>
              <a:t>Phân tích yêu cầu – Hiện trạng hệ thống</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1434725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37" name="Google Shape;216;p17" descr="image.png">
            <a:extLst>
              <a:ext uri="{FF2B5EF4-FFF2-40B4-BE49-F238E27FC236}">
                <a16:creationId xmlns:a16="http://schemas.microsoft.com/office/drawing/2014/main" id="{281AD9D5-E8B9-45FF-A423-79BE7DECA111}"/>
              </a:ext>
            </a:extLst>
          </p:cNvPr>
          <p:cNvPicPr preferRelativeResize="0"/>
          <p:nvPr/>
        </p:nvPicPr>
        <p:blipFill rotWithShape="1">
          <a:blip r:embed="rId4">
            <a:alphaModFix/>
          </a:blip>
          <a:srcRect/>
          <a:stretch/>
        </p:blipFill>
        <p:spPr>
          <a:xfrm>
            <a:off x="3236789" y="4657857"/>
            <a:ext cx="2565721" cy="15746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276999"/>
          </a:xfrm>
          <a:prstGeom prst="rect">
            <a:avLst/>
          </a:prstGeom>
          <a:noFill/>
          <a:ln>
            <a:noFill/>
          </a:ln>
        </p:spPr>
        <p:txBody>
          <a:bodyPr spcFirstLastPara="1" wrap="square" lIns="361950" tIns="0" rIns="0" bIns="0" anchor="t" anchorCtr="0">
            <a:spAutoFit/>
          </a:bodyPr>
          <a:lstStyle/>
          <a:p>
            <a:pPr lvl="0"/>
            <a:r>
              <a:rPr lang="en-US" b="0" i="0" u="none" strike="noStrike" cap="none" dirty="0" err="1">
                <a:solidFill>
                  <a:srgbClr val="00A8E8"/>
                </a:solidFill>
                <a:latin typeface="Roboto SemiBold"/>
                <a:ea typeface="Roboto SemiBold"/>
                <a:cs typeface="Roboto SemiBold"/>
                <a:sym typeface="Roboto SemiBold"/>
              </a:rPr>
              <a:t>Hệ</a:t>
            </a:r>
            <a:r>
              <a:rPr lang="en-US" b="0" i="0" u="none" strike="noStrike" cap="none" dirty="0">
                <a:solidFill>
                  <a:srgbClr val="00A8E8"/>
                </a:solidFill>
                <a:latin typeface="Roboto SemiBold"/>
                <a:ea typeface="Roboto SemiBold"/>
                <a:cs typeface="Roboto SemiBold"/>
                <a:sym typeface="Roboto SemiBold"/>
              </a:rPr>
              <a:t> </a:t>
            </a:r>
            <a:r>
              <a:rPr lang="en-US" b="0" i="0" u="none" strike="noStrike" cap="none" dirty="0" err="1">
                <a:solidFill>
                  <a:srgbClr val="00A8E8"/>
                </a:solidFill>
                <a:latin typeface="Roboto SemiBold"/>
                <a:ea typeface="Roboto SemiBold"/>
                <a:cs typeface="Roboto SemiBold"/>
                <a:sym typeface="Roboto SemiBold"/>
              </a:rPr>
              <a:t>thống</a:t>
            </a:r>
            <a:r>
              <a:rPr lang="en-US" b="0" i="0" u="none" strike="noStrike" cap="none" dirty="0">
                <a:solidFill>
                  <a:srgbClr val="00A8E8"/>
                </a:solidFill>
                <a:latin typeface="Roboto SemiBold"/>
                <a:ea typeface="Roboto SemiBold"/>
                <a:cs typeface="Roboto SemiBold"/>
                <a:sym typeface="Roboto SemiBold"/>
              </a:rPr>
              <a:t> </a:t>
            </a:r>
            <a:r>
              <a:rPr lang="en-US" dirty="0">
                <a:solidFill>
                  <a:srgbClr val="00A8E8"/>
                </a:solidFill>
                <a:latin typeface="Roboto SemiBold"/>
                <a:ea typeface="Roboto SemiBold"/>
                <a:cs typeface="Roboto SemiBold"/>
                <a:sym typeface="Roboto SemiBold"/>
              </a:rPr>
              <a:t>Workstation Data Ingestion Portal</a:t>
            </a:r>
            <a:endParaRPr dirty="0"/>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Đa</a:t>
            </a:r>
            <a:r>
              <a:rPr lang="en-US" sz="1200" b="1" dirty="0">
                <a:solidFill>
                  <a:srgbClr val="0F172A"/>
                </a:solidFill>
                <a:latin typeface="Roboto"/>
                <a:sym typeface="Roboto"/>
              </a:rPr>
              <a:t> </a:t>
            </a:r>
            <a:r>
              <a:rPr lang="en-US" sz="1200" b="1" dirty="0" err="1">
                <a:solidFill>
                  <a:srgbClr val="0F172A"/>
                </a:solidFill>
                <a:latin typeface="Roboto"/>
                <a:sym typeface="Roboto"/>
              </a:rPr>
              <a:t>dạng</a:t>
            </a:r>
            <a:r>
              <a:rPr lang="en-US" sz="1200" b="1" dirty="0">
                <a:solidFill>
                  <a:srgbClr val="0F172A"/>
                </a:solidFill>
                <a:latin typeface="Roboto"/>
                <a:sym typeface="Roboto"/>
              </a:rPr>
              <a:t> </a:t>
            </a:r>
            <a:r>
              <a:rPr lang="en-US" sz="1200" b="1" dirty="0" err="1">
                <a:solidFill>
                  <a:srgbClr val="0F172A"/>
                </a:solidFill>
                <a:latin typeface="Roboto"/>
                <a:sym typeface="Roboto"/>
              </a:rPr>
              <a:t>loại</a:t>
            </a:r>
            <a:r>
              <a:rPr lang="en-US" sz="1200" b="1" dirty="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sym typeface="Open Sans"/>
              </a:rPr>
              <a:t>Hỗ</a:t>
            </a:r>
            <a:r>
              <a:rPr lang="en-US" sz="1200" dirty="0">
                <a:solidFill>
                  <a:srgbClr val="64748B"/>
                </a:solidFill>
                <a:latin typeface="Open Sans"/>
                <a:sym typeface="Open Sans"/>
              </a:rPr>
              <a:t> </a:t>
            </a:r>
            <a:r>
              <a:rPr lang="en-US" sz="1200" dirty="0" err="1">
                <a:solidFill>
                  <a:srgbClr val="64748B"/>
                </a:solidFill>
                <a:latin typeface="Open Sans"/>
                <a:sym typeface="Open Sans"/>
              </a:rPr>
              <a:t>trợ</a:t>
            </a:r>
            <a:r>
              <a:rPr lang="en-US" sz="1200" dirty="0">
                <a:solidFill>
                  <a:srgbClr val="64748B"/>
                </a:solidFill>
                <a:latin typeface="Open Sans"/>
                <a:sym typeface="Open Sans"/>
              </a:rPr>
              <a:t> </a:t>
            </a:r>
            <a:r>
              <a:rPr lang="en-US" sz="1200" dirty="0" err="1">
                <a:solidFill>
                  <a:srgbClr val="64748B"/>
                </a:solidFill>
                <a:latin typeface="Open Sans"/>
                <a:sym typeface="Open Sans"/>
              </a:rPr>
              <a:t>nhiều</a:t>
            </a:r>
            <a:r>
              <a:rPr lang="en-US" sz="1200" dirty="0">
                <a:solidFill>
                  <a:srgbClr val="64748B"/>
                </a:solidFill>
                <a:latin typeface="Open Sans"/>
                <a:sym typeface="Open Sans"/>
              </a:rPr>
              <a:t> </a:t>
            </a:r>
            <a:r>
              <a:rPr lang="en-US" sz="1200" dirty="0" err="1">
                <a:solidFill>
                  <a:srgbClr val="64748B"/>
                </a:solidFill>
                <a:latin typeface="Open Sans"/>
                <a:sym typeface="Open Sans"/>
              </a:rPr>
              <a:t>định</a:t>
            </a:r>
            <a:r>
              <a:rPr lang="en-US" sz="1200" dirty="0">
                <a:solidFill>
                  <a:srgbClr val="64748B"/>
                </a:solidFill>
                <a:latin typeface="Open Sans"/>
                <a:sym typeface="Open Sans"/>
              </a:rPr>
              <a:t> </a:t>
            </a:r>
            <a:r>
              <a:rPr lang="en-US" sz="1200" dirty="0" err="1">
                <a:solidFill>
                  <a:srgbClr val="64748B"/>
                </a:solidFill>
                <a:latin typeface="Open Sans"/>
                <a:sym typeface="Open Sans"/>
              </a:rPr>
              <a:t>dạng</a:t>
            </a:r>
            <a:r>
              <a:rPr lang="en-US" sz="1200" dirty="0">
                <a:solidFill>
                  <a:srgbClr val="64748B"/>
                </a:solidFill>
                <a:latin typeface="Open Sans"/>
                <a:sym typeface="Open Sans"/>
              </a:rPr>
              <a:t> file </a:t>
            </a:r>
            <a:r>
              <a:rPr lang="en-US" sz="1200" dirty="0" err="1">
                <a:solidFill>
                  <a:srgbClr val="64748B"/>
                </a:solidFill>
                <a:latin typeface="Open Sans"/>
                <a:sym typeface="Open Sans"/>
              </a:rPr>
              <a:t>có</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bán</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như</a:t>
            </a:r>
            <a:r>
              <a:rPr lang="en-US" sz="1200" dirty="0">
                <a:solidFill>
                  <a:srgbClr val="64748B"/>
                </a:solidFill>
                <a:latin typeface="Open Sans"/>
                <a:sym typeface="Open Sans"/>
              </a:rPr>
              <a:t>: XML, Excel, </a:t>
            </a:r>
            <a:r>
              <a:rPr lang="en-US" sz="1200" dirty="0" err="1">
                <a:solidFill>
                  <a:srgbClr val="64748B"/>
                </a:solidFill>
                <a:latin typeface="Open Sans"/>
                <a:sym typeface="Open Sans"/>
              </a:rPr>
              <a:t>Json</a:t>
            </a:r>
            <a:r>
              <a:rPr lang="en-US" sz="1200" dirty="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Dung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hình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từng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loại</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Tối</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đa</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hỗ</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trợ</a:t>
            </a:r>
            <a:r>
              <a:rPr lang="en-US" sz="1200" b="0" i="0" u="none" strike="noStrike" cap="none" dirty="0">
                <a:solidFill>
                  <a:srgbClr val="64748B"/>
                </a:solidFill>
                <a:latin typeface="Open Sans"/>
                <a:ea typeface="Open Sans"/>
                <a:cs typeface="Open Sans"/>
                <a:sym typeface="Open Sans"/>
              </a:rPr>
              <a:t> dung </a:t>
            </a:r>
            <a:r>
              <a:rPr lang="en-US" sz="1200" b="0" i="0" u="none" strike="noStrike" cap="none" dirty="0" err="1">
                <a:solidFill>
                  <a:srgbClr val="64748B"/>
                </a:solidFill>
                <a:latin typeface="Open Sans"/>
                <a:ea typeface="Open Sans"/>
                <a:cs typeface="Open Sans"/>
                <a:sym typeface="Open Sans"/>
              </a:rPr>
              <a:t>lượng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lớn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tới</a:t>
            </a:r>
            <a:r>
              <a:rPr lang="en-US" sz="1200" b="0" i="0" u="none" strike="noStrike" cap="none" dirty="0">
                <a:solidFill>
                  <a:srgbClr val="64748B"/>
                </a:solidFill>
                <a:latin typeface="Open Sans"/>
                <a:ea typeface="Open Sans"/>
                <a:cs typeface="Open Sans"/>
                <a:sym typeface="Open Sans"/>
              </a:rPr>
              <a:t> </a:t>
            </a:r>
            <a:r>
              <a:rPr lang="vi-VN" sz="1200" b="0" i="0" u="none" strike="noStrike" cap="none" dirty="0">
                <a:solidFill>
                  <a:srgbClr val="64748B"/>
                </a:solidFill>
                <a:latin typeface="Open Sans"/>
                <a:ea typeface="Open Sans"/>
                <a:cs typeface="Open Sans"/>
                <a:sym typeface="Open Sans"/>
              </a:rPr>
              <a:t>1</a:t>
            </a:r>
            <a:r>
              <a:rPr lang="en-US" sz="1200" b="0" i="0" u="none" strike="noStrike" cap="none" dirty="0">
                <a:solidFill>
                  <a:srgbClr val="64748B"/>
                </a:solidFill>
                <a:latin typeface="Open Sans"/>
                <a:ea typeface="Open Sans"/>
                <a:cs typeface="Open Sans"/>
                <a:sym typeface="Open Sans"/>
              </a:rPr>
              <a:t>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13678" y="3290604"/>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Preview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ea typeface="Open Sans"/>
                <a:cs typeface="Open Sans"/>
                <a:sym typeface="Open Sans"/>
              </a:rPr>
              <a:t>Xem</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thông</a:t>
            </a:r>
            <a:r>
              <a:rPr lang="en-US" sz="1200" dirty="0">
                <a:solidFill>
                  <a:srgbClr val="64748B"/>
                </a:solidFill>
                <a:latin typeface="Open Sans"/>
                <a:ea typeface="Open Sans"/>
                <a:cs typeface="Open Sans"/>
                <a:sym typeface="Open Sans"/>
              </a:rPr>
              <a:t> tin </a:t>
            </a:r>
            <a:r>
              <a:rPr lang="en-US" sz="1200" b="0" i="0" u="none" strike="noStrike" cap="none" dirty="0">
                <a:solidFill>
                  <a:srgbClr val="64748B"/>
                </a:solidFill>
                <a:latin typeface="Open Sans"/>
                <a:ea typeface="Open Sans"/>
                <a:cs typeface="Open Sans"/>
                <a:sym typeface="Open Sans"/>
              </a:rPr>
              <a:t>overview </a:t>
            </a:r>
            <a:r>
              <a:rPr lang="en-US" sz="1200" b="0" i="0" u="none" strike="noStrike" cap="none" dirty="0" err="1">
                <a:solidFill>
                  <a:srgbClr val="64748B"/>
                </a:solidFill>
                <a:latin typeface="Open Sans"/>
                <a:ea typeface="Open Sans"/>
                <a:cs typeface="Open Sans"/>
                <a:sym typeface="Open Sans"/>
              </a:rPr>
              <a:t>về</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xem</a:t>
            </a:r>
            <a:r>
              <a:rPr lang="en-US" sz="1200" b="0" i="0" u="none" strike="noStrike" cap="none"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mẫu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sai</a:t>
            </a:r>
            <a:r>
              <a:rPr lang="en-US" sz="1200" dirty="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451791" y="328426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vi-VN" sz="1050" b="0" i="0" u="none" strike="noStrike" cap="none" dirty="0">
                <a:solidFill>
                  <a:srgbClr val="64748B"/>
                </a:solidFill>
                <a:latin typeface="Open Sans"/>
                <a:ea typeface="Open Sans"/>
                <a:cs typeface="Open Sans"/>
                <a:sym typeface="Open Sans"/>
              </a:rPr>
              <a:t>Tích hợp với Datastage t</a:t>
            </a:r>
            <a:r>
              <a:rPr lang="en-US" sz="1050" b="0" i="0" u="none" strike="noStrike" cap="none" dirty="0">
                <a:solidFill>
                  <a:srgbClr val="64748B"/>
                </a:solidFill>
                <a:latin typeface="Open Sans"/>
                <a:ea typeface="Open Sans"/>
                <a:cs typeface="Open Sans"/>
                <a:sym typeface="Open Sans"/>
              </a:rPr>
              <a:t>ự </a:t>
            </a:r>
            <a:r>
              <a:rPr lang="en-US" sz="1050" b="0" i="0" u="none" strike="noStrike" cap="none" dirty="0" err="1">
                <a:solidFill>
                  <a:srgbClr val="64748B"/>
                </a:solidFill>
                <a:latin typeface="Open Sans"/>
                <a:ea typeface="Open Sans"/>
                <a:cs typeface="Open Sans"/>
                <a:sym typeface="Open Sans"/>
              </a:rPr>
              <a:t>dộng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cấu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trúc</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và</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các</a:t>
            </a:r>
            <a:r>
              <a:rPr lang="en-US" sz="1050" b="0" i="0" u="none" strike="noStrike" cap="none" dirty="0">
                <a:solidFill>
                  <a:srgbClr val="64748B"/>
                </a:solidFill>
                <a:latin typeface="Open Sans"/>
                <a:ea typeface="Open Sans"/>
                <a:cs typeface="Open Sans"/>
                <a:sym typeface="Open Sans"/>
              </a:rPr>
              <a:t> rule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155090"/>
            <a:ext cx="4305300" cy="830997"/>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WDIP là hệ thống chuyên dụng, đóng vai trò là điểm tiếp nhận cho các luồng dữ liệu nạp thủ công (Manual Ingestion) từ máy trạm của người dùng</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3038475"/>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Tự</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động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hóa</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luồng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khép</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kín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Tải</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 Validate → </a:t>
            </a:r>
            <a:r>
              <a:rPr lang="en-US" sz="1200" b="0" i="0" u="none" strike="noStrike" cap="none" dirty="0" err="1">
                <a:solidFill>
                  <a:srgbClr val="F1F5F9"/>
                </a:solidFill>
                <a:latin typeface="Open Sans"/>
                <a:ea typeface="Open Sans"/>
                <a:cs typeface="Open Sans"/>
                <a:sym typeface="Open Sans"/>
              </a:rPr>
              <a:t>Phê</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duyệt</a:t>
            </a:r>
            <a:r>
              <a:rPr lang="en-US" sz="1200" b="0" i="0" u="none" strike="noStrike" cap="none" dirty="0">
                <a:solidFill>
                  <a:srgbClr val="F1F5F9"/>
                </a:solidFill>
                <a:latin typeface="Open Sans"/>
                <a:ea typeface="Open Sans"/>
                <a:cs typeface="Open Sans"/>
                <a:sym typeface="Open Sans"/>
              </a:rPr>
              <a:t> → Ingest </a:t>
            </a:r>
            <a:r>
              <a:rPr lang="en-US" sz="1200" b="0" i="0" u="none" strike="noStrike" cap="none" dirty="0" err="1">
                <a:solidFill>
                  <a:srgbClr val="F1F5F9"/>
                </a:solidFill>
                <a:latin typeface="Open Sans"/>
                <a:ea typeface="Open Sans"/>
                <a:cs typeface="Open Sans"/>
                <a:sym typeface="Open Sans"/>
              </a:rPr>
              <a:t>vào</a:t>
            </a:r>
            <a:r>
              <a:rPr lang="en-US" sz="1200" b="0" i="0" u="none" strike="noStrike" cap="none" dirty="0">
                <a:solidFill>
                  <a:srgbClr val="F1F5F9"/>
                </a:solidFill>
                <a:latin typeface="Open Sans"/>
                <a:ea typeface="Open Sans"/>
                <a:cs typeface="Open Sans"/>
                <a:sym typeface="Open Sans"/>
              </a:rPr>
              <a:t> Target DB.</a:t>
            </a:r>
            <a:endParaRPr dirty="0"/>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720286"/>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vi-VN" sz="1200" b="0" i="0" u="none" strike="noStrike" cap="none" dirty="0">
                <a:solidFill>
                  <a:srgbClr val="F1F5F9"/>
                </a:solidFill>
                <a:latin typeface="Open Sans"/>
                <a:ea typeface="Open Sans"/>
                <a:cs typeface="Open Sans"/>
                <a:sym typeface="Open Sans"/>
              </a:rPr>
              <a:t>1</a:t>
            </a:r>
            <a:r>
              <a:rPr lang="en-US" sz="1200" dirty="0">
                <a:solidFill>
                  <a:srgbClr val="F1F5F9"/>
                </a:solidFill>
                <a:latin typeface="Open Sans"/>
                <a:ea typeface="Open Sans"/>
                <a:cs typeface="Open Sans"/>
                <a:sym typeface="Open Sans"/>
              </a:rPr>
              <a:t>GB</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244680"/>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95397"/>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781424"/>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857898" y="483331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Audit </a:t>
            </a:r>
            <a:r>
              <a:rPr lang="vi-VN" sz="1200" b="1" i="0" u="none" strike="noStrike" cap="none" dirty="0">
                <a:solidFill>
                  <a:srgbClr val="0F172A"/>
                </a:solidFill>
                <a:latin typeface="Roboto"/>
                <a:ea typeface="Roboto"/>
                <a:cs typeface="Roboto"/>
                <a:sym typeface="Roboto"/>
              </a:rPr>
              <a:t>logging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66898" y="5247053"/>
            <a:ext cx="2128837" cy="90486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trình</a:t>
            </a:r>
            <a:r>
              <a:rPr lang="en-US" sz="1050" b="0" i="0" u="none" strike="noStrike" cap="none" dirty="0">
                <a:solidFill>
                  <a:srgbClr val="64748B"/>
                </a:solidFill>
                <a:latin typeface="Open Sans"/>
                <a:ea typeface="Open Sans"/>
                <a:cs typeface="Open Sans"/>
                <a:sym typeface="Open Sans"/>
              </a:rPr>
              <a:t> upload,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validate </a:t>
            </a:r>
            <a:r>
              <a:rPr lang="en-US" sz="1050" b="0" i="0" u="none" strike="noStrike" cap="none" dirty="0" err="1">
                <a:solidFill>
                  <a:srgbClr val="64748B"/>
                </a:solidFill>
                <a:latin typeface="Open Sans"/>
                <a:ea typeface="Open Sans"/>
                <a:cs typeface="Open Sans"/>
                <a:sym typeface="Open Sans"/>
              </a:rPr>
              <a:t>đều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được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ghi</a:t>
            </a:r>
            <a:r>
              <a:rPr lang="en-US" sz="1050" b="0" i="0" u="none" strike="noStrike" cap="none" dirty="0">
                <a:solidFill>
                  <a:srgbClr val="64748B"/>
                </a:solidFill>
                <a:latin typeface="Open Sans"/>
                <a:ea typeface="Open Sans"/>
                <a:cs typeface="Open Sans"/>
                <a:sym typeface="Open Sans"/>
              </a:rPr>
              <a:t> log </a:t>
            </a:r>
            <a:r>
              <a:rPr lang="en-US" sz="1050" b="0" i="0" u="none" strike="noStrike" cap="none" dirty="0" err="1">
                <a:solidFill>
                  <a:srgbClr val="64748B"/>
                </a:solidFill>
                <a:latin typeface="Open Sans"/>
                <a:ea typeface="Open Sans"/>
                <a:cs typeface="Open Sans"/>
                <a:sym typeface="Open Sans"/>
              </a:rPr>
              <a:t>đầy</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đủ</a:t>
            </a:r>
            <a:r>
              <a:rPr lang="en-US" sz="1050" b="0" i="0" u="none" strike="noStrike" cap="none" dirty="0">
                <a:solidFill>
                  <a:srgbClr val="64748B"/>
                </a:solidFill>
                <a:latin typeface="Open Sans"/>
                <a:ea typeface="Open Sans"/>
                <a:cs typeface="Open Sans"/>
                <a:sym typeface="Open Sans"/>
              </a:rPr>
              <a:t> </a:t>
            </a:r>
            <a:r>
              <a:rPr lang="vi-VN" sz="1050" b="0" i="0" u="none" strike="noStrike" cap="none" dirty="0">
                <a:solidFill>
                  <a:srgbClr val="64748B"/>
                </a:solidFill>
                <a:latin typeface="Open Sans"/>
                <a:ea typeface="Open Sans"/>
                <a:cs typeface="Open Sans"/>
                <a:sym typeface="Open Sans"/>
              </a:rPr>
              <a:t>đáp ứng nhu cầu thanh tra, kiểm toán</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Cơ</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chế</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nhập</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Có</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chế</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nhập</a:t>
            </a:r>
            <a:r>
              <a:rPr lang="en-US" sz="1050" b="0" i="0" u="none" strike="noStrike" cap="none" dirty="0">
                <a:solidFill>
                  <a:srgbClr val="64748B"/>
                </a:solidFill>
                <a:latin typeface="Open Sans"/>
                <a:ea typeface="Open Sans"/>
                <a:cs typeface="Open Sans"/>
                <a:sym typeface="Open Sans"/>
              </a:rPr>
              <a:t>/</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rõ</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nhiệm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đảm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bảo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vào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sử</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Calibri" panose="020F0502020204030204" pitchFamily="34" charset="0"/>
                <a:ea typeface="Calibri" charset="0"/>
                <a:cs typeface="Calibri" panose="020F0502020204030204" pitchFamily="34" charset="0"/>
              </a:rPr>
              <a:t>Giải</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err="1">
                <a:solidFill>
                  <a:srgbClr val="F04E23"/>
                </a:solidFill>
                <a:latin typeface="Calibri" panose="020F0502020204030204" pitchFamily="34" charset="0"/>
                <a:ea typeface="Calibri" charset="0"/>
                <a:cs typeface="Calibri" panose="020F0502020204030204" pitchFamily="34" charset="0"/>
              </a:rPr>
              <a:t>pháp</a:t>
            </a:r>
            <a:r>
              <a:rPr lang="en-US" sz="4000" dirty="0">
                <a:solidFill>
                  <a:srgbClr val="F04E23"/>
                </a:solidFill>
                <a:latin typeface="Calibri" panose="020F0502020204030204" pitchFamily="34" charset="0"/>
                <a:ea typeface="Calibri" charset="0"/>
                <a:cs typeface="Calibri" panose="020F0502020204030204" pitchFamily="34" charset="0"/>
              </a:rPr>
              <a:t> Workstation Data Ingestion Portal</a:t>
            </a:r>
            <a:r>
              <a:rPr lang="vi-VN" sz="4000" dirty="0">
                <a:solidFill>
                  <a:srgbClr val="F04E23"/>
                </a:solidFill>
                <a:latin typeface="Calibri" panose="020F0502020204030204" pitchFamily="34" charset="0"/>
                <a:ea typeface="Calibri" charset="0"/>
                <a:cs typeface="Calibri" panose="020F0502020204030204" pitchFamily="34" charset="0"/>
              </a:rPr>
              <a:t> -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danh sách l</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files</a:t>
            </a:r>
            <a:r>
              <a:rPr lang="en-US" sz="1400" dirty="0">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upload </a:t>
            </a:r>
            <a:r>
              <a:rPr lang="vi-VN"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upload XML (</a:t>
            </a:r>
            <a:r>
              <a:rPr lang="en-US" sz="1400" dirty="0" err="1">
                <a:latin typeface="Calibri" panose="020F0502020204030204" pitchFamily="34" charset="0"/>
                <a:cs typeface="Calibri" panose="020F0502020204030204" pitchFamily="34" charset="0"/>
              </a:rPr>
              <a:t>hỗ</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trợ</a:t>
            </a:r>
            <a:r>
              <a:rPr lang="en-US" sz="1400" dirty="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vi-VN" sz="1200" b="1" i="0" u="none" strike="noStrike" cap="none" dirty="0">
                  <a:solidFill>
                    <a:srgbClr val="0F172A"/>
                  </a:solidFill>
                  <a:latin typeface="Roboto"/>
                  <a:ea typeface="Roboto"/>
                  <a:cs typeface="Roboto"/>
                  <a:sym typeface="Roboto"/>
                </a:rPr>
                <a:t>quyền/quản lý User</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thực</a:t>
              </a:r>
              <a:r>
                <a:rPr lang="en-US" sz="1050" b="0" i="0" u="none" strike="noStrike" cap="none" dirty="0">
                  <a:solidFill>
                    <a:srgbClr val="64748B"/>
                  </a:solidFill>
                  <a:latin typeface="Open Sans"/>
                  <a:ea typeface="Open Sans"/>
                  <a:cs typeface="Open Sans"/>
                  <a:sym typeface="Open Sans"/>
                </a:rPr>
                <a:t> qua 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Excel .. Dung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giới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hạn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từng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loại</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cụ</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thể</a:t>
              </a:r>
              <a:r>
                <a:rPr lang="en-US" sz="1050" b="0" i="0" u="none" strike="noStrike" cap="none" dirty="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tin </a:t>
              </a:r>
              <a:r>
                <a:rPr lang="en-US" sz="1050" b="0" i="0" u="none" strike="noStrike" cap="none" dirty="0" err="1">
                  <a:solidFill>
                    <a:srgbClr val="64748B"/>
                  </a:solidFill>
                  <a:latin typeface="Open Sans"/>
                  <a:ea typeface="Open Sans"/>
                  <a:cs typeface="Open Sans"/>
                  <a:sym typeface="Open Sans"/>
                </a:rPr>
                <a:t>chung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a:solidFill>
                    <a:srgbClr val="64748B"/>
                  </a:solidFill>
                  <a:latin typeface="Open Sans"/>
                  <a:sym typeface="Open Sans"/>
                </a:rPr>
                <a:t>Hoặc</a:t>
              </a:r>
              <a:r>
                <a:rPr lang="en-US" sz="1050" dirty="0">
                  <a:solidFill>
                    <a:srgbClr val="64748B"/>
                  </a:solidFill>
                  <a:latin typeface="Open Sans"/>
                  <a:sym typeface="Open Sans"/>
                </a:rPr>
                <a:t> ingest </a:t>
              </a:r>
              <a:r>
                <a:rPr lang="en-US" sz="1050" dirty="0" err="1">
                  <a:solidFill>
                    <a:srgbClr val="64748B"/>
                  </a:solidFill>
                  <a:latin typeface="Open Sans"/>
                  <a:sym typeface="Open Sans"/>
                </a:rPr>
                <a:t>khi</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phê</a:t>
              </a:r>
              <a:r>
                <a:rPr lang="en-US" sz="1050" dirty="0">
                  <a:solidFill>
                    <a:srgbClr val="64748B"/>
                  </a:solidFill>
                  <a:latin typeface="Open Sans"/>
                  <a:sym typeface="Open Sans"/>
                </a:rPr>
                <a:t> </a:t>
              </a:r>
              <a:r>
                <a:rPr lang="en-US" sz="1050" dirty="0" err="1">
                  <a:solidFill>
                    <a:srgbClr val="64748B"/>
                  </a:solidFill>
                  <a:latin typeface="Open Sans"/>
                  <a:sym typeface="Open Sans"/>
                </a:rPr>
                <a:t>duyệt</a:t>
              </a:r>
              <a:r>
                <a:rPr lang="en-US" sz="1050" dirty="0">
                  <a:solidFill>
                    <a:srgbClr val="64748B"/>
                  </a:solidFill>
                  <a:latin typeface="Open Sans"/>
                  <a:sym typeface="Open Sans"/>
                </a:rPr>
                <a:t> </a:t>
              </a:r>
              <a:r>
                <a:rPr lang="en-US" sz="1050" dirty="0" err="1">
                  <a:solidFill>
                    <a:srgbClr val="64748B"/>
                  </a:solidFill>
                  <a:latin typeface="Open Sans"/>
                  <a:sym typeface="Open Sans"/>
                </a:rPr>
                <a:t>từ</a:t>
              </a:r>
              <a:r>
                <a:rPr lang="en-US" sz="1050" dirty="0">
                  <a:solidFill>
                    <a:srgbClr val="64748B"/>
                  </a:solidFill>
                  <a:latin typeface="Open Sans"/>
                  <a:sym typeface="Open Sans"/>
                </a:rPr>
                <a:t> </a:t>
              </a:r>
              <a:r>
                <a:rPr lang="en-US" sz="1050" dirty="0" err="1">
                  <a:solidFill>
                    <a:srgbClr val="64748B"/>
                  </a:solidFill>
                  <a:latin typeface="Open Sans"/>
                  <a:sym typeface="Open Sans"/>
                </a:rPr>
                <a:t>cấp</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thẩm</a:t>
              </a:r>
              <a:r>
                <a:rPr lang="en-US" sz="1050" dirty="0">
                  <a:solidFill>
                    <a:srgbClr val="64748B"/>
                  </a:solidFill>
                  <a:latin typeface="Open Sans"/>
                  <a:sym typeface="Open Sans"/>
                </a:rPr>
                <a:t> </a:t>
              </a:r>
              <a:r>
                <a:rPr lang="en-US" sz="1050" dirty="0" err="1">
                  <a:solidFill>
                    <a:srgbClr val="64748B"/>
                  </a:solidFill>
                  <a:latin typeface="Open Sans"/>
                  <a:sym typeface="Open Sans"/>
                </a:rPr>
                <a:t>quyền</a:t>
              </a:r>
              <a:r>
                <a:rPr lang="en-US" sz="1050" dirty="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10. </a:t>
              </a:r>
              <a:r>
                <a:rPr lang="vi-VN" sz="1200" b="1" i="0" u="none" strike="noStrike" cap="none" dirty="0">
                  <a:solidFill>
                    <a:srgbClr val="0F172A"/>
                  </a:solidFill>
                  <a:latin typeface="Roboto"/>
                  <a:ea typeface="Roboto"/>
                  <a:cs typeface="Roboto"/>
                  <a:sym typeface="Roboto"/>
                </a:rPr>
                <a:t>Nhóm chức năng</a:t>
              </a:r>
              <a:r>
                <a:rPr lang="vi-VN" sz="1200" b="1" dirty="0">
                  <a:solidFill>
                    <a:srgbClr val="0F172A"/>
                  </a:solidFill>
                  <a:latin typeface="Roboto"/>
                  <a:ea typeface="Roboto"/>
                  <a:cs typeface="Roboto"/>
                  <a:sym typeface="Roboto"/>
                </a:rPr>
                <a:t> q</a:t>
              </a:r>
              <a:r>
                <a:rPr lang="en-US" sz="1200" b="1" i="0" u="none" strike="noStrike" cap="none" dirty="0" err="1">
                  <a:solidFill>
                    <a:srgbClr val="0F172A"/>
                  </a:solidFill>
                  <a:latin typeface="Roboto"/>
                  <a:ea typeface="Roboto"/>
                  <a:cs typeface="Roboto"/>
                  <a:sym typeface="Roboto"/>
                </a:rPr>
                <a:t>uản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trị</a:t>
              </a:r>
              <a:endParaRPr dirty="0"/>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mn-lt"/>
                <a:ea typeface="Calibri" charset="0"/>
                <a:cs typeface="Calibri" panose="020F0502020204030204" pitchFamily="34" charset="0"/>
              </a:rPr>
              <a:t>Yêu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cầu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chức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File raw lưu </a:t>
              </a:r>
              <a:r>
                <a:rPr lang="en-US" sz="1200" b="0" i="0" u="none" strike="noStrike" cap="none" dirty="0">
                  <a:solidFill>
                    <a:srgbClr val="005088"/>
                  </a:solidFill>
                  <a:latin typeface="Open Sans SemiBold"/>
                  <a:ea typeface="Open Sans SemiBold"/>
                  <a:cs typeface="Open Sans SemiBold"/>
                  <a:sym typeface="Open Sans SemiBold"/>
                </a:rPr>
                <a:t>3 </a:t>
              </a:r>
              <a:r>
                <a:rPr lang="vi-VN" sz="1200" b="0" i="0" u="none" strike="noStrike" cap="none" dirty="0">
                  <a:solidFill>
                    <a:srgbClr val="005088"/>
                  </a:solidFill>
                  <a:latin typeface="Open Sans SemiBold"/>
                  <a:ea typeface="Open Sans SemiBold"/>
                  <a:cs typeface="Open Sans SemiBold"/>
                  <a:sym typeface="Open Sans SemiBold"/>
                </a:rPr>
                <a:t>Tháng, dữ liệu ingest lưu 1 năm</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1"/>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a:solidFill>
                    <a:srgbClr val="005088"/>
                  </a:solidFill>
                  <a:latin typeface="Open Sans SemiBold"/>
                  <a:ea typeface="Open Sans SemiBold"/>
                  <a:cs typeface="Open Sans SemiBold"/>
                  <a:sym typeface="Open Sans SemiBold"/>
                </a:rPr>
                <a:t>Cấu</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hình</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theo</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từng</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loại</a:t>
              </a:r>
              <a:r>
                <a:rPr lang="en-US" sz="1200" dirty="0">
                  <a:solidFill>
                    <a:srgbClr val="005088"/>
                  </a:solidFill>
                  <a:latin typeface="Open Sans SemiBold"/>
                  <a:ea typeface="Open Sans SemiBold"/>
                  <a:cs typeface="Open Sans SemiBold"/>
                  <a:sym typeface="Open Sans SemiBold"/>
                </a:rPr>
                <a:t> file </a:t>
              </a:r>
              <a:r>
                <a:rPr lang="en-US" sz="1200" dirty="0" err="1">
                  <a:solidFill>
                    <a:srgbClr val="005088"/>
                  </a:solidFill>
                  <a:latin typeface="Open Sans SemiBold"/>
                  <a:ea typeface="Open Sans SemiBold"/>
                  <a:cs typeface="Open Sans SemiBold"/>
                  <a:sym typeface="Open Sans SemiBold"/>
                </a:rPr>
                <a:t>cụ</a:t>
              </a:r>
              <a:r>
                <a:rPr lang="en-US" sz="1200" dirty="0">
                  <a:solidFill>
                    <a:srgbClr val="005088"/>
                  </a:solidFill>
                  <a:latin typeface="Open Sans SemiBold"/>
                  <a:ea typeface="Open Sans SemiBold"/>
                  <a:cs typeface="Open Sans SemiBold"/>
                  <a:sym typeface="Open Sans SemiBold"/>
                </a:rPr>
                <a:t> </a:t>
              </a:r>
              <a:r>
                <a:rPr lang="en-US" sz="1200">
                  <a:solidFill>
                    <a:srgbClr val="005088"/>
                  </a:solidFill>
                  <a:latin typeface="Open Sans SemiBold"/>
                  <a:ea typeface="Open Sans SemiBold"/>
                  <a:cs typeface="Open Sans SemiBold"/>
                  <a:sym typeface="Open Sans SemiBold"/>
                </a:rPr>
                <a:t>thể</a:t>
              </a:r>
              <a:endParaRPr lang="vi-VN" sz="1200" dirty="0">
                <a:solidFill>
                  <a:srgbClr val="005088"/>
                </a:solidFill>
                <a:latin typeface="Open Sans SemiBold"/>
                <a:ea typeface="Open Sans SemiBold"/>
                <a:cs typeface="Open Sans SemiBold"/>
                <a:sym typeface="Open Sans SemiBold"/>
              </a:endParaRPr>
            </a:p>
            <a:p>
              <a:pPr>
                <a:lnSpc>
                  <a:spcPct val="160000"/>
                </a:lnSpc>
              </a:pPr>
              <a:r>
                <a:rPr lang="vi-VN" sz="1200" dirty="0">
                  <a:solidFill>
                    <a:srgbClr val="005088"/>
                  </a:solidFill>
                  <a:latin typeface="Open Sans SemiBold"/>
                  <a:ea typeface="Open Sans SemiBold"/>
                  <a:cs typeface="Open Sans SemiBold"/>
                  <a:sym typeface="Open Sans SemiBold"/>
                </a:rPr>
                <a:t>T</a:t>
              </a:r>
              <a:r>
                <a:rPr lang="en-US" sz="1200" dirty="0" err="1">
                  <a:solidFill>
                    <a:srgbClr val="005088"/>
                  </a:solidFill>
                  <a:latin typeface="Open Sans SemiBold"/>
                  <a:ea typeface="Open Sans SemiBold"/>
                  <a:cs typeface="Open Sans SemiBold"/>
                  <a:sym typeface="Open Sans SemiBold"/>
                </a:rPr>
                <a:t>ối</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đa</a:t>
              </a:r>
              <a:r>
                <a:rPr lang="en-US" sz="1200" dirty="0">
                  <a:solidFill>
                    <a:srgbClr val="005088"/>
                  </a:solidFill>
                  <a:latin typeface="Open Sans SemiBold"/>
                  <a:ea typeface="Open Sans SemiBold"/>
                  <a:cs typeface="Open Sans SemiBold"/>
                  <a:sym typeface="Open Sans SemiBold"/>
                </a:rPr>
                <a:t> </a:t>
              </a:r>
              <a:r>
                <a:rPr lang="vi-VN" sz="1200" dirty="0">
                  <a:solidFill>
                    <a:srgbClr val="005088"/>
                  </a:solidFill>
                  <a:latin typeface="Open Sans SemiBold"/>
                  <a:ea typeface="Open Sans SemiBold"/>
                  <a:cs typeface="Open Sans SemiBold"/>
                  <a:sym typeface="Open Sans SemiBold"/>
                </a:rPr>
                <a:t>1</a:t>
              </a:r>
              <a:r>
                <a:rPr lang="en-US" sz="1200" dirty="0">
                  <a:solidFill>
                    <a:srgbClr val="005088"/>
                  </a:solidFill>
                  <a:latin typeface="Open Sans SemiBold"/>
                  <a:ea typeface="Open Sans SemiBold"/>
                  <a:cs typeface="Open Sans SemiBold"/>
                  <a:sym typeface="Open Sans SemiBold"/>
                </a:rPr>
                <a:t> GB</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 10 files/</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a:t>
              </a:r>
              <a:endParaRPr sz="1200" dirty="0"/>
            </a:p>
          </p:txBody>
        </p:sp>
        <p:sp>
          <p:nvSpPr>
            <p:cNvPr id="21" name="Google Shape;230;p17">
              <a:extLst>
                <a:ext uri="{FF2B5EF4-FFF2-40B4-BE49-F238E27FC236}">
                  <a16:creationId xmlns:a16="http://schemas.microsoft.com/office/drawing/2014/main" id="{DD1BDF32-A9D1-430D-A072-D765BCB6F637}"/>
                </a:ext>
              </a:extLst>
            </p:cNvPr>
            <p:cNvSpPr txBox="1"/>
            <p:nvPr/>
          </p:nvSpPr>
          <p:spPr>
            <a:xfrm>
              <a:off x="6400187" y="3048000"/>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Limit </a:t>
              </a:r>
              <a:r>
                <a:rPr lang="vi-VN" sz="1200" b="0" i="0" u="none" strike="noStrike" cap="none" dirty="0">
                  <a:solidFill>
                    <a:srgbClr val="005088"/>
                  </a:solidFill>
                  <a:latin typeface="Open Sans SemiBold"/>
                  <a:ea typeface="Open Sans SemiBold"/>
                  <a:cs typeface="Open Sans SemiBold"/>
                  <a:sym typeface="Open Sans SemiBold"/>
                </a:rPr>
                <a:t>1</a:t>
              </a:r>
              <a:r>
                <a:rPr lang="en-US" sz="1200" b="0" i="0" u="none" strike="noStrike" cap="none" dirty="0">
                  <a:solidFill>
                    <a:srgbClr val="005088"/>
                  </a:solidFill>
                  <a:latin typeface="Open Sans SemiBold"/>
                  <a:ea typeface="Open Sans SemiBold"/>
                  <a:cs typeface="Open Sans SemiBold"/>
                  <a:sym typeface="Open Sans SemiBold"/>
                </a:rPr>
                <a:t>0 req</a:t>
              </a:r>
              <a:r>
                <a:rPr lang="vi-VN" sz="1200" b="0" i="0" u="none" strike="noStrike" cap="none" dirty="0">
                  <a:solidFill>
                    <a:srgbClr val="005088"/>
                  </a:solidFill>
                  <a:latin typeface="Open Sans SemiBold"/>
                  <a:ea typeface="Open Sans SemiBold"/>
                  <a:cs typeface="Open Sans SemiBold"/>
                  <a:sym typeface="Open Sans SemiBold"/>
                </a:rPr>
                <a:t> upload</a:t>
              </a:r>
              <a:r>
                <a:rPr lang="en-US" sz="1200" b="0" i="0" u="none" strike="noStrike" cap="none" dirty="0">
                  <a:solidFill>
                    <a:srgbClr val="005088"/>
                  </a:solidFill>
                  <a:latin typeface="Open Sans SemiBold"/>
                  <a:ea typeface="Open Sans SemiBold"/>
                  <a:cs typeface="Open Sans SemiBold"/>
                  <a:sym typeface="Open Sans SemiBold"/>
                </a:rPr>
                <a:t>/</a:t>
              </a:r>
              <a:r>
                <a:rPr lang="vi-VN" sz="1200" b="0" i="0" u="none" strike="noStrike" cap="none" dirty="0">
                  <a:solidFill>
                    <a:srgbClr val="005088"/>
                  </a:solidFill>
                  <a:latin typeface="Open Sans SemiBold"/>
                  <a:ea typeface="Open Sans SemiBold"/>
                  <a:cs typeface="Open Sans SemiBold"/>
                  <a:sym typeface="Open Sans SemiBold"/>
                </a:rPr>
                <a:t>phút</a:t>
              </a: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Limit 5 job validate chạy đồng thời</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r>
                <a:rPr lang="vi-VN" sz="1200" b="0" i="0" u="none" strike="noStrike" cap="none" dirty="0">
                  <a:solidFill>
                    <a:srgbClr val="005088"/>
                  </a:solidFill>
                  <a:latin typeface="Open Sans SemiBold"/>
                  <a:ea typeface="Open Sans SemiBold"/>
                  <a:cs typeface="Open Sans SemiBold"/>
                  <a:sym typeface="Open Sans SemiBold"/>
                </a:rPr>
                <a:t> multi-part upload/resume</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8">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Thời</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gian</a:t>
              </a:r>
              <a:r>
                <a:rPr lang="en-US" sz="1200" b="0" i="0" u="none" strike="noStrike" cap="none" dirty="0">
                  <a:solidFill>
                    <a:srgbClr val="005088"/>
                  </a:solidFill>
                  <a:latin typeface="Open Sans SemiBold"/>
                  <a:ea typeface="Open Sans SemiBold"/>
                  <a:cs typeface="Open Sans SemiBold"/>
                  <a:sym typeface="Open Sans SemiBold"/>
                </a:rPr>
                <a:t> validate, ingest </a:t>
              </a:r>
              <a:r>
                <a:rPr lang="en-US" sz="1200" b="0" i="0" u="none" strike="noStrike" cap="none" dirty="0" err="1">
                  <a:solidFill>
                    <a:srgbClr val="005088"/>
                  </a:solidFill>
                  <a:latin typeface="Open Sans SemiBold"/>
                  <a:ea typeface="Open Sans SemiBold"/>
                  <a:cs typeface="Open Sans SemiBold"/>
                  <a:sym typeface="Open Sans SemiBold"/>
                </a:rPr>
                <a:t>không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quá</a:t>
              </a:r>
              <a:r>
                <a:rPr lang="en-US" sz="1200" b="0" i="0" u="none" strike="noStrike" cap="none" dirty="0">
                  <a:solidFill>
                    <a:srgbClr val="005088"/>
                  </a:solidFill>
                  <a:latin typeface="Open Sans SemiBold"/>
                  <a:ea typeface="Open Sans SemiBold"/>
                  <a:cs typeface="Open Sans SemiBold"/>
                  <a:sym typeface="Open Sans SemiBold"/>
                </a:rPr>
                <a:t> 15 </a:t>
              </a:r>
              <a:r>
                <a:rPr lang="en-US" sz="1200" b="0" i="0" u="none" strike="noStrike" cap="none" dirty="0" err="1">
                  <a:solidFill>
                    <a:srgbClr val="005088"/>
                  </a:solidFill>
                  <a:latin typeface="Open Sans SemiBold"/>
                  <a:ea typeface="Open Sans SemiBold"/>
                  <a:cs typeface="Open Sans SemiBold"/>
                  <a:sym typeface="Open Sans SemiBold"/>
                </a:rPr>
                <a:t>phút</a:t>
              </a:r>
              <a:endParaRPr lang="vi-VN" sz="1200" b="0" i="0" u="none" strike="noStrike" cap="none" dirty="0">
                <a:solidFill>
                  <a:srgbClr val="005088"/>
                </a:solidFill>
                <a:latin typeface="Open Sans SemiBold"/>
                <a:ea typeface="Open Sans SemiBold"/>
                <a:cs typeface="Open Sans SemiBold"/>
                <a:sym typeface="Open Sans SemiBold"/>
              </a:endParaRP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Presigned url hết hạn 15 phút</a:t>
              </a:r>
              <a:endParaRPr sz="1200" dirty="0"/>
            </a:p>
          </p:txBody>
        </p:sp>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9">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Services </a:t>
              </a:r>
              <a:r>
                <a:rPr lang="vi-VN" sz="1200" dirty="0">
                  <a:solidFill>
                    <a:srgbClr val="005088"/>
                  </a:solidFill>
                  <a:latin typeface="Open Sans SemiBold"/>
                  <a:ea typeface="Open Sans SemiBold"/>
                  <a:cs typeface="Open Sans SemiBold"/>
                  <a:sym typeface="Open Sans SemiBold"/>
                </a:rPr>
                <a:t>a</a:t>
              </a:r>
              <a:r>
                <a:rPr lang="en-US" sz="1200" b="0" i="0" u="none" strike="noStrike" cap="none" dirty="0" err="1">
                  <a:solidFill>
                    <a:srgbClr val="005088"/>
                  </a:solidFill>
                  <a:latin typeface="Open Sans SemiBold"/>
                  <a:ea typeface="Open Sans SemiBold"/>
                  <a:cs typeface="Open Sans SemiBold"/>
                  <a:sym typeface="Open Sans SemiBold"/>
                </a:rPr>
                <a:t>uto</a:t>
              </a:r>
              <a:r>
                <a:rPr lang="en-US" sz="1200" b="0" i="0" u="none" strike="noStrike" cap="none" dirty="0">
                  <a:solidFill>
                    <a:srgbClr val="005088"/>
                  </a:solidFill>
                  <a:latin typeface="Open Sans SemiBold"/>
                  <a:ea typeface="Open Sans SemiBold"/>
                  <a:cs typeface="Open Sans SemiBold"/>
                  <a:sym typeface="Open Sans SemiBold"/>
                </a:rPr>
                <a:t>-scale</a:t>
              </a:r>
              <a:r>
                <a:rPr lang="vi-VN" sz="1200" b="0" i="0" u="none" strike="noStrike" cap="none" dirty="0">
                  <a:solidFill>
                    <a:srgbClr val="005088"/>
                  </a:solidFill>
                  <a:latin typeface="Open Sans SemiBold"/>
                  <a:ea typeface="Open Sans SemiBold"/>
                  <a:cs typeface="Open Sans SemiBold"/>
                  <a:sym typeface="Open Sans SemiBold"/>
                </a:rPr>
                <a:t> HPA theo mức độ sử dụng CPU/Ram</a:t>
              </a:r>
              <a:endParaRPr sz="1200" dirty="0"/>
            </a:p>
          </p:txBody>
        </p:sp>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0">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200" b="1" i="0" u="none" strike="noStrike" cap="none" dirty="0">
                  <a:solidFill>
                    <a:srgbClr val="0F172A"/>
                  </a:solidFill>
                  <a:latin typeface="Roboto"/>
                  <a:ea typeface="Open Sans"/>
                  <a:cs typeface="Open Sans"/>
                  <a:sym typeface="Open Sans"/>
                </a:rPr>
                <a:t>Thời gian l</a:t>
              </a:r>
              <a:r>
                <a:rPr lang="en-US" sz="1200" b="1" i="0" u="none" strike="noStrike" cap="none" dirty="0" err="1">
                  <a:solidFill>
                    <a:srgbClr val="0F172A"/>
                  </a:solidFill>
                  <a:latin typeface="Roboto"/>
                  <a:ea typeface="Open Sans"/>
                  <a:cs typeface="Open Sans"/>
                  <a:sym typeface="Open Sans"/>
                </a:rPr>
                <a:t>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a:t>
              </a:r>
              <a:r>
                <a:rPr lang="vi-VN" sz="1200" b="1" dirty="0">
                  <a:solidFill>
                    <a:srgbClr val="0F172A"/>
                  </a:solidFill>
                  <a:latin typeface="Roboto"/>
                  <a:ea typeface="Open Sans"/>
                  <a:cs typeface="Open Sans"/>
                  <a:sym typeface="Open Sans"/>
                </a:rPr>
                <a:t>dữ liệu</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1">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2">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vi-VN" sz="1200" b="1" i="0" u="none" strike="noStrike" cap="none" dirty="0">
                  <a:solidFill>
                    <a:srgbClr val="0F172A"/>
                  </a:solidFill>
                  <a:latin typeface="Roboto"/>
                  <a:ea typeface="Open Sans"/>
                  <a:cs typeface="Open Sans"/>
                  <a:sym typeface="Open Sans"/>
                </a:rPr>
                <a:t>upload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3">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Rate 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4">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5">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Thời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gian</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xử</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6">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17">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vi-VN" b="1" dirty="0"/>
              <a:t>Biz Cap không thay đổi</a:t>
            </a:r>
            <a:endParaRPr lang="en-US" b="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2116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714375" y="52762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5845175" y="5346719"/>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714375" y="20243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vi-VN" sz="1200" dirty="0">
                <a:solidFill>
                  <a:srgbClr val="000000"/>
                </a:solidFill>
                <a:latin typeface="Open Sans"/>
                <a:ea typeface="Open Sans"/>
                <a:cs typeface="Open Sans"/>
                <a:sym typeface="Open Sans"/>
              </a:rPr>
              <a:t> Tech-debt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r>
              <a:rPr lang="vi-VN" sz="1200" b="0" i="0" u="none" strike="noStrike" cap="none" dirty="0">
                <a:solidFill>
                  <a:srgbClr val="000000"/>
                </a:solidFill>
                <a:latin typeface="Open Sans"/>
                <a:ea typeface="Open Sans"/>
                <a:cs typeface="Open Sans"/>
                <a:sym typeface="Open Sans"/>
              </a:rPr>
              <a:t> cho upload và xử lý file lớn.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200775" y="2033885"/>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714375" y="14147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123950" y="14147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714375" y="25603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922337" y="53414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200775" y="1424285"/>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6610350" y="1424285"/>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200775" y="2681585"/>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421501" y="5513490"/>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838200" y="29663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904875" y="28720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a:t>
            </a:r>
            <a:r>
              <a:rPr lang="vi-VN" sz="1350" b="0" i="0" u="none" strike="noStrike" cap="none" dirty="0">
                <a:solidFill>
                  <a:srgbClr val="4A5568"/>
                </a:solidFill>
                <a:latin typeface="Open Sans"/>
                <a:ea typeface="Open Sans"/>
                <a:cs typeface="Open Sans"/>
                <a:sym typeface="Open Sans"/>
              </a:rPr>
              <a:t>, tracking, email notification</a:t>
            </a:r>
            <a:r>
              <a:rPr lang="en-US" sz="1350" b="0" i="0" u="none" strike="noStrike" cap="none" dirty="0">
                <a:solidFill>
                  <a:srgbClr val="4A5568"/>
                </a:solidFill>
                <a:latin typeface="Open Sans"/>
                <a:ea typeface="Open Sans"/>
                <a:cs typeface="Open Sans"/>
                <a:sym typeface="Open Sans"/>
              </a:rPr>
              <a:t>.</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838200" y="36425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904875" y="35472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838200" y="43186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904875" y="4213860"/>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err="1">
                <a:solidFill>
                  <a:srgbClr val="4A5568"/>
                </a:solidFill>
                <a:latin typeface="Open Sans"/>
                <a:ea typeface="Open Sans"/>
                <a:cs typeface="Open Sans"/>
                <a:sym typeface="Open Sans"/>
              </a:rPr>
              <a:t>MinIO</a:t>
            </a:r>
            <a:r>
              <a:rPr lang="en-US" sz="1350" b="0" i="0" u="none" strike="noStrike" cap="none" dirty="0">
                <a:solidFill>
                  <a:srgbClr val="4A5568"/>
                </a:solidFill>
                <a:latin typeface="Open Sans"/>
                <a:ea typeface="Open Sans"/>
                <a:cs typeface="Open Sans"/>
                <a:sym typeface="Open Sans"/>
              </a:rPr>
              <a:t>, Postgres</a:t>
            </a:r>
            <a:r>
              <a:rPr lang="en-US" sz="1350" dirty="0">
                <a:solidFill>
                  <a:srgbClr val="4A5568"/>
                </a:solidFill>
                <a:latin typeface="Open Sans"/>
                <a:ea typeface="Open Sans"/>
                <a:cs typeface="Open Sans"/>
                <a:sym typeface="Open Sans"/>
              </a:rPr>
              <a:t>.</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838200" y="49947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904875" y="49127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897890" y="54584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324600" y="2975907"/>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391021" y="3564118"/>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324600" y="3652033"/>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388163" y="4035172"/>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a:t>
            </a:r>
            <a:r>
              <a:rPr lang="vi-VN" sz="1350" b="0" i="0" u="none" strike="noStrike" cap="none" dirty="0">
                <a:solidFill>
                  <a:srgbClr val="4A5568"/>
                </a:solidFill>
                <a:latin typeface="Open Sans"/>
                <a:ea typeface="Open Sans"/>
                <a:cs typeface="Open Sans"/>
                <a:sym typeface="Open Sans"/>
              </a:rPr>
              <a:t>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318630" y="414047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324600" y="5004286"/>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391021" y="4914677"/>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343650" y="5620404"/>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391021" y="2891742"/>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Approve, Download file. 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
        <p:nvSpPr>
          <p:cNvPr id="42" name="Google Shape;433;p26">
            <a:extLst>
              <a:ext uri="{FF2B5EF4-FFF2-40B4-BE49-F238E27FC236}">
                <a16:creationId xmlns:a16="http://schemas.microsoft.com/office/drawing/2014/main" id="{F59E4377-64F7-479D-BD19-ECBCF8EA6F76}"/>
              </a:ext>
            </a:extLst>
          </p:cNvPr>
          <p:cNvSpPr txBox="1"/>
          <p:nvPr/>
        </p:nvSpPr>
        <p:spPr>
          <a:xfrm>
            <a:off x="6321425" y="4595844"/>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43" name="Google Shape;434;p26">
            <a:extLst>
              <a:ext uri="{FF2B5EF4-FFF2-40B4-BE49-F238E27FC236}">
                <a16:creationId xmlns:a16="http://schemas.microsoft.com/office/drawing/2014/main" id="{1FA36C31-CF1B-4E59-8255-571FDA42342F}"/>
              </a:ext>
            </a:extLst>
          </p:cNvPr>
          <p:cNvSpPr txBox="1"/>
          <p:nvPr/>
        </p:nvSpPr>
        <p:spPr>
          <a:xfrm>
            <a:off x="6388100" y="4491069"/>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Redis</a:t>
            </a:r>
            <a:r>
              <a:rPr lang="en-US" sz="1350"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a:solidFill>
                  <a:srgbClr val="FFB81C"/>
                </a:solidFill>
              </a:rPr>
              <a:t>App Upload</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690"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dirty="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058152" y="916707"/>
            <a:ext cx="48194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300" b="1" dirty="0">
                <a:latin typeface="Calibri"/>
                <a:ea typeface="Calibri"/>
                <a:cs typeface="Calibri"/>
              </a:rPr>
              <a:t>Xây dựng mới </a:t>
            </a:r>
            <a:r>
              <a:rPr lang="en-US" sz="1300" b="1" dirty="0" err="1">
                <a:latin typeface="Calibri"/>
                <a:ea typeface="Calibri"/>
                <a:cs typeface="Calibri"/>
              </a:rPr>
              <a:t>các</a:t>
            </a:r>
            <a:r>
              <a:rPr lang="vi-VN" sz="1300" b="1" dirty="0">
                <a:latin typeface="Calibri"/>
                <a:ea typeface="Calibri"/>
                <a:cs typeface="Calibri"/>
              </a:rPr>
              <a:t> thành phần:</a:t>
            </a:r>
          </a:p>
          <a:p>
            <a:pPr marL="285750" indent="-285750" algn="just">
              <a:spcAft>
                <a:spcPts val="600"/>
              </a:spcAft>
              <a:buFont typeface="Wingdings" panose="05000000000000000000" pitchFamily="2" charset="2"/>
              <a:buChar char="§"/>
            </a:pPr>
            <a:r>
              <a:rPr lang="vi-VN" sz="1300" b="1" dirty="0">
                <a:latin typeface="Calibri"/>
                <a:ea typeface="Calibri"/>
                <a:cs typeface="Calibri"/>
              </a:rPr>
              <a:t>Data Ingestion Portal Front-end</a:t>
            </a:r>
            <a:r>
              <a:rPr lang="vi-VN" sz="1300" dirty="0">
                <a:latin typeface="Calibri"/>
                <a:ea typeface="Calibri"/>
                <a:cs typeface="Calibri"/>
              </a:rPr>
              <a:t>: Giao diện người dùng tương tác với hệ thống (upload, preview dữ liệu, phê duyệt ..)</a:t>
            </a:r>
            <a:endParaRPr lang="en-US" sz="1300" dirty="0">
              <a:latin typeface="Calibri"/>
              <a:ea typeface="Calibri"/>
              <a:cs typeface="Calibri"/>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API Gateway</a:t>
            </a:r>
            <a:r>
              <a:rPr lang="en-US" sz="1300" b="1" dirty="0">
                <a:latin typeface="Calibri"/>
                <a:ea typeface="Calibri"/>
                <a:cs typeface="Calibri"/>
              </a:rPr>
              <a:t>: </a:t>
            </a:r>
            <a:r>
              <a:rPr lang="vi-VN" sz="1300" dirty="0">
                <a:latin typeface="Calibri"/>
                <a:ea typeface="Calibri"/>
                <a:cs typeface="Calibri"/>
              </a:rPr>
              <a:t>JWT Auth, Rate Limiting, Routing</a:t>
            </a:r>
            <a:r>
              <a:rPr lang="en-US" sz="1300" dirty="0">
                <a:latin typeface="Calibri"/>
                <a:ea typeface="Calibri"/>
                <a:cs typeface="Calibri"/>
              </a:rPr>
              <a:t>.</a:t>
            </a:r>
          </a:p>
          <a:p>
            <a:pPr marL="285750" indent="-285750" algn="just">
              <a:spcAft>
                <a:spcPts val="600"/>
              </a:spcAft>
              <a:buFont typeface="Wingdings" panose="05000000000000000000" pitchFamily="2" charset="2"/>
              <a:buChar char="§"/>
            </a:pPr>
            <a:r>
              <a:rPr lang="vi-VN" sz="1300" b="1" dirty="0">
                <a:latin typeface="Calibri" panose="020F0502020204030204" pitchFamily="34" charset="0"/>
                <a:cs typeface="Calibri" panose="020F0502020204030204" pitchFamily="34" charset="0"/>
              </a:rPr>
              <a:t>Service Layer</a:t>
            </a:r>
            <a:r>
              <a:rPr lang="vi-VN" sz="1300" dirty="0">
                <a:latin typeface="Calibri" panose="020F0502020204030204" pitchFamily="34" charset="0"/>
                <a:cs typeface="Calibri" panose="020F0502020204030204" pitchFamily="34" charset="0"/>
              </a:rPr>
              <a:t>: Là lớp service xử lý nghiệp vụ,</a:t>
            </a:r>
            <a:r>
              <a:rPr lang="en-US" sz="1300" dirty="0">
                <a:latin typeface="Calibri" panose="020F0502020204030204" pitchFamily="34" charset="0"/>
                <a:cs typeface="Calibri" panose="020F0502020204030204" pitchFamily="34" charset="0"/>
              </a:rPr>
              <a:t> </a:t>
            </a:r>
            <a:r>
              <a:rPr lang="vi-VN" sz="1300" dirty="0">
                <a:latin typeface="Calibri" panose="020F0502020204030204" pitchFamily="34" charset="0"/>
                <a:cs typeface="Calibri" panose="020F0502020204030204" pitchFamily="34" charset="0"/>
              </a:rPr>
              <a:t>g</a:t>
            </a:r>
            <a:r>
              <a:rPr lang="en-US" sz="1300" dirty="0" err="1">
                <a:latin typeface="Calibri" panose="020F0502020204030204" pitchFamily="34" charset="0"/>
                <a:cs typeface="Calibri" panose="020F0502020204030204" pitchFamily="34" charset="0"/>
              </a:rPr>
              <a:t>ồm</a:t>
            </a:r>
            <a:r>
              <a:rPr lang="vi-VN" sz="1300" dirty="0">
                <a:latin typeface="Calibri" panose="020F0502020204030204" pitchFamily="34" charset="0"/>
                <a:cs typeface="Calibri" panose="020F0502020204030204" pitchFamily="34" charset="0"/>
              </a:rPr>
              <a:t> có</a:t>
            </a:r>
            <a:r>
              <a:rPr lang="en-US" sz="1300" dirty="0">
                <a:latin typeface="Calibri" panose="020F0502020204030204" pitchFamily="34" charset="0"/>
                <a:cs typeface="Calibri" panose="020F0502020204030204" pitchFamily="34" charset="0"/>
              </a:rPr>
              <a:t>:</a:t>
            </a:r>
            <a:endParaRPr lang="en-US" sz="13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a:ea typeface="Calibri"/>
                <a:cs typeface="Calibri"/>
              </a:rPr>
              <a:t>Upload Mgt Service</a:t>
            </a:r>
            <a:r>
              <a:rPr lang="en-US" sz="1300" b="1" dirty="0">
                <a:latin typeface="Calibri"/>
                <a:ea typeface="Calibri"/>
                <a:cs typeface="Calibri"/>
              </a:rPr>
              <a:t>: </a:t>
            </a:r>
            <a:r>
              <a:rPr lang="vi-VN" sz="1300" dirty="0">
                <a:latin typeface="Calibri"/>
                <a:ea typeface="Calibri"/>
                <a:cs typeface="Calibri"/>
              </a:rPr>
              <a:t>service quản lý các dataset, tiến trình và nhật ký upload</a:t>
            </a:r>
            <a:r>
              <a:rPr lang="en-US" sz="1300" dirty="0">
                <a:latin typeface="Calibri"/>
                <a:ea typeface="Calibri"/>
                <a:cs typeface="Calibri"/>
              </a:rPr>
              <a:t>.</a:t>
            </a:r>
            <a:endParaRPr lang="en-US" sz="13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User Mgt Service</a:t>
            </a:r>
            <a:r>
              <a:rPr lang="vi-VN" sz="1300" dirty="0">
                <a:latin typeface="Calibri" panose="020F0502020204030204" pitchFamily="34" charset="0"/>
                <a:cs typeface="Calibri" panose="020F0502020204030204" pitchFamily="34" charset="0"/>
              </a:rPr>
              <a:t>: quản lý user, xác thực, phân quyền</a:t>
            </a:r>
            <a:r>
              <a:rPr lang="en-US" sz="1300" b="1" dirty="0">
                <a:latin typeface="Calibri" panose="020F0502020204030204" pitchFamily="34" charset="0"/>
                <a:cs typeface="Calibri" panose="020F0502020204030204" pitchFamily="34" charset="0"/>
              </a:rPr>
              <a:t>.</a:t>
            </a:r>
            <a:endParaRPr lang="en-US" sz="13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Database &amp; Storage Layer</a:t>
            </a:r>
            <a:r>
              <a:rPr lang="en-US" sz="1300" dirty="0">
                <a:latin typeface="Calibri"/>
                <a:ea typeface="Calibri"/>
                <a:cs typeface="Calibri"/>
              </a:rPr>
              <a:t>: </a:t>
            </a:r>
            <a:r>
              <a:rPr lang="vi-VN" sz="13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Database Postgres: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metadata cho các service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staging để lưu dữ liệu upload.</a:t>
            </a:r>
            <a:endParaRPr lang="en-US" sz="13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Cache Redis: </a:t>
            </a:r>
            <a:r>
              <a:rPr lang="vi-VN" sz="1300" dirty="0">
                <a:latin typeface="Calibri"/>
                <a:ea typeface="Calibri"/>
                <a:cs typeface="Calibri"/>
              </a:rPr>
              <a:t>cache dữ liệu thường xuyên sử dụng, ít thay đổi dùng cho truy cập nhanh và thường xuyên.</a:t>
            </a:r>
            <a:endParaRPr lang="vi-VN" sz="1300" dirty="0"/>
          </a:p>
          <a:p>
            <a:pPr marL="285750" indent="-285750" algn="just">
              <a:spcAft>
                <a:spcPts val="600"/>
              </a:spcAft>
              <a:buFont typeface="Wingdings" panose="05000000000000000000" pitchFamily="2" charset="2"/>
              <a:buChar char="§"/>
            </a:pPr>
            <a:r>
              <a:rPr lang="en-US" sz="1300" b="1" dirty="0" err="1">
                <a:latin typeface="Calibri"/>
                <a:ea typeface="Calibri"/>
                <a:cs typeface="Calibri"/>
              </a:rPr>
              <a:t>Các</a:t>
            </a:r>
            <a:r>
              <a:rPr lang="en-US" sz="1300" b="1" dirty="0">
                <a:latin typeface="Calibri"/>
                <a:ea typeface="Calibri"/>
                <a:cs typeface="Calibri"/>
              </a:rPr>
              <a:t> </a:t>
            </a:r>
            <a:r>
              <a:rPr lang="en-US" sz="1300" b="1" dirty="0" err="1">
                <a:latin typeface="Calibri"/>
                <a:ea typeface="Calibri"/>
                <a:cs typeface="Calibri"/>
              </a:rPr>
              <a:t>thành</a:t>
            </a:r>
            <a:r>
              <a:rPr lang="en-US" sz="1300" b="1" dirty="0">
                <a:latin typeface="Calibri"/>
                <a:ea typeface="Calibri"/>
                <a:cs typeface="Calibri"/>
              </a:rPr>
              <a:t> </a:t>
            </a:r>
            <a:r>
              <a:rPr lang="en-US" sz="1300" b="1" dirty="0" err="1">
                <a:latin typeface="Calibri"/>
                <a:ea typeface="Calibri"/>
                <a:cs typeface="Calibri"/>
              </a:rPr>
              <a:t>phần</a:t>
            </a:r>
            <a:r>
              <a:rPr lang="en-US" sz="1300" b="1" dirty="0">
                <a:latin typeface="Calibri"/>
                <a:ea typeface="Calibri"/>
                <a:cs typeface="Calibri"/>
              </a:rPr>
              <a:t> </a:t>
            </a:r>
            <a:r>
              <a:rPr lang="en-US" sz="1300" b="1" dirty="0" err="1">
                <a:latin typeface="Calibri"/>
                <a:ea typeface="Calibri"/>
                <a:cs typeface="Calibri"/>
              </a:rPr>
              <a:t>sử</a:t>
            </a:r>
            <a:r>
              <a:rPr lang="en-US" sz="1300" b="1" dirty="0">
                <a:latin typeface="Calibri"/>
                <a:ea typeface="Calibri"/>
                <a:cs typeface="Calibri"/>
              </a:rPr>
              <a:t> </a:t>
            </a:r>
            <a:r>
              <a:rPr lang="en-US" sz="1300" b="1" dirty="0" err="1">
                <a:latin typeface="Calibri"/>
                <a:ea typeface="Calibri"/>
                <a:cs typeface="Calibri"/>
              </a:rPr>
              <a:t>dụng</a:t>
            </a:r>
            <a:r>
              <a:rPr lang="en-US" sz="1300" b="1" dirty="0">
                <a:latin typeface="Calibri"/>
                <a:ea typeface="Calibri"/>
                <a:cs typeface="Calibri"/>
              </a:rPr>
              <a:t> </a:t>
            </a:r>
            <a:r>
              <a:rPr lang="en-US" sz="1300" b="1" dirty="0" err="1">
                <a:latin typeface="Calibri"/>
                <a:ea typeface="Calibri"/>
                <a:cs typeface="Calibri"/>
              </a:rPr>
              <a:t>trên</a:t>
            </a:r>
            <a:r>
              <a:rPr lang="en-US" sz="1300" b="1" dirty="0">
                <a:latin typeface="Calibri"/>
                <a:ea typeface="Calibri"/>
                <a:cs typeface="Calibri"/>
              </a:rPr>
              <a:t> </a:t>
            </a:r>
            <a:r>
              <a:rPr lang="en-US" sz="1300" b="1" dirty="0" err="1">
                <a:latin typeface="Calibri"/>
                <a:ea typeface="Calibri"/>
                <a:cs typeface="Calibri"/>
              </a:rPr>
              <a:t>trên</a:t>
            </a:r>
            <a:r>
              <a:rPr lang="en-US" sz="1300" b="1" dirty="0">
                <a:latin typeface="Calibri"/>
                <a:ea typeface="Calibri"/>
                <a:cs typeface="Calibri"/>
              </a:rPr>
              <a:t> EDP:</a:t>
            </a: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Validation Service</a:t>
            </a:r>
            <a:r>
              <a:rPr lang="vi-VN" sz="1300" dirty="0">
                <a:latin typeface="Calibri" panose="020F0502020204030204" pitchFamily="34" charset="0"/>
                <a:cs typeface="Calibri" panose="020F0502020204030204" pitchFamily="34" charset="0"/>
              </a:rPr>
              <a:t>: thực hiện kiểm tra chất lượng dữ liệu theo bộ quy tắc của từng loại file dữ liệu</a:t>
            </a:r>
            <a:r>
              <a:rPr lang="en-US" sz="1300" b="1" dirty="0">
                <a:latin typeface="Calibri" panose="020F0502020204030204" pitchFamily="34" charset="0"/>
                <a:cs typeface="Calibri" panose="020F0502020204030204" pitchFamily="34" charset="0"/>
              </a:rPr>
              <a:t>.</a:t>
            </a:r>
            <a:endParaRPr lang="en-US" sz="1300" b="1" dirty="0">
              <a:latin typeface="Calibri" panose="020F0502020204030204" pitchFamily="34" charset="0"/>
              <a:ea typeface="Calibri Light"/>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Ingestion</a:t>
            </a:r>
            <a:r>
              <a:rPr lang="en-US" sz="1300" b="1" dirty="0">
                <a:latin typeface="Calibri" panose="020F0502020204030204" pitchFamily="34" charset="0"/>
                <a:cs typeface="Calibri" panose="020F0502020204030204" pitchFamily="34" charset="0"/>
              </a:rPr>
              <a:t> </a:t>
            </a:r>
            <a:r>
              <a:rPr lang="vi-VN" sz="1300" b="1" dirty="0">
                <a:latin typeface="Calibri" panose="020F0502020204030204" pitchFamily="34" charset="0"/>
                <a:cs typeface="Calibri" panose="020F0502020204030204" pitchFamily="34" charset="0"/>
              </a:rPr>
              <a:t>Service</a:t>
            </a:r>
            <a:r>
              <a:rPr lang="en-US" sz="1300" dirty="0">
                <a:latin typeface="Calibri" panose="020F0502020204030204" pitchFamily="34" charset="0"/>
                <a:cs typeface="Calibri" panose="020F0502020204030204" pitchFamily="34" charset="0"/>
              </a:rPr>
              <a:t>:</a:t>
            </a:r>
            <a:r>
              <a:rPr lang="vi-VN" sz="1300" dirty="0">
                <a:latin typeface="Calibri" panose="020F0502020204030204" pitchFamily="34" charset="0"/>
                <a:cs typeface="Calibri" panose="020F0502020204030204" pitchFamily="34" charset="0"/>
              </a:rPr>
              <a:t> ingest dữ </a:t>
            </a:r>
            <a:r>
              <a:rPr lang="en-US" sz="1300" dirty="0">
                <a:latin typeface="Calibri" panose="020F0502020204030204" pitchFamily="34" charset="0"/>
                <a:cs typeface="Calibri" panose="020F0502020204030204" pitchFamily="34" charset="0"/>
              </a:rPr>
              <a:t> </a:t>
            </a:r>
            <a:r>
              <a:rPr lang="en-US" sz="1300" dirty="0" err="1">
                <a:latin typeface="Calibri" panose="020F0502020204030204" pitchFamily="34" charset="0"/>
                <a:cs typeface="Calibri" panose="020F0502020204030204" pitchFamily="34" charset="0"/>
              </a:rPr>
              <a:t>từ</a:t>
            </a:r>
            <a:r>
              <a:rPr lang="en-US" sz="1300" dirty="0">
                <a:latin typeface="Calibri" panose="020F0502020204030204" pitchFamily="34" charset="0"/>
                <a:cs typeface="Calibri" panose="020F0502020204030204" pitchFamily="34" charset="0"/>
              </a:rPr>
              <a:t> DB Staging </a:t>
            </a:r>
            <a:r>
              <a:rPr lang="en-US" sz="1300" dirty="0" err="1">
                <a:latin typeface="Calibri" panose="020F0502020204030204" pitchFamily="34" charset="0"/>
                <a:cs typeface="Calibri" panose="020F0502020204030204" pitchFamily="34" charset="0"/>
              </a:rPr>
              <a:t>vào</a:t>
            </a:r>
            <a:r>
              <a:rPr lang="en-US" sz="1300" dirty="0">
                <a:latin typeface="Calibri" panose="020F0502020204030204" pitchFamily="34" charset="0"/>
                <a:cs typeface="Calibri" panose="020F0502020204030204" pitchFamily="34" charset="0"/>
              </a:rPr>
              <a:t> Bronze zone.</a:t>
            </a:r>
            <a:endParaRPr lang="vi-VN" sz="13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cs typeface="Calibri"/>
              </a:rPr>
              <a:t>Object Storage: </a:t>
            </a:r>
            <a:r>
              <a:rPr lang="vi-VN" sz="1300" dirty="0">
                <a:latin typeface="Calibri"/>
                <a:cs typeface="Calibri"/>
              </a:rPr>
              <a:t>xin cấp bucket trên Dell ECS</a:t>
            </a:r>
            <a:endParaRPr lang="en-US" sz="1300" dirty="0">
              <a:latin typeface="Calibri"/>
              <a:cs typeface="Calibri"/>
            </a:endParaRPr>
          </a:p>
          <a:p>
            <a:pPr marL="285750" indent="-285750" algn="just">
              <a:spcAft>
                <a:spcPts val="600"/>
              </a:spcAft>
              <a:buFont typeface="Wingdings" panose="05000000000000000000" pitchFamily="2" charset="2"/>
              <a:buChar char="§"/>
            </a:pPr>
            <a:r>
              <a:rPr lang="en-US" sz="1300" b="1" dirty="0">
                <a:latin typeface="Calibri" panose="020F0502020204030204" pitchFamily="34" charset="0"/>
                <a:ea typeface="Calibri Light"/>
                <a:cs typeface="Calibri" panose="020F0502020204030204" pitchFamily="34" charset="0"/>
              </a:rPr>
              <a:t>Message queue</a:t>
            </a:r>
            <a:r>
              <a:rPr lang="en-US" sz="1300" dirty="0">
                <a:latin typeface="Calibri" panose="020F0502020204030204" pitchFamily="34" charset="0"/>
                <a:ea typeface="Calibri Light"/>
                <a:cs typeface="Calibri" panose="020F0502020204030204" pitchFamily="34" charset="0"/>
              </a:rPr>
              <a:t>: 2 topic </a:t>
            </a:r>
            <a:r>
              <a:rPr lang="en-US" sz="1300" dirty="0" err="1">
                <a:latin typeface="Calibri" panose="020F0502020204030204" pitchFamily="34" charset="0"/>
                <a:ea typeface="Calibri Light"/>
                <a:cs typeface="Calibri" panose="020F0502020204030204" pitchFamily="34" charset="0"/>
              </a:rPr>
              <a:t>mới</a:t>
            </a:r>
            <a:r>
              <a:rPr lang="en-US" sz="1300" dirty="0">
                <a:latin typeface="Calibri" panose="020F0502020204030204" pitchFamily="34" charset="0"/>
                <a:ea typeface="Calibri Light"/>
                <a:cs typeface="Calibri" panose="020F0502020204030204" pitchFamily="34" charset="0"/>
              </a:rPr>
              <a:t> </a:t>
            </a:r>
            <a:r>
              <a:rPr lang="en-US" sz="1300" dirty="0" err="1">
                <a:latin typeface="Calibri" panose="020F0502020204030204" pitchFamily="34" charset="0"/>
                <a:ea typeface="Calibri Light"/>
                <a:cs typeface="Calibri" panose="020F0502020204030204" pitchFamily="34" charset="0"/>
              </a:rPr>
              <a:t>trên</a:t>
            </a:r>
            <a:r>
              <a:rPr lang="en-US" sz="1300" dirty="0">
                <a:latin typeface="Calibri" panose="020F0502020204030204" pitchFamily="34" charset="0"/>
                <a:ea typeface="Calibri Light"/>
                <a:cs typeface="Calibri" panose="020F0502020204030204" pitchFamily="34" charset="0"/>
              </a:rPr>
              <a:t> </a:t>
            </a:r>
            <a:r>
              <a:rPr lang="vi-VN" sz="1300" dirty="0">
                <a:latin typeface="Calibri" panose="020F0502020204030204" pitchFamily="34" charset="0"/>
                <a:ea typeface="Calibri Light"/>
                <a:cs typeface="Calibri" panose="020F0502020204030204" pitchFamily="34" charset="0"/>
              </a:rPr>
              <a:t>Kafka Bankwide</a:t>
            </a:r>
            <a:endParaRPr lang="vi-VN" sz="1300" dirty="0">
              <a:latin typeface="Calibri Light"/>
              <a:ea typeface="Calibri Light"/>
              <a:cs typeface="Calibri"/>
            </a:endParaRPr>
          </a:p>
        </p:txBody>
      </p:sp>
      <p:pic>
        <p:nvPicPr>
          <p:cNvPr id="26636" name="Picture 12">
            <a:extLst>
              <a:ext uri="{FF2B5EF4-FFF2-40B4-BE49-F238E27FC236}">
                <a16:creationId xmlns:a16="http://schemas.microsoft.com/office/drawing/2014/main" id="{8A3916E4-0DA5-4440-80FC-189183C4D8E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074" y="1014413"/>
            <a:ext cx="6296025" cy="55757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lý/điều phối</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quá</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trình</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upload/validate/ingest</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Preview dữ liệu</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files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Ghi audit log</a:t>
              </a: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Authen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Authorize</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Đọc</a:t>
              </a:r>
              <a:r>
                <a:rPr lang="vi-VN" sz="1400" dirty="0">
                  <a:latin typeface="Calibri" panose="020F0502020204030204" pitchFamily="34" charset="0"/>
                  <a:cs typeface="Calibri" panose="020F0502020204030204" pitchFamily="34" charset="0"/>
                </a:rPr>
                <a:t> file từ S3/Dell ECS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Kiểm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cấu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trúc</a:t>
              </a:r>
              <a:r>
                <a:rPr lang="en-US" sz="1400" dirty="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Lưu</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chi tiết kết quả validate, dữ liệu mẫu, dữ liệu sai ...</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Lưu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validate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a:latin typeface="Calibri" panose="020F0502020204030204" pitchFamily="34" charset="0"/>
                  <a:cs typeface="Calibri" panose="020F0502020204030204" pitchFamily="34" charset="0"/>
                </a:rPr>
                <a:t>Load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Staging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Mã hóa/giải mã dữ liệu</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ingest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701540" y="2308124"/>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Upload</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0"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User</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 Validation </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r>
                <a:rPr lang="en-US" sz="1200" b="0" i="0" u="none" strike="noStrike" cap="none" dirty="0">
                  <a:solidFill>
                    <a:srgbClr val="4A5568"/>
                  </a:solidFill>
                  <a:latin typeface="Open Sans"/>
                  <a:ea typeface="Open Sans"/>
                  <a:cs typeface="Open Sans"/>
                  <a:sym typeface="Open Sans"/>
                </a:rPr>
                <a:t>/Notebook</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47439" y="2308122"/>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a:t>
              </a:r>
              <a:r>
                <a:rPr lang="en-US" sz="1650" b="0" i="0" u="none" strike="noStrike" cap="none" dirty="0">
                  <a:solidFill>
                    <a:srgbClr val="005088"/>
                  </a:solidFill>
                  <a:latin typeface="Roboto SemiBold"/>
                  <a:ea typeface="Roboto SemiBold"/>
                  <a:cs typeface="Roboto SemiBold"/>
                  <a:sym typeface="Roboto SemiBold"/>
                </a:rPr>
                <a:t> </a:t>
              </a:r>
              <a:r>
                <a:rPr lang="vi-VN" sz="1650" b="0" i="0" u="none" strike="noStrike" cap="none" dirty="0">
                  <a:solidFill>
                    <a:srgbClr val="005088"/>
                  </a:solidFill>
                  <a:latin typeface="Roboto SemiBold"/>
                  <a:ea typeface="Roboto SemiBold"/>
                  <a:cs typeface="Roboto SemiBold"/>
                  <a:sym typeface="Roboto SemiBold"/>
                </a:rPr>
                <a:t>Ingestion</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35233"/>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373725"/>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DELL ECS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Database 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DB </a:t>
            </a:r>
            <a:r>
              <a:rPr lang="en-US" sz="1350" b="0" i="0" u="none" strike="noStrike" cap="none" dirty="0">
                <a:solidFill>
                  <a:srgbClr val="4A5568"/>
                </a:solidFill>
                <a:latin typeface="Open Sans"/>
                <a:ea typeface="Open Sans"/>
                <a:cs typeface="Open Sans"/>
                <a:sym typeface="Open Sans"/>
              </a:rPr>
              <a:t>Staging</a:t>
            </a:r>
            <a:r>
              <a:rPr lang="vi-VN" sz="1350" b="0" i="0" u="none" strike="noStrike" cap="none" dirty="0">
                <a:solidFill>
                  <a:srgbClr val="4A5568"/>
                </a:solidFill>
                <a:latin typeface="Open Sans"/>
                <a:ea typeface="Open Sans"/>
                <a:cs typeface="Open Sans"/>
                <a:sym typeface="Open Sans"/>
              </a:rPr>
              <a:t> lưu dữ liệu upload</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tạm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Kafka</a:t>
            </a:r>
            <a:r>
              <a:rPr lang="vi-VN" sz="1800" b="0" i="0" u="none" strike="noStrike" cap="none" dirty="0">
                <a:solidFill>
                  <a:srgbClr val="005088"/>
                </a:solidFill>
                <a:latin typeface="Roboto SemiBold"/>
                <a:ea typeface="Roboto SemiBold"/>
                <a:cs typeface="Roboto SemiBold"/>
                <a:sym typeface="Roboto SemiBold"/>
              </a:rPr>
              <a:t> bankwide</a:t>
            </a:r>
            <a:r>
              <a:rPr lang="en-US" sz="1800" b="0" i="0" u="none" strike="noStrike" cap="none" dirty="0">
                <a:solidFill>
                  <a:srgbClr val="005088"/>
                </a:solidFill>
                <a:latin typeface="Roboto SemiBold"/>
                <a:ea typeface="Roboto SemiBold"/>
                <a:cs typeface="Roboto SemiBold"/>
                <a:sym typeface="Roboto SemiBold"/>
              </a:rPr>
              <a:t>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a:solidFill>
                  <a:srgbClr val="4A5568"/>
                </a:solidFill>
                <a:latin typeface="Open Sans"/>
                <a:sym typeface="Open Sans"/>
              </a:rPr>
              <a:t>Điểm</a:t>
            </a:r>
            <a:r>
              <a:rPr lang="en-US" sz="1350" dirty="0">
                <a:solidFill>
                  <a:srgbClr val="4A5568"/>
                </a:solidFill>
                <a:latin typeface="Open Sans"/>
                <a:sym typeface="Open Sans"/>
              </a:rPr>
              <a:t> </a:t>
            </a:r>
            <a:r>
              <a:rPr lang="en-US" sz="1350" dirty="0" err="1">
                <a:solidFill>
                  <a:srgbClr val="4A5568"/>
                </a:solidFill>
                <a:latin typeface="Open Sans"/>
                <a:sym typeface="Open Sans"/>
              </a:rPr>
              <a:t>cuối</a:t>
            </a:r>
            <a:r>
              <a:rPr lang="en-US" sz="1350" dirty="0">
                <a:solidFill>
                  <a:srgbClr val="4A5568"/>
                </a:solidFill>
                <a:latin typeface="Open Sans"/>
                <a:sym typeface="Open Sans"/>
              </a:rPr>
              <a:t> </a:t>
            </a:r>
            <a:r>
              <a:rPr lang="en-US" sz="1350" dirty="0" err="1">
                <a:solidFill>
                  <a:srgbClr val="4A5568"/>
                </a:solidFill>
                <a:latin typeface="Open Sans"/>
                <a:sym typeface="Open Sans"/>
              </a:rPr>
              <a:t>lưu</a:t>
            </a:r>
            <a:r>
              <a:rPr lang="en-US" sz="1350" dirty="0">
                <a:solidFill>
                  <a:srgbClr val="4A5568"/>
                </a:solidFill>
                <a:latin typeface="Open Sans"/>
                <a:sym typeface="Open Sans"/>
              </a:rPr>
              <a:t> </a:t>
            </a:r>
            <a:r>
              <a:rPr lang="en-US" sz="1350" dirty="0" err="1">
                <a:solidFill>
                  <a:srgbClr val="4A5568"/>
                </a:solidFill>
                <a:latin typeface="Open Sans"/>
                <a:sym typeface="Open Sans"/>
              </a:rPr>
              <a:t>trữ</a:t>
            </a:r>
            <a:r>
              <a:rPr lang="en-US" sz="1350" dirty="0">
                <a:solidFill>
                  <a:srgbClr val="4A5568"/>
                </a:solidFill>
                <a:latin typeface="Open Sans"/>
                <a:sym typeface="Open Sans"/>
              </a:rPr>
              <a:t> </a:t>
            </a:r>
            <a:r>
              <a:rPr lang="en-US" sz="1350" dirty="0" err="1">
                <a:solidFill>
                  <a:srgbClr val="4A5568"/>
                </a:solidFill>
                <a:latin typeface="Open Sans"/>
                <a:sym typeface="Open Sans"/>
              </a:rPr>
              <a:t>dữ</a:t>
            </a:r>
            <a:r>
              <a:rPr lang="en-US" sz="1350" dirty="0">
                <a:solidFill>
                  <a:srgbClr val="4A5568"/>
                </a:solidFill>
                <a:latin typeface="Open Sans"/>
                <a:sym typeface="Open Sans"/>
              </a:rPr>
              <a:t> </a:t>
            </a:r>
            <a:r>
              <a:rPr lang="en-US" sz="1350" dirty="0" err="1">
                <a:solidFill>
                  <a:srgbClr val="4A5568"/>
                </a:solidFill>
                <a:latin typeface="Open Sans"/>
                <a:sym typeface="Open Sans"/>
              </a:rPr>
              <a:t>liệu</a:t>
            </a:r>
            <a:r>
              <a:rPr lang="en-US" sz="1350" dirty="0">
                <a:solidFill>
                  <a:srgbClr val="4A5568"/>
                </a:solidFill>
                <a:latin typeface="Open Sans"/>
                <a:sym typeface="Open Sans"/>
              </a:rPr>
              <a:t> upload. </a:t>
            </a:r>
            <a:r>
              <a:rPr lang="en-US" sz="1350" dirty="0" err="1">
                <a:solidFill>
                  <a:srgbClr val="4A5568"/>
                </a:solidFill>
                <a:latin typeface="Open Sans"/>
                <a:sym typeface="Open Sans"/>
              </a:rPr>
              <a:t>Sẵn</a:t>
            </a:r>
            <a:r>
              <a:rPr lang="en-US" sz="1350" dirty="0">
                <a:solidFill>
                  <a:srgbClr val="4A5568"/>
                </a:solidFill>
                <a:latin typeface="Open Sans"/>
                <a:sym typeface="Open Sans"/>
              </a:rPr>
              <a:t> </a:t>
            </a:r>
            <a:r>
              <a:rPr lang="en-US" sz="1350" dirty="0" err="1">
                <a:solidFill>
                  <a:srgbClr val="4A5568"/>
                </a:solidFill>
                <a:latin typeface="Open Sans"/>
                <a:sym typeface="Open Sans"/>
              </a:rPr>
              <a:t>sàng</a:t>
            </a:r>
            <a:r>
              <a:rPr lang="en-US" sz="1350" dirty="0">
                <a:solidFill>
                  <a:srgbClr val="4A5568"/>
                </a:solidFill>
                <a:latin typeface="Open Sans"/>
                <a:sym typeface="Open Sans"/>
              </a:rPr>
              <a:t> </a:t>
            </a:r>
            <a:r>
              <a:rPr lang="en-US" sz="1350" dirty="0" err="1">
                <a:solidFill>
                  <a:srgbClr val="4A5568"/>
                </a:solidFill>
                <a:latin typeface="Open Sans"/>
                <a:sym typeface="Open Sans"/>
              </a:rPr>
              <a:t>cho</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nhu</a:t>
            </a:r>
            <a:r>
              <a:rPr lang="en-US" sz="1350" dirty="0">
                <a:solidFill>
                  <a:srgbClr val="4A5568"/>
                </a:solidFill>
                <a:latin typeface="Open Sans"/>
                <a:sym typeface="Open Sans"/>
              </a:rPr>
              <a:t> </a:t>
            </a:r>
            <a:r>
              <a:rPr lang="en-US" sz="1350" dirty="0" err="1">
                <a:solidFill>
                  <a:srgbClr val="4A5568"/>
                </a:solidFill>
                <a:latin typeface="Open Sans"/>
                <a:sym typeface="Open Sans"/>
              </a:rPr>
              <a:t>cầu</a:t>
            </a:r>
            <a:r>
              <a:rPr lang="en-US" sz="1350" dirty="0">
                <a:solidFill>
                  <a:srgbClr val="4A5568"/>
                </a:solidFill>
                <a:latin typeface="Open Sans"/>
                <a:sym typeface="Open Sans"/>
              </a:rPr>
              <a:t> </a:t>
            </a:r>
            <a:r>
              <a:rPr lang="en-US" sz="1350" dirty="0" err="1">
                <a:solidFill>
                  <a:srgbClr val="4A5568"/>
                </a:solidFill>
                <a:latin typeface="Open Sans"/>
                <a:sym typeface="Open Sans"/>
              </a:rPr>
              <a:t>khai</a:t>
            </a:r>
            <a:r>
              <a:rPr lang="en-US" sz="1350" dirty="0">
                <a:solidFill>
                  <a:srgbClr val="4A5568"/>
                </a:solidFill>
                <a:latin typeface="Open Sans"/>
                <a:sym typeface="Open Sans"/>
              </a:rPr>
              <a:t> </a:t>
            </a:r>
            <a:r>
              <a:rPr lang="en-US" sz="1350" dirty="0" err="1">
                <a:solidFill>
                  <a:srgbClr val="4A5568"/>
                </a:solidFill>
                <a:latin typeface="Open Sans"/>
                <a:sym typeface="Open Sans"/>
              </a:rPr>
              <a:t>thác</a:t>
            </a:r>
            <a:r>
              <a:rPr lang="en-US" sz="1350" dirty="0">
                <a:solidFill>
                  <a:srgbClr val="4A5568"/>
                </a:solidFill>
                <a:latin typeface="Open Sans"/>
                <a:sym typeface="Open Sans"/>
              </a:rPr>
              <a:t>, </a:t>
            </a:r>
            <a:r>
              <a:rPr lang="en-US" sz="1350" dirty="0" err="1">
                <a:solidFill>
                  <a:srgbClr val="4A5568"/>
                </a:solidFill>
                <a:latin typeface="Open Sans"/>
                <a:sym typeface="Open Sans"/>
              </a:rPr>
              <a:t>tích</a:t>
            </a:r>
            <a:r>
              <a:rPr lang="en-US" sz="1350" dirty="0">
                <a:solidFill>
                  <a:srgbClr val="4A5568"/>
                </a:solidFill>
                <a:latin typeface="Open Sans"/>
                <a:sym typeface="Open Sans"/>
              </a:rPr>
              <a:t> </a:t>
            </a:r>
            <a:r>
              <a:rPr lang="en-US" sz="1350" dirty="0" err="1">
                <a:solidFill>
                  <a:srgbClr val="4A5568"/>
                </a:solidFill>
                <a:latin typeface="Open Sans"/>
                <a:sym typeface="Open Sans"/>
              </a:rPr>
              <a:t>hợp</a:t>
            </a:r>
            <a:r>
              <a:rPr lang="en-US" sz="1350" dirty="0">
                <a:solidFill>
                  <a:srgbClr val="4A5568"/>
                </a:solidFill>
                <a:latin typeface="Open Sans"/>
                <a:sym typeface="Open Sans"/>
              </a:rPr>
              <a:t> </a:t>
            </a:r>
            <a:r>
              <a:rPr lang="en-US" sz="1350" dirty="0" err="1">
                <a:solidFill>
                  <a:srgbClr val="4A5568"/>
                </a:solidFill>
                <a:latin typeface="Open Sans"/>
                <a:sym typeface="Open Sans"/>
              </a:rPr>
              <a:t>của</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ứng</a:t>
            </a:r>
            <a:r>
              <a:rPr lang="en-US" sz="1350" dirty="0">
                <a:solidFill>
                  <a:srgbClr val="4A5568"/>
                </a:solidFill>
                <a:latin typeface="Open Sans"/>
                <a:sym typeface="Open Sans"/>
              </a:rPr>
              <a:t> </a:t>
            </a:r>
            <a:r>
              <a:rPr lang="en-US" sz="1350" dirty="0" err="1">
                <a:solidFill>
                  <a:srgbClr val="4A5568"/>
                </a:solidFill>
                <a:latin typeface="Open Sans"/>
                <a:sym typeface="Open Sans"/>
              </a:rPr>
              <a:t>dụng</a:t>
            </a:r>
            <a:r>
              <a:rPr lang="en-US" sz="1350" dirty="0">
                <a:solidFill>
                  <a:srgbClr val="4A5568"/>
                </a:solidFill>
                <a:latin typeface="Open Sans"/>
                <a:sym typeface="Open Sans"/>
              </a:rPr>
              <a:t> </a:t>
            </a:r>
            <a:r>
              <a:rPr lang="en-US" sz="1350" dirty="0" err="1">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7620199" y="1417763"/>
            <a:ext cx="4257411"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a:latin typeface="Calibri"/>
                <a:ea typeface="Calibri"/>
                <a:cs typeface="Calibri"/>
              </a:rPr>
              <a:t>Các</a:t>
            </a:r>
            <a:r>
              <a:rPr lang="en-US" sz="1400" b="1" dirty="0">
                <a:latin typeface="Calibri"/>
                <a:ea typeface="Calibri"/>
                <a:cs typeface="Calibri"/>
              </a:rPr>
              <a:t> </a:t>
            </a:r>
            <a:r>
              <a:rPr lang="en-US" sz="1400" b="1" dirty="0" err="1">
                <a:latin typeface="Calibri"/>
                <a:ea typeface="Calibri"/>
                <a:cs typeface="Calibri"/>
              </a:rPr>
              <a:t>luồng</a:t>
            </a:r>
            <a:r>
              <a:rPr lang="en-US" sz="1400" b="1" dirty="0">
                <a:latin typeface="Calibri"/>
                <a:ea typeface="Calibri"/>
                <a:cs typeface="Calibri"/>
              </a:rPr>
              <a:t> </a:t>
            </a:r>
            <a:r>
              <a:rPr lang="en-US" sz="1400" b="1" dirty="0" err="1">
                <a:latin typeface="Calibri"/>
                <a:ea typeface="Calibri"/>
                <a:cs typeface="Calibri"/>
              </a:rPr>
              <a:t>tích</a:t>
            </a:r>
            <a:r>
              <a:rPr lang="en-US" sz="1400" b="1" dirty="0">
                <a:latin typeface="Calibri"/>
                <a:ea typeface="Calibri"/>
                <a:cs typeface="Calibri"/>
              </a:rPr>
              <a:t> </a:t>
            </a:r>
            <a:r>
              <a:rPr lang="en-US" sz="1400" b="1" dirty="0" err="1">
                <a:latin typeface="Calibri"/>
                <a:ea typeface="Calibri"/>
                <a:cs typeface="Calibri"/>
              </a:rPr>
              <a:t>hợp</a:t>
            </a:r>
            <a:r>
              <a:rPr lang="en-US" sz="1400" b="1" dirty="0">
                <a:latin typeface="Calibri"/>
                <a:ea typeface="Calibri"/>
                <a:cs typeface="Calibri"/>
              </a:rPr>
              <a:t> </a:t>
            </a:r>
            <a:r>
              <a:rPr lang="en-US" sz="1400" b="1" dirty="0" err="1">
                <a:latin typeface="Calibri"/>
                <a:ea typeface="Calibri"/>
                <a:cs typeface="Calibri"/>
              </a:rPr>
              <a:t>mới</a:t>
            </a:r>
            <a:r>
              <a:rPr lang="vi-VN" sz="1400" b="1"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a:ea typeface="Calibri"/>
                <a:cs typeface="Calibri"/>
              </a:rPr>
              <a:t>Data Ingestion Portal</a:t>
            </a:r>
            <a:r>
              <a:rPr lang="en-US" sz="1400" b="1" dirty="0">
                <a:latin typeface="Calibri"/>
                <a:ea typeface="Calibri"/>
                <a:cs typeface="Calibri"/>
              </a:rPr>
              <a:t> FE </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HTTPS/REST</a:t>
            </a:r>
            <a:r>
              <a:rPr lang="en-US" sz="1400" dirty="0">
                <a:latin typeface="Calibri"/>
                <a:ea typeface="Calibri"/>
                <a:cs typeface="Calibri"/>
              </a:rPr>
              <a:t> </a:t>
            </a:r>
            <a:r>
              <a:rPr lang="en-US" sz="1400" dirty="0" err="1">
                <a:latin typeface="Calibri"/>
                <a:ea typeface="Calibri"/>
                <a:cs typeface="Calibri"/>
              </a:rPr>
              <a:t>đến</a:t>
            </a:r>
            <a:r>
              <a:rPr lang="en-US" sz="1400" dirty="0">
                <a:latin typeface="Calibri"/>
                <a:ea typeface="Calibri"/>
                <a:cs typeface="Calibri"/>
              </a:rPr>
              <a:t> API Gateway</a:t>
            </a: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Reverse proxy chuyển file upload đến Object Storage</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HTTP/REST đến service back-end</a:t>
            </a:r>
          </a:p>
          <a:p>
            <a:pPr marL="285750" indent="-285750" algn="just">
              <a:spcAft>
                <a:spcPts val="600"/>
              </a:spcAft>
              <a:buFont typeface="Wingdings" panose="05000000000000000000" pitchFamily="2" charset="2"/>
              <a:buChar char="§"/>
            </a:pPr>
            <a:r>
              <a:rPr lang="en-US" sz="1400" b="1" dirty="0">
                <a:latin typeface="Calibri"/>
                <a:ea typeface="Calibri"/>
                <a:cs typeface="Calibri"/>
              </a:rPr>
              <a:t>Service Layer (Upload </a:t>
            </a:r>
            <a:r>
              <a:rPr lang="en-US" sz="1400" b="1" dirty="0" err="1">
                <a:latin typeface="Calibri"/>
                <a:ea typeface="Calibri"/>
                <a:cs typeface="Calibri"/>
              </a:rPr>
              <a:t>và</a:t>
            </a:r>
            <a:r>
              <a:rPr lang="en-US" sz="1400" b="1" dirty="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a:latin typeface="Calibri"/>
                <a:ea typeface="Calibri"/>
                <a:cs typeface="Calibri"/>
              </a:rPr>
              <a:t>JDBC </a:t>
            </a:r>
            <a:r>
              <a:rPr lang="en-US" sz="1400" dirty="0" err="1">
                <a:latin typeface="Calibri"/>
                <a:ea typeface="Calibri"/>
                <a:cs typeface="Calibri"/>
              </a:rPr>
              <a:t>đến</a:t>
            </a:r>
            <a:r>
              <a:rPr lang="en-US" sz="1400" dirty="0">
                <a:latin typeface="Calibri"/>
                <a:ea typeface="Calibri"/>
                <a:cs typeface="Calibri"/>
              </a:rPr>
              <a:t> DB Postgres</a:t>
            </a:r>
            <a:r>
              <a:rPr lang="vi-VN" sz="1400" dirty="0">
                <a:latin typeface="Calibri"/>
                <a:ea typeface="Calibri"/>
                <a:cs typeface="Calibri"/>
              </a:rPr>
              <a:t> (metadata và staging)</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en-US" sz="1400" dirty="0" err="1">
                <a:latin typeface="Calibri"/>
                <a:ea typeface="Calibri"/>
                <a:cs typeface="Calibri"/>
              </a:rPr>
              <a:t>Redis</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Kafka Bankwide</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HTTP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Messaging, IAM, Dell ACS</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 đến Datastage để gọi job valdidate/ingest</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IBM </a:t>
            </a:r>
            <a:r>
              <a:rPr lang="en-US" sz="1400" b="1" dirty="0" err="1">
                <a:latin typeface="Calibri" panose="020F0502020204030204" pitchFamily="34" charset="0"/>
                <a:cs typeface="Calibri" panose="020F0502020204030204" pitchFamily="34" charset="0"/>
              </a:rPr>
              <a:t>Datastage</a:t>
            </a:r>
            <a:r>
              <a:rPr lang="en-US" sz="1400" b="1" dirty="0">
                <a:latin typeface="Calibri" panose="020F0502020204030204" pitchFamily="34" charset="0"/>
                <a:cs typeface="Calibri" panose="020F0502020204030204" pitchFamily="34" charset="0"/>
              </a:rPr>
              <a:t> CP4D</a:t>
            </a:r>
            <a:r>
              <a:rPr lang="vi-VN" sz="1400" dirty="0">
                <a:latin typeface="Calibri" panose="020F0502020204030204" pitchFamily="34" charset="0"/>
                <a:cs typeface="Calibri" panose="020F0502020204030204" pitchFamily="34" charset="0"/>
              </a:rPr>
              <a:t>:</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a:latin typeface="Calibri" panose="020F0502020204030204" pitchFamily="34" charset="0"/>
                <a:cs typeface="Calibri" panose="020F0502020204030204" pitchFamily="34" charset="0"/>
              </a:rPr>
              <a:t>JDBC </a:t>
            </a:r>
            <a:r>
              <a:rPr lang="en-US" sz="1400" dirty="0" err="1">
                <a:latin typeface="Calibri" panose="020F0502020204030204" pitchFamily="34" charset="0"/>
                <a:cs typeface="Calibri" panose="020F0502020204030204" pitchFamily="34" charset="0"/>
              </a:rPr>
              <a:t>đến</a:t>
            </a:r>
            <a:r>
              <a:rPr lang="en-US" sz="1400" dirty="0">
                <a:latin typeface="Calibri" panose="020F0502020204030204" pitchFamily="34" charset="0"/>
                <a:cs typeface="Calibri" panose="020F0502020204030204" pitchFamily="34" charset="0"/>
              </a:rPr>
              <a:t> Staging Upload DB</a:t>
            </a: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27658" name="Picture 10">
            <a:extLst>
              <a:ext uri="{FF2B5EF4-FFF2-40B4-BE49-F238E27FC236}">
                <a16:creationId xmlns:a16="http://schemas.microsoft.com/office/drawing/2014/main" id="{2A335C14-A945-4089-80E5-194EEF93B8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952742"/>
            <a:ext cx="6702019" cy="57528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346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4" name="Picture 2">
            <a:extLst>
              <a:ext uri="{FF2B5EF4-FFF2-40B4-BE49-F238E27FC236}">
                <a16:creationId xmlns:a16="http://schemas.microsoft.com/office/drawing/2014/main" id="{9373E719-746C-431D-844E-F5CC7AEF1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812645"/>
            <a:ext cx="10982325" cy="5892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có</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22" name="Picture 2">
            <a:extLst>
              <a:ext uri="{FF2B5EF4-FFF2-40B4-BE49-F238E27FC236}">
                <a16:creationId xmlns:a16="http://schemas.microsoft.com/office/drawing/2014/main" id="{099EEB29-76B2-407F-A365-2B553887E3F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563" y="801375"/>
            <a:ext cx="10425112" cy="5932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a:cs typeface="Times New Roman"/>
              </a:rPr>
              <a:t>Deployment Architecture</a:t>
            </a:r>
            <a:endParaRPr lang="en-AU" sz="3200">
              <a:solidFill>
                <a:schemeClr val="accent5"/>
              </a:solidFill>
              <a:latin typeface="Times New Roman"/>
              <a:cs typeface="Times New Roman"/>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3907946692"/>
              </p:ext>
            </p:extLst>
          </p:nvPr>
        </p:nvGraphicFramePr>
        <p:xfrm>
          <a:off x="7429500" y="1010095"/>
          <a:ext cx="4448111" cy="5434418"/>
        </p:xfrm>
        <a:graphic>
          <a:graphicData uri="http://schemas.openxmlformats.org/drawingml/2006/table">
            <a:tbl>
              <a:tblPr firstRow="1" firstCol="1" bandRow="1">
                <a:tableStyleId>{5C22544A-7EE6-4342-B048-85BDC9FD1C3A}</a:tableStyleId>
              </a:tblPr>
              <a:tblGrid>
                <a:gridCol w="939389">
                  <a:extLst>
                    <a:ext uri="{9D8B030D-6E8A-4147-A177-3AD203B41FA5}">
                      <a16:colId xmlns:a16="http://schemas.microsoft.com/office/drawing/2014/main" val="714370535"/>
                    </a:ext>
                  </a:extLst>
                </a:gridCol>
                <a:gridCol w="939389">
                  <a:extLst>
                    <a:ext uri="{9D8B030D-6E8A-4147-A177-3AD203B41FA5}">
                      <a16:colId xmlns:a16="http://schemas.microsoft.com/office/drawing/2014/main" val="1183666459"/>
                    </a:ext>
                  </a:extLst>
                </a:gridCol>
                <a:gridCol w="939389">
                  <a:extLst>
                    <a:ext uri="{9D8B030D-6E8A-4147-A177-3AD203B41FA5}">
                      <a16:colId xmlns:a16="http://schemas.microsoft.com/office/drawing/2014/main" val="452407919"/>
                    </a:ext>
                  </a:extLst>
                </a:gridCol>
                <a:gridCol w="1629944">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a:effectLst/>
                          <a:latin typeface="Times New Roman" panose="02020603050405020304" pitchFamily="18" charset="0"/>
                          <a:cs typeface="Times New Roman" panose="02020603050405020304" pitchFamily="18" charset="0"/>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frontend:latest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 (HPA)</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256Mi/500m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kong:3.4</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a:t>
                      </a:r>
                      <a:r>
                        <a:rPr lang="vi-VN" sz="900" dirty="0">
                          <a:effectLst/>
                          <a:latin typeface="Times New Roman" panose="02020603050405020304" pitchFamily="18" charset="0"/>
                          <a:cs typeface="Times New Roman" panose="02020603050405020304" pitchFamily="18" charset="0"/>
                        </a:rPr>
                        <a:t>1Gi</a:t>
                      </a:r>
                      <a:r>
                        <a:rPr lang="en-US" sz="900" dirty="0">
                          <a:effectLst/>
                          <a:latin typeface="Times New Roman" panose="02020603050405020304" pitchFamily="18" charset="0"/>
                          <a:cs typeface="Times New Roman" panose="02020603050405020304" pitchFamily="18" charset="0"/>
                        </a:rPr>
                        <a:t>/1000m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Upload Management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upload-service:latest</a:t>
                      </a:r>
                      <a:endParaRPr lang="en-US" sz="900" dirty="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User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user-service:latest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vi-VN" sz="900" dirty="0">
                          <a:effectLst/>
                          <a:latin typeface="Times New Roman" panose="02020603050405020304" pitchFamily="18" charset="0"/>
                          <a:ea typeface="Calibri" panose="020F0502020204030204" pitchFamily="34" charset="0"/>
                          <a:cs typeface="Times New Roman" panose="02020603050405020304" pitchFamily="18" charset="0"/>
                        </a:rPr>
                        <a:t>Kafka Bankwide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616903">
                <a:tc>
                  <a:txBody>
                    <a:bodyPr/>
                    <a:lstStyle/>
                    <a:p>
                      <a:pPr algn="just">
                        <a:lnSpc>
                          <a:spcPct val="135000"/>
                        </a:lnSpc>
                        <a:spcAft>
                          <a:spcPts val="0"/>
                        </a:spcAft>
                      </a:pPr>
                      <a:r>
                        <a:rPr lang="vi-VN" sz="900" dirty="0">
                          <a:effectLst/>
                          <a:latin typeface="Times New Roman" panose="02020603050405020304" pitchFamily="18" charset="0"/>
                          <a:ea typeface="+mn-ea"/>
                          <a:cs typeface="Times New Roman" panose="02020603050405020304" pitchFamily="18" charset="0"/>
                        </a:rPr>
                        <a:t>Dell ECS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Object 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latin typeface="Times New Roman" panose="02020603050405020304" pitchFamily="18" charset="0"/>
                          <a:cs typeface="Times New Roman" panose="02020603050405020304" pitchFamily="18" charset="0"/>
                        </a:rPr>
                        <a:t>Xin </a:t>
                      </a:r>
                      <a:r>
                        <a:rPr lang="en-US" sz="900" dirty="0" err="1">
                          <a:effectLst/>
                          <a:latin typeface="Times New Roman" panose="02020603050405020304" pitchFamily="18" charset="0"/>
                          <a:cs typeface="Times New Roman" panose="02020603050405020304" pitchFamily="18" charset="0"/>
                        </a:rPr>
                        <a:t>cấp</a:t>
                      </a:r>
                      <a:r>
                        <a:rPr lang="en-US" sz="900" dirty="0">
                          <a:effectLst/>
                          <a:latin typeface="Times New Roman" panose="02020603050405020304" pitchFamily="18" charset="0"/>
                          <a:cs typeface="Times New Roman" panose="02020603050405020304" pitchFamily="18" charset="0"/>
                        </a:rPr>
                        <a:t> Upload Bucket</a:t>
                      </a:r>
                    </a:p>
                    <a:p>
                      <a:pPr marL="171450" lvl="0" indent="-171450" algn="just">
                        <a:lnSpc>
                          <a:spcPct val="135000"/>
                        </a:lnSpc>
                        <a:spcAft>
                          <a:spcPts val="0"/>
                        </a:spcAft>
                        <a:buFont typeface="Calibri"/>
                        <a:buChar char="-"/>
                      </a:pPr>
                      <a:r>
                        <a:rPr lang="en-US" sz="900" dirty="0">
                          <a:effectLst/>
                          <a:latin typeface="Times New Roman" panose="02020603050405020304" pitchFamily="18" charset="0"/>
                          <a:cs typeface="Times New Roman" panose="02020603050405020304" pitchFamily="18" charset="0"/>
                        </a:rPr>
                        <a:t>500 GB</a:t>
                      </a:r>
                    </a:p>
                  </a:txBody>
                  <a:tcPr marL="4601" marR="4601" marT="4601" marB="4601"/>
                </a:tc>
                <a:extLst>
                  <a:ext uri="{0D108BD9-81ED-4DB2-BD59-A6C34878D82A}">
                    <a16:rowId xmlns:a16="http://schemas.microsoft.com/office/drawing/2014/main" val="28254996"/>
                  </a:ext>
                </a:extLst>
              </a:tr>
              <a:tr h="927552">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Main Database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Xin</a:t>
                      </a:r>
                      <a:r>
                        <a:rPr lang="en-US" sz="900" baseline="0" dirty="0">
                          <a:effectLst/>
                          <a:latin typeface="Times New Roman" panose="02020603050405020304" pitchFamily="18" charset="0"/>
                          <a:cs typeface="Times New Roman" panose="02020603050405020304" pitchFamily="18" charset="0"/>
                        </a:rPr>
                        <a:t> </a:t>
                      </a:r>
                      <a:r>
                        <a:rPr lang="en-US" sz="900" baseline="0" dirty="0" err="1">
                          <a:effectLst/>
                          <a:latin typeface="Times New Roman" panose="02020603050405020304" pitchFamily="18" charset="0"/>
                          <a:cs typeface="Times New Roman" panose="02020603050405020304" pitchFamily="18" charset="0"/>
                        </a:rPr>
                        <a:t>cấp</a:t>
                      </a:r>
                      <a:r>
                        <a:rPr lang="en-US" sz="900" baseline="0" dirty="0">
                          <a:effectLst/>
                          <a:latin typeface="Times New Roman" panose="02020603050405020304" pitchFamily="18" charset="0"/>
                          <a:cs typeface="Times New Roman" panose="02020603050405020304" pitchFamily="18" charset="0"/>
                        </a:rPr>
                        <a:t> 2 </a:t>
                      </a:r>
                      <a:r>
                        <a:rPr lang="vi-VN" sz="900" baseline="0" dirty="0">
                          <a:effectLst/>
                          <a:latin typeface="Times New Roman" panose="02020603050405020304" pitchFamily="18" charset="0"/>
                          <a:cs typeface="Times New Roman" panose="02020603050405020304" pitchFamily="18" charset="0"/>
                        </a:rPr>
                        <a:t>db</a:t>
                      </a:r>
                      <a:r>
                        <a:rPr lang="en-US" sz="900" baseline="0" dirty="0">
                          <a:effectLst/>
                          <a:latin typeface="Times New Roman" panose="02020603050405020304" pitchFamily="18" charset="0"/>
                          <a:cs typeface="Times New Roman" panose="02020603050405020304" pitchFamily="18" charset="0"/>
                        </a:rPr>
                        <a:t>:</a:t>
                      </a: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U</a:t>
                      </a:r>
                      <a:r>
                        <a:rPr lang="en-US" sz="900" baseline="0" dirty="0" err="1">
                          <a:effectLst/>
                          <a:latin typeface="Times New Roman" panose="02020603050405020304" pitchFamily="18" charset="0"/>
                          <a:cs typeface="Times New Roman" panose="02020603050405020304" pitchFamily="18" charset="0"/>
                        </a:rPr>
                        <a:t>pload</a:t>
                      </a:r>
                      <a:r>
                        <a:rPr lang="en-US" sz="900" baseline="0" dirty="0">
                          <a:effectLst/>
                          <a:latin typeface="Times New Roman" panose="02020603050405020304" pitchFamily="18" charset="0"/>
                          <a:cs typeface="Times New Roman" panose="02020603050405020304" pitchFamily="18" charset="0"/>
                        </a:rPr>
                        <a:t>_</a:t>
                      </a:r>
                      <a:r>
                        <a:rPr lang="vi-VN" sz="900" baseline="0" dirty="0">
                          <a:effectLst/>
                          <a:latin typeface="Times New Roman" panose="02020603050405020304" pitchFamily="18" charset="0"/>
                          <a:cs typeface="Times New Roman" panose="02020603050405020304" pitchFamily="18" charset="0"/>
                        </a:rPr>
                        <a:t>schema và user schema</a:t>
                      </a:r>
                      <a:endParaRPr lang="en-US" sz="900" baseline="0" dirty="0">
                        <a:effectLst/>
                        <a:latin typeface="Times New Roman" panose="02020603050405020304" pitchFamily="18" charset="0"/>
                        <a:cs typeface="Times New Roman" panose="02020603050405020304" pitchFamily="18" charset="0"/>
                      </a:endParaRP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S</a:t>
                      </a:r>
                      <a:r>
                        <a:rPr lang="en-US" sz="900" baseline="0" dirty="0" err="1">
                          <a:effectLst/>
                          <a:latin typeface="Times New Roman" panose="02020603050405020304" pitchFamily="18" charset="0"/>
                          <a:cs typeface="Times New Roman" panose="02020603050405020304" pitchFamily="18" charset="0"/>
                        </a:rPr>
                        <a:t>taging</a:t>
                      </a:r>
                      <a:r>
                        <a:rPr lang="vi-VN" sz="900" baseline="0" dirty="0">
                          <a:effectLst/>
                          <a:latin typeface="Times New Roman" panose="02020603050405020304" pitchFamily="18" charset="0"/>
                          <a:cs typeface="Times New Roman" panose="02020603050405020304" pitchFamily="18" charset="0"/>
                        </a:rPr>
                        <a:t> DB</a:t>
                      </a:r>
                      <a:endParaRPr lang="en-US" sz="900" dirty="0">
                        <a:effectLst/>
                        <a:latin typeface="Times New Roman" panose="02020603050405020304" pitchFamily="18" charset="0"/>
                        <a:cs typeface="Times New Roman" panose="02020603050405020304" pitchFamily="18" charset="0"/>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latin typeface="Times New Roman" panose="02020603050405020304" pitchFamily="18" charset="0"/>
                          <a:cs typeface="Times New Roman" panose="02020603050405020304" pitchFamily="18" charset="0"/>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6379</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Cache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Redis </a:t>
                      </a:r>
                      <a:r>
                        <a:rPr lang="en-US" sz="900" dirty="0" err="1">
                          <a:effectLst/>
                          <a:latin typeface="Times New Roman" panose="02020603050405020304" pitchFamily="18" charset="0"/>
                          <a:cs typeface="Times New Roman" panose="02020603050405020304" pitchFamily="18" charset="0"/>
                        </a:rPr>
                        <a:t>tập</a:t>
                      </a:r>
                      <a:r>
                        <a:rPr lang="en-US" sz="900" dirty="0">
                          <a:effectLst/>
                          <a:latin typeface="Times New Roman" panose="02020603050405020304" pitchFamily="18" charset="0"/>
                          <a:cs typeface="Times New Roman" panose="02020603050405020304" pitchFamily="18" charset="0"/>
                        </a:rPr>
                        <a:t> </a:t>
                      </a:r>
                      <a:r>
                        <a:rPr lang="en-US" sz="900" dirty="0" err="1">
                          <a:effectLst/>
                          <a:latin typeface="Times New Roman" panose="02020603050405020304" pitchFamily="18" charset="0"/>
                          <a:cs typeface="Times New Roman" panose="02020603050405020304" pitchFamily="18" charset="0"/>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bl>
          </a:graphicData>
        </a:graphic>
      </p:graphicFrame>
      <p:pic>
        <p:nvPicPr>
          <p:cNvPr id="29700" name="Picture 4">
            <a:extLst>
              <a:ext uri="{FF2B5EF4-FFF2-40B4-BE49-F238E27FC236}">
                <a16:creationId xmlns:a16="http://schemas.microsoft.com/office/drawing/2014/main" id="{2E9F1953-8D58-4780-AC52-E264236BA9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131" y="868680"/>
            <a:ext cx="6559144" cy="5861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3173481353"/>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0C676-FA49-5962-B81B-DD9DC734744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46C0DA1-DF4A-4025-8B97-C2633998FC8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err="1">
                <a:latin typeface="+mn-lt"/>
                <a:cs typeface="Times New Roman" panose="02020603050405020304" pitchFamily="18" charset="0"/>
              </a:rPr>
              <a:t>Mô</a:t>
            </a:r>
            <a:r>
              <a:rPr lang="en-AU">
                <a:latin typeface="+mn-lt"/>
                <a:cs typeface="Times New Roman" panose="02020603050405020304" pitchFamily="18" charset="0"/>
              </a:rPr>
              <a:t> </a:t>
            </a:r>
            <a:r>
              <a:rPr lang="en-AU" err="1">
                <a:latin typeface="+mn-lt"/>
                <a:cs typeface="Times New Roman" panose="02020603050405020304" pitchFamily="18" charset="0"/>
              </a:rPr>
              <a:t>tả</a:t>
            </a:r>
            <a:r>
              <a:rPr lang="en-AU">
                <a:latin typeface="+mn-lt"/>
                <a:cs typeface="Times New Roman" panose="02020603050405020304" pitchFamily="18" charset="0"/>
              </a:rPr>
              <a:t> </a:t>
            </a:r>
            <a:r>
              <a:rPr lang="en-AU" err="1">
                <a:latin typeface="+mn-lt"/>
                <a:cs typeface="Times New Roman" panose="02020603050405020304" pitchFamily="18" charset="0"/>
              </a:rPr>
              <a:t>thay</a:t>
            </a:r>
            <a:r>
              <a:rPr lang="en-AU">
                <a:latin typeface="+mn-lt"/>
                <a:cs typeface="Times New Roman" panose="02020603050405020304" pitchFamily="18" charset="0"/>
              </a:rPr>
              <a:t> </a:t>
            </a:r>
            <a:r>
              <a:rPr lang="en-AU" err="1">
                <a:latin typeface="+mn-lt"/>
                <a:cs typeface="Times New Roman" panose="02020603050405020304" pitchFamily="18" charset="0"/>
              </a:rPr>
              <a:t>đổi</a:t>
            </a:r>
            <a:r>
              <a:rPr lang="en-AU">
                <a:latin typeface="+mn-lt"/>
                <a:cs typeface="Times New Roman" panose="02020603050405020304" pitchFamily="18" charset="0"/>
              </a:rPr>
              <a:t> </a:t>
            </a:r>
            <a:r>
              <a:rPr lang="en-AU" err="1">
                <a:latin typeface="+mn-lt"/>
                <a:cs typeface="Times New Roman" panose="02020603050405020304" pitchFamily="18" charset="0"/>
              </a:rPr>
              <a:t>hệ</a:t>
            </a:r>
            <a:r>
              <a:rPr lang="en-AU">
                <a:latin typeface="+mn-lt"/>
                <a:cs typeface="Times New Roman" panose="02020603050405020304" pitchFamily="18" charset="0"/>
              </a:rPr>
              <a:t> </a:t>
            </a:r>
            <a:r>
              <a:rPr lang="en-AU" err="1">
                <a:latin typeface="+mn-lt"/>
                <a:cs typeface="Times New Roman" panose="02020603050405020304" pitchFamily="18" charset="0"/>
              </a:rPr>
              <a:t>thống</a:t>
            </a:r>
            <a:endParaRPr lang="en-AU" sz="3200">
              <a:solidFill>
                <a:schemeClr val="accent5"/>
              </a:solidFill>
              <a:latin typeface="+mn-lt"/>
              <a:cs typeface="Times New Roman" panose="02020603050405020304" pitchFamily="18" charset="0"/>
            </a:endParaRPr>
          </a:p>
        </p:txBody>
      </p:sp>
      <p:sp>
        <p:nvSpPr>
          <p:cNvPr id="2" name="Rectangle 1">
            <a:extLst>
              <a:ext uri="{FF2B5EF4-FFF2-40B4-BE49-F238E27FC236}">
                <a16:creationId xmlns:a16="http://schemas.microsoft.com/office/drawing/2014/main" id="{67BE22BA-E982-3AEE-47C5-1B473A34819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le 74">
            <a:extLst>
              <a:ext uri="{FF2B5EF4-FFF2-40B4-BE49-F238E27FC236}">
                <a16:creationId xmlns:a16="http://schemas.microsoft.com/office/drawing/2014/main" id="{494ED54B-EA6A-AF10-93AF-DC52F2500DF0}"/>
              </a:ext>
            </a:extLst>
          </p:cNvPr>
          <p:cNvGraphicFramePr>
            <a:graphicFrameLocks noGrp="1"/>
          </p:cNvGraphicFramePr>
          <p:nvPr>
            <p:extLst>
              <p:ext uri="{D42A27DB-BD31-4B8C-83A1-F6EECF244321}">
                <p14:modId xmlns:p14="http://schemas.microsoft.com/office/powerpoint/2010/main" val="54419499"/>
              </p:ext>
            </p:extLst>
          </p:nvPr>
        </p:nvGraphicFramePr>
        <p:xfrm>
          <a:off x="527456" y="1142432"/>
          <a:ext cx="10769598" cy="3840480"/>
        </p:xfrm>
        <a:graphic>
          <a:graphicData uri="http://schemas.openxmlformats.org/drawingml/2006/table">
            <a:tbl>
              <a:tblPr firstRow="1" bandRow="1">
                <a:tableStyleId>{5C22544A-7EE6-4342-B048-85BDC9FD1C3A}</a:tableStyleId>
              </a:tblPr>
              <a:tblGrid>
                <a:gridCol w="1538514">
                  <a:extLst>
                    <a:ext uri="{9D8B030D-6E8A-4147-A177-3AD203B41FA5}">
                      <a16:colId xmlns:a16="http://schemas.microsoft.com/office/drawing/2014/main" val="3458938680"/>
                    </a:ext>
                  </a:extLst>
                </a:gridCol>
                <a:gridCol w="2591755">
                  <a:extLst>
                    <a:ext uri="{9D8B030D-6E8A-4147-A177-3AD203B41FA5}">
                      <a16:colId xmlns:a16="http://schemas.microsoft.com/office/drawing/2014/main" val="1608458283"/>
                    </a:ext>
                  </a:extLst>
                </a:gridCol>
                <a:gridCol w="1629953">
                  <a:extLst>
                    <a:ext uri="{9D8B030D-6E8A-4147-A177-3AD203B41FA5}">
                      <a16:colId xmlns:a16="http://schemas.microsoft.com/office/drawing/2014/main" val="626532612"/>
                    </a:ext>
                  </a:extLst>
                </a:gridCol>
                <a:gridCol w="208280">
                  <a:extLst>
                    <a:ext uri="{9D8B030D-6E8A-4147-A177-3AD203B41FA5}">
                      <a16:colId xmlns:a16="http://schemas.microsoft.com/office/drawing/2014/main" val="2274830036"/>
                    </a:ext>
                  </a:extLst>
                </a:gridCol>
                <a:gridCol w="1724068">
                  <a:extLst>
                    <a:ext uri="{9D8B030D-6E8A-4147-A177-3AD203B41FA5}">
                      <a16:colId xmlns:a16="http://schemas.microsoft.com/office/drawing/2014/main" val="2883255219"/>
                    </a:ext>
                  </a:extLst>
                </a:gridCol>
                <a:gridCol w="1538514">
                  <a:extLst>
                    <a:ext uri="{9D8B030D-6E8A-4147-A177-3AD203B41FA5}">
                      <a16:colId xmlns:a16="http://schemas.microsoft.com/office/drawing/2014/main" val="2476655119"/>
                    </a:ext>
                  </a:extLst>
                </a:gridCol>
                <a:gridCol w="1538514">
                  <a:extLst>
                    <a:ext uri="{9D8B030D-6E8A-4147-A177-3AD203B41FA5}">
                      <a16:colId xmlns:a16="http://schemas.microsoft.com/office/drawing/2014/main" val="3239915798"/>
                    </a:ext>
                  </a:extLst>
                </a:gridCol>
              </a:tblGrid>
              <a:tr h="0">
                <a:tc>
                  <a:txBody>
                    <a:bodyPr/>
                    <a:lstStyle/>
                    <a:p>
                      <a:r>
                        <a:rPr lang="en-US"/>
                        <a:t>System Profile</a:t>
                      </a:r>
                    </a:p>
                  </a:txBody>
                  <a:tcPr anchor="ctr">
                    <a:lnR w="12700" cap="flat" cmpd="sng" algn="ctr">
                      <a:solidFill>
                        <a:schemeClr val="bg1"/>
                      </a:solidFill>
                      <a:prstDash val="solid"/>
                      <a:round/>
                      <a:headEnd type="none" w="med" len="med"/>
                      <a:tailEnd type="none" w="med" len="med"/>
                    </a:lnR>
                    <a:solidFill>
                      <a:schemeClr val="accent3"/>
                    </a:solidFill>
                  </a:tcPr>
                </a:tc>
                <a:tc>
                  <a:txBody>
                    <a:bodyPr/>
                    <a:lstStyle/>
                    <a:p>
                      <a:r>
                        <a:rPr lang="en-US" dirty="0"/>
                        <a:t>Component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solidFill>
                      <a:schemeClr val="accent3"/>
                    </a:solidFill>
                  </a:tcPr>
                </a:tc>
                <a:tc>
                  <a:txBody>
                    <a:bodyPr/>
                    <a:lstStyle/>
                    <a:p>
                      <a:r>
                        <a:rPr lang="en-US"/>
                        <a:t>Sub-Item</a:t>
                      </a:r>
                    </a:p>
                  </a:txBody>
                  <a:tcPr anchor="ctr">
                    <a:lnL w="12700" cap="flat" cmpd="sng" algn="ctr">
                      <a:solidFill>
                        <a:schemeClr val="bg1"/>
                      </a:solidFill>
                      <a:prstDash val="solid"/>
                      <a:round/>
                      <a:headEnd type="none" w="med" len="med"/>
                      <a:tailEnd type="none" w="med" len="med"/>
                    </a:lnL>
                    <a:solidFill>
                      <a:schemeClr val="accent3"/>
                    </a:solid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r>
                        <a:rPr lang="en-US" dirty="0"/>
                        <a:t>Code</a:t>
                      </a:r>
                    </a:p>
                  </a:txBody>
                  <a:tcPr anchor="ctr">
                    <a:lnL w="12700" cap="flat" cmpd="sng" algn="ctr">
                      <a:solidFill>
                        <a:schemeClr val="accent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Model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Data</a:t>
                      </a:r>
                    </a:p>
                  </a:txBody>
                  <a:tcPr anchor="ctr">
                    <a:lnL w="12700" cap="flat" cmpd="sng" algn="ctr">
                      <a:solidFill>
                        <a:schemeClr val="bg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extLst>
                  <a:ext uri="{0D108BD9-81ED-4DB2-BD59-A6C34878D82A}">
                    <a16:rowId xmlns:a16="http://schemas.microsoft.com/office/drawing/2014/main" val="1334462645"/>
                  </a:ext>
                </a:extLst>
              </a:tr>
              <a:tr h="0">
                <a:tc rowSpan="4">
                  <a:txBody>
                    <a:bodyPr/>
                    <a:lstStyle/>
                    <a:p>
                      <a:r>
                        <a:rPr lang="vi-VN" dirty="0"/>
                        <a:t>Workstation Data Ingestion Portal</a:t>
                      </a:r>
                      <a:endParaRPr lang="en-US" dirty="0"/>
                    </a:p>
                  </a:txBody>
                  <a:tcPr anchor="ctr">
                    <a:lnR w="12700" cap="flat" cmpd="sng" algn="ctr">
                      <a:solidFill>
                        <a:schemeClr val="accent1"/>
                      </a:solidFill>
                      <a:prstDash val="solid"/>
                      <a:round/>
                      <a:headEnd type="none" w="med" len="med"/>
                      <a:tailEnd type="none" w="med" len="med"/>
                    </a:lnR>
                    <a:noFill/>
                  </a:tcPr>
                </a:tc>
                <a:tc rowSpan="3">
                  <a:txBody>
                    <a:bodyPr/>
                    <a:lstStyle/>
                    <a:p>
                      <a:r>
                        <a:rPr lang="en-US" dirty="0"/>
                        <a:t>Front-end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17222240"/>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84139828"/>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517003183"/>
                  </a:ext>
                </a:extLst>
              </a:tr>
              <a:tr h="0">
                <a:tc vMerge="1">
                  <a:txBody>
                    <a:bodyPr/>
                    <a:lstStyle/>
                    <a:p>
                      <a:endParaRPr lang="en-US"/>
                    </a:p>
                  </a:txBody>
                  <a:tcPr anchor="ctr"/>
                </a:tc>
                <a:tc>
                  <a:txBody>
                    <a:bodyPr/>
                    <a:lstStyle/>
                    <a:p>
                      <a:r>
                        <a:rPr lang="en-US" dirty="0"/>
                        <a:t>API Gateway</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ym typeface="Wingdings 2" panose="05020102010507070707" pitchFamily="18" charset="2"/>
                        </a:rPr>
                        <a:t></a:t>
                      </a: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758794784"/>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User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9939727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Upload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684803026"/>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Validation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82088274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Ingestion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32919728"/>
                  </a:ext>
                </a:extLst>
              </a:tr>
            </a:tbl>
          </a:graphicData>
        </a:graphic>
      </p:graphicFrame>
    </p:spTree>
    <p:extLst>
      <p:ext uri="{BB962C8B-B14F-4D97-AF65-F5344CB8AC3E}">
        <p14:creationId xmlns:p14="http://schemas.microsoft.com/office/powerpoint/2010/main" val="3871015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701905396"/>
              </p:ext>
            </p:extLst>
          </p:nvPr>
        </p:nvGraphicFramePr>
        <p:xfrm>
          <a:off x="571499" y="1278383"/>
          <a:ext cx="11049000" cy="2421827"/>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a:t>
                      </a:r>
                      <a:r>
                        <a:rPr lang="vi-VN" sz="1400" kern="1200" dirty="0">
                          <a:solidFill>
                            <a:srgbClr val="000000"/>
                          </a:solidFill>
                          <a:effectLst/>
                          <a:latin typeface="Calibri (Body)"/>
                        </a:rPr>
                        <a:t>dùng</a:t>
                      </a:r>
                      <a:r>
                        <a:rPr lang="en-US" sz="1400" kern="1200" dirty="0">
                          <a:solidFill>
                            <a:srgbClr val="000000"/>
                          </a:solidFill>
                          <a:effectLst/>
                          <a:latin typeface="Calibri (Body)"/>
                        </a:rPr>
                        <a:t>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Role,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0.xml><?xml version="1.0" encoding="utf-8"?>
<p:tagLst xmlns:a="http://schemas.openxmlformats.org/drawingml/2006/main" xmlns:r="http://schemas.openxmlformats.org/officeDocument/2006/relationships" xmlns:p="http://schemas.openxmlformats.org/presentationml/2006/main">
  <p:tag name="SHAPENAME" val="4. Footnote"/>
</p:tagLst>
</file>

<file path=ppt/tags/tag1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xml><?xml version="1.0" encoding="utf-8"?>
<p:tagLst xmlns:a="http://schemas.openxmlformats.org/drawingml/2006/main" xmlns:r="http://schemas.openxmlformats.org/officeDocument/2006/relationships" xmlns:p="http://schemas.openxmlformats.org/presentationml/2006/main">
  <p:tag name="NAME" val="ACET"/>
</p:tagLst>
</file>

<file path=ppt/tags/tag13.xml><?xml version="1.0" encoding="utf-8"?>
<p:tagLst xmlns:a="http://schemas.openxmlformats.org/drawingml/2006/main" xmlns:r="http://schemas.openxmlformats.org/officeDocument/2006/relationships" xmlns:p="http://schemas.openxmlformats.org/presentationml/2006/main">
  <p:tag name="NAME" val="Moon"/>
</p:tagLst>
</file>

<file path=ppt/tags/tag14.xml><?xml version="1.0" encoding="utf-8"?>
<p:tagLst xmlns:a="http://schemas.openxmlformats.org/drawingml/2006/main" xmlns:r="http://schemas.openxmlformats.org/officeDocument/2006/relationships" xmlns:p="http://schemas.openxmlformats.org/presentationml/2006/main">
  <p:tag name="NAME" val="Moon"/>
</p:tagLst>
</file>

<file path=ppt/tags/tag15.xml><?xml version="1.0" encoding="utf-8"?>
<p:tagLst xmlns:a="http://schemas.openxmlformats.org/drawingml/2006/main" xmlns:r="http://schemas.openxmlformats.org/officeDocument/2006/relationships" xmlns:p="http://schemas.openxmlformats.org/presentationml/2006/main">
  <p:tag name="NAME" val="Moon"/>
</p:tagLst>
</file>

<file path=ppt/tags/tag16.xml><?xml version="1.0" encoding="utf-8"?>
<p:tagLst xmlns:a="http://schemas.openxmlformats.org/drawingml/2006/main" xmlns:r="http://schemas.openxmlformats.org/officeDocument/2006/relationships" xmlns:p="http://schemas.openxmlformats.org/presentationml/2006/main">
  <p:tag name="NAME" val="Moon"/>
</p:tagLst>
</file>

<file path=ppt/tags/tag17.xml><?xml version="1.0" encoding="utf-8"?>
<p:tagLst xmlns:a="http://schemas.openxmlformats.org/drawingml/2006/main" xmlns:r="http://schemas.openxmlformats.org/officeDocument/2006/relationships" xmlns:p="http://schemas.openxmlformats.org/presentationml/2006/main">
  <p:tag name="NAME" val="Moon"/>
</p:tagLst>
</file>

<file path=ppt/tags/tag18.xml><?xml version="1.0" encoding="utf-8"?>
<p:tagLst xmlns:a="http://schemas.openxmlformats.org/drawingml/2006/main" xmlns:r="http://schemas.openxmlformats.org/officeDocument/2006/relationships" xmlns:p="http://schemas.openxmlformats.org/presentationml/2006/main">
  <p:tag name="ANGLE" val="5"/>
</p:tagLst>
</file>

<file path=ppt/tags/tag19.xml><?xml version="1.0" encoding="utf-8"?>
<p:tagLst xmlns:a="http://schemas.openxmlformats.org/drawingml/2006/main" xmlns:r="http://schemas.openxmlformats.org/officeDocument/2006/relationships" xmlns:p="http://schemas.openxmlformats.org/presentationml/2006/main">
  <p:tag name="ANGLE" val="5"/>
</p:tagLst>
</file>

<file path=ppt/tags/tag20.xml><?xml version="1.0" encoding="utf-8"?>
<p:tagLst xmlns:a="http://schemas.openxmlformats.org/drawingml/2006/main" xmlns:r="http://schemas.openxmlformats.org/officeDocument/2006/relationships" xmlns:p="http://schemas.openxmlformats.org/presentationml/2006/main">
  <p:tag name="ANGLE" val="4"/>
</p:tagLst>
</file>

<file path=ppt/tags/tag21.xml><?xml version="1.0" encoding="utf-8"?>
<p:tagLst xmlns:a="http://schemas.openxmlformats.org/drawingml/2006/main" xmlns:r="http://schemas.openxmlformats.org/officeDocument/2006/relationships" xmlns:p="http://schemas.openxmlformats.org/presentationml/2006/main">
  <p:tag name="ANGLE" val="4"/>
</p:tagLst>
</file>

<file path=ppt/tags/tag22.xml><?xml version="1.0" encoding="utf-8"?>
<p:tagLst xmlns:a="http://schemas.openxmlformats.org/drawingml/2006/main" xmlns:r="http://schemas.openxmlformats.org/officeDocument/2006/relationships" xmlns:p="http://schemas.openxmlformats.org/presentationml/2006/main">
  <p:tag name="ANGLE" val="3"/>
</p:tagLst>
</file>

<file path=ppt/tags/tag23.xml><?xml version="1.0" encoding="utf-8"?>
<p:tagLst xmlns:a="http://schemas.openxmlformats.org/drawingml/2006/main" xmlns:r="http://schemas.openxmlformats.org/officeDocument/2006/relationships" xmlns:p="http://schemas.openxmlformats.org/presentationml/2006/main">
  <p:tag name="ANGLE" val="3"/>
</p:tagLst>
</file>

<file path=ppt/tags/tag24.xml><?xml version="1.0" encoding="utf-8"?>
<p:tagLst xmlns:a="http://schemas.openxmlformats.org/drawingml/2006/main" xmlns:r="http://schemas.openxmlformats.org/officeDocument/2006/relationships" xmlns:p="http://schemas.openxmlformats.org/presentationml/2006/main">
  <p:tag name="ANGLE" val="2"/>
</p:tagLst>
</file>

<file path=ppt/tags/tag25.xml><?xml version="1.0" encoding="utf-8"?>
<p:tagLst xmlns:a="http://schemas.openxmlformats.org/drawingml/2006/main" xmlns:r="http://schemas.openxmlformats.org/officeDocument/2006/relationships" xmlns:p="http://schemas.openxmlformats.org/presentationml/2006/main">
  <p:tag name="ANGLE" val="2"/>
</p:tagLst>
</file>

<file path=ppt/tags/tag26.xml><?xml version="1.0" encoding="utf-8"?>
<p:tagLst xmlns:a="http://schemas.openxmlformats.org/drawingml/2006/main" xmlns:r="http://schemas.openxmlformats.org/officeDocument/2006/relationships" xmlns:p="http://schemas.openxmlformats.org/presentationml/2006/main">
  <p:tag name="ANGLE" val="1"/>
</p:tagLst>
</file>

<file path=ppt/tags/tag27.xml><?xml version="1.0" encoding="utf-8"?>
<p:tagLst xmlns:a="http://schemas.openxmlformats.org/drawingml/2006/main" xmlns:r="http://schemas.openxmlformats.org/officeDocument/2006/relationships" xmlns:p="http://schemas.openxmlformats.org/presentationml/2006/main">
  <p:tag name="ANGLE" val="1"/>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1.xml><?xml version="1.0" encoding="utf-8"?>
<p:tagLst xmlns:a="http://schemas.openxmlformats.org/drawingml/2006/main" xmlns:r="http://schemas.openxmlformats.org/officeDocument/2006/relationships" xmlns:p="http://schemas.openxmlformats.org/presentationml/2006/main">
  <p:tag name="SHAPENAME" val="Subtitle"/>
</p:tagLst>
</file>

<file path=ppt/tags/tag32.xml><?xml version="1.0" encoding="utf-8"?>
<p:tagLst xmlns:a="http://schemas.openxmlformats.org/drawingml/2006/main" xmlns:r="http://schemas.openxmlformats.org/officeDocument/2006/relationships" xmlns:p="http://schemas.openxmlformats.org/presentationml/2006/main">
  <p:tag name="SHAPENAME" val="Titl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5.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6.xml><?xml version="1.0" encoding="utf-8"?>
<p:tagLst xmlns:a="http://schemas.openxmlformats.org/drawingml/2006/main" xmlns:r="http://schemas.openxmlformats.org/officeDocument/2006/relationships" xmlns:p="http://schemas.openxmlformats.org/presentationml/2006/main">
  <p:tag name="SHAPENAME" val="Subtitle"/>
</p:tagLst>
</file>

<file path=ppt/tags/tag37.xml><?xml version="1.0" encoding="utf-8"?>
<p:tagLst xmlns:a="http://schemas.openxmlformats.org/drawingml/2006/main" xmlns:r="http://schemas.openxmlformats.org/officeDocument/2006/relationships" xmlns:p="http://schemas.openxmlformats.org/presentationml/2006/main">
  <p:tag name="SHAPENAME" val="Titl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1.xml><?xml version="1.0" encoding="utf-8"?>
<p:tagLst xmlns:a="http://schemas.openxmlformats.org/drawingml/2006/main" xmlns:r="http://schemas.openxmlformats.org/officeDocument/2006/relationships" xmlns:p="http://schemas.openxmlformats.org/presentationml/2006/main">
  <p:tag name="SHAPENAME" val="Subtitle"/>
</p:tagLst>
</file>

<file path=ppt/tags/tag42.xml><?xml version="1.0" encoding="utf-8"?>
<p:tagLst xmlns:a="http://schemas.openxmlformats.org/drawingml/2006/main" xmlns:r="http://schemas.openxmlformats.org/officeDocument/2006/relationships" xmlns:p="http://schemas.openxmlformats.org/presentationml/2006/main">
  <p:tag name="SHAPENAME" val="Titl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7.xml><?xml version="1.0" encoding="utf-8"?>
<p:tagLst xmlns:a="http://schemas.openxmlformats.org/drawingml/2006/main" xmlns:r="http://schemas.openxmlformats.org/officeDocument/2006/relationships" xmlns:p="http://schemas.openxmlformats.org/presentationml/2006/main">
  <p:tag name="SHAPENAME" val="5. Source"/>
</p:tagLst>
</file>

<file path=ppt/tags/tag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5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4.xml><?xml version="1.0" encoding="utf-8"?>
<p:tagLst xmlns:a="http://schemas.openxmlformats.org/drawingml/2006/main" xmlns:r="http://schemas.openxmlformats.org/officeDocument/2006/relationships" xmlns:p="http://schemas.openxmlformats.org/presentationml/2006/main">
  <p:tag name="SHAPENAME" val="5. Source"/>
</p:tagLst>
</file>

<file path=ppt/tags/tag5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1.xml><?xml version="1.0" encoding="utf-8"?>
<p:tagLst xmlns:a="http://schemas.openxmlformats.org/drawingml/2006/main" xmlns:r="http://schemas.openxmlformats.org/officeDocument/2006/relationships" xmlns:p="http://schemas.openxmlformats.org/presentationml/2006/main">
  <p:tag name="SHAPENAME" val="5. Source"/>
</p:tagLst>
</file>

<file path=ppt/tags/tag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3. Subtitle"/>
</p:tagLst>
</file>

<file path=ppt/tags/tag7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0.xml><?xml version="1.0" encoding="utf-8"?>
<p:tagLst xmlns:a="http://schemas.openxmlformats.org/drawingml/2006/main" xmlns:r="http://schemas.openxmlformats.org/officeDocument/2006/relationships" xmlns:p="http://schemas.openxmlformats.org/presentationml/2006/main">
  <p:tag name="SHAPENAME" val="5. Sourc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7.xml><?xml version="1.0" encoding="utf-8"?>
<p:tagLst xmlns:a="http://schemas.openxmlformats.org/drawingml/2006/main" xmlns:r="http://schemas.openxmlformats.org/officeDocument/2006/relationships" xmlns:p="http://schemas.openxmlformats.org/presentationml/2006/main">
  <p:tag name="SHAPENAME" val="3. Subtitle"/>
</p:tagLst>
</file>

<file path=ppt/tags/tag88.xml><?xml version="1.0" encoding="utf-8"?>
<p:tagLst xmlns:a="http://schemas.openxmlformats.org/drawingml/2006/main" xmlns:r="http://schemas.openxmlformats.org/officeDocument/2006/relationships" xmlns:p="http://schemas.openxmlformats.org/presentationml/2006/main">
  <p:tag name="SHAPENAME" val="5. Source"/>
</p:tagLst>
</file>

<file path=ppt/tags/tag8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5.xml><?xml version="1.0" encoding="utf-8"?>
<p:tagLst xmlns:a="http://schemas.openxmlformats.org/drawingml/2006/main" xmlns:r="http://schemas.openxmlformats.org/officeDocument/2006/relationships" xmlns:p="http://schemas.openxmlformats.org/presentationml/2006/main">
  <p:tag name="SHAPENAME" val="3. Subtitle"/>
</p:tagLst>
</file>

<file path=ppt/tags/tag96.xml><?xml version="1.0" encoding="utf-8"?>
<p:tagLst xmlns:a="http://schemas.openxmlformats.org/drawingml/2006/main" xmlns:r="http://schemas.openxmlformats.org/officeDocument/2006/relationships" xmlns:p="http://schemas.openxmlformats.org/presentationml/2006/main">
  <p:tag name="SHAPENAME" val="5. Source"/>
</p:tagLst>
</file>

<file path=ppt/tags/tag9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0.xml><?xml version="1.0" encoding="utf-8"?>
<p:tagLst xmlns:a="http://schemas.openxmlformats.org/drawingml/2006/main" xmlns:r="http://schemas.openxmlformats.org/officeDocument/2006/relationships" xmlns:p="http://schemas.openxmlformats.org/presentationml/2006/main">
  <p:tag name="SHAPENAME" val="5. Source"/>
</p:tagLst>
</file>

<file path=ppt/tags/tag12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0.xml><?xml version="1.0" encoding="utf-8"?>
<p:tagLst xmlns:a="http://schemas.openxmlformats.org/drawingml/2006/main" xmlns:r="http://schemas.openxmlformats.org/officeDocument/2006/relationships" xmlns:p="http://schemas.openxmlformats.org/presentationml/2006/main">
  <p:tag name="SHAPENAME" val="5. Source"/>
</p:tagLst>
</file>

<file path=ppt/tags/tag13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SHAPENAME" val="5. Sourc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3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7.xml><?xml version="1.0" encoding="utf-8"?>
<p:tagLst xmlns:a="http://schemas.openxmlformats.org/drawingml/2006/main" xmlns:r="http://schemas.openxmlformats.org/officeDocument/2006/relationships" xmlns:p="http://schemas.openxmlformats.org/presentationml/2006/main">
  <p:tag name="SHAPENAME" val="5. Source"/>
</p:tagLst>
</file>

<file path=ppt/tags/tag1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2.xml><?xml version="1.0" encoding="utf-8"?>
<p:tagLst xmlns:a="http://schemas.openxmlformats.org/drawingml/2006/main" xmlns:r="http://schemas.openxmlformats.org/officeDocument/2006/relationships" xmlns:p="http://schemas.openxmlformats.org/presentationml/2006/main">
  <p:tag name="SHAPENAME" val="5. Source"/>
</p:tagLst>
</file>

<file path=ppt/tags/tag1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D71806-9F0F-4F13-8771-B1F56D9E13DB}">
  <ds:schemaRefs>
    <ds:schemaRef ds:uri="http://purl.org/dc/terms/"/>
    <ds:schemaRef ds:uri="1d99faa5-1ec0-48ac-9a9d-f31792ac7cb8"/>
    <ds:schemaRef ds:uri="http://schemas.microsoft.com/office/2006/documentManagement/types"/>
    <ds:schemaRef ds:uri="http://purl.org/dc/elements/1.1/"/>
    <ds:schemaRef ds:uri="http://schemas.microsoft.com/office/2006/metadata/properties"/>
    <ds:schemaRef ds:uri="http://purl.org/dc/dcmitype/"/>
    <ds:schemaRef ds:uri="http://schemas.microsoft.com/office/infopath/2007/PartnerControls"/>
    <ds:schemaRef ds:uri="http://schemas.openxmlformats.org/package/2006/metadata/core-properties"/>
    <ds:schemaRef ds:uri="7df24817-ab1d-4ab0-910f-2dce16cfc2e0"/>
    <ds:schemaRef ds:uri="http://schemas.microsoft.com/sharepoint/v3"/>
    <ds:schemaRef ds:uri="http://www.w3.org/XML/1998/namespace"/>
  </ds:schemaRefs>
</ds:datastoreItem>
</file>

<file path=customXml/itemProps2.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20066</TotalTime>
  <Words>3588</Words>
  <Application>Microsoft Office PowerPoint</Application>
  <PresentationFormat>Widescreen</PresentationFormat>
  <Paragraphs>459</Paragraphs>
  <Slides>24</Slides>
  <Notes>22</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2" baseType="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Administrator</cp:lastModifiedBy>
  <cp:revision>658</cp:revision>
  <dcterms:created xsi:type="dcterms:W3CDTF">2019-12-04T02:29:14Z</dcterms:created>
  <dcterms:modified xsi:type="dcterms:W3CDTF">2026-03-22T10:26:01Z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