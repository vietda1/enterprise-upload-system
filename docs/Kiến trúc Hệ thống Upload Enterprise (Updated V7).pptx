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Roboto Medium"/>
      <p:regular r:id="rId27"/>
      <p:bold r:id="rId28"/>
      <p:italic r:id="rId29"/>
      <p:boldItalic r:id="rId30"/>
    </p:embeddedFont>
    <p:embeddedFont>
      <p:font typeface="Open Sans SemiBold"/>
      <p:regular r:id="rId31"/>
      <p:bold r:id="rId32"/>
      <p:italic r:id="rId33"/>
      <p:boldItalic r:id="rId34"/>
    </p:embeddedFont>
    <p:embeddedFont>
      <p:font typeface="Roboto SemiBold"/>
      <p:regular r:id="rId35"/>
      <p:bold r:id="rId36"/>
      <p:italic r:id="rId37"/>
      <p:boldItalic r:id="rId38"/>
    </p:embeddedFont>
    <p:embeddedFont>
      <p:font typeface="Open Sans Medium"/>
      <p:regular r:id="rId39"/>
      <p:bold r:id="rId40"/>
      <p:italic r:id="rId41"/>
      <p:boldItalic r:id="rId42"/>
    </p:embeddedFont>
    <p:embeddedFont>
      <p:font typeface="Open Sans Light"/>
      <p:regular r:id="rId43"/>
      <p:bold r:id="rId44"/>
      <p:italic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D76DB9-FEEA-482B-BF92-6F2C2668C22B}">
  <a:tblStyle styleId="{24D76DB9-FEEA-482B-BF92-6F2C2668C2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Medium-bold.fntdata"/><Relationship Id="rId42" Type="http://schemas.openxmlformats.org/officeDocument/2006/relationships/font" Target="fonts/OpenSansMedium-boldItalic.fntdata"/><Relationship Id="rId41" Type="http://schemas.openxmlformats.org/officeDocument/2006/relationships/font" Target="fonts/OpenSansMedium-italic.fntdata"/><Relationship Id="rId44" Type="http://schemas.openxmlformats.org/officeDocument/2006/relationships/font" Target="fonts/OpenSansLight-bold.fntdata"/><Relationship Id="rId43" Type="http://schemas.openxmlformats.org/officeDocument/2006/relationships/font" Target="fonts/OpenSansLight-regular.fntdata"/><Relationship Id="rId46" Type="http://schemas.openxmlformats.org/officeDocument/2006/relationships/font" Target="fonts/OpenSansLight-boldItalic.fntdata"/><Relationship Id="rId45" Type="http://schemas.openxmlformats.org/officeDocument/2006/relationships/font" Target="fonts/OpenSans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regular.fntdata"/><Relationship Id="rId30" Type="http://schemas.openxmlformats.org/officeDocument/2006/relationships/font" Target="fonts/RobotoMedium-boldItalic.fntdata"/><Relationship Id="rId33" Type="http://schemas.openxmlformats.org/officeDocument/2006/relationships/font" Target="fonts/OpenSansSemiBold-italic.fntdata"/><Relationship Id="rId32" Type="http://schemas.openxmlformats.org/officeDocument/2006/relationships/font" Target="fonts/OpenSansSemiBold-bold.fntdata"/><Relationship Id="rId35" Type="http://schemas.openxmlformats.org/officeDocument/2006/relationships/font" Target="fonts/RobotoSemiBold-regular.fntdata"/><Relationship Id="rId34" Type="http://schemas.openxmlformats.org/officeDocument/2006/relationships/font" Target="fonts/OpenSansSemiBold-boldItalic.fntdata"/><Relationship Id="rId37" Type="http://schemas.openxmlformats.org/officeDocument/2006/relationships/font" Target="fonts/RobotoSemiBold-italic.fntdata"/><Relationship Id="rId36" Type="http://schemas.openxmlformats.org/officeDocument/2006/relationships/font" Target="fonts/RobotoSemiBold-bold.fntdata"/><Relationship Id="rId39" Type="http://schemas.openxmlformats.org/officeDocument/2006/relationships/font" Target="fonts/OpenSansMedium-regular.fntdata"/><Relationship Id="rId38" Type="http://schemas.openxmlformats.org/officeDocument/2006/relationships/font" Target="fonts/RobotoSemiBold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Medium-bold.fntdata"/><Relationship Id="rId27" Type="http://schemas.openxmlformats.org/officeDocument/2006/relationships/font" Target="fonts/RobotoMedium-regular.fntdata"/><Relationship Id="rId29" Type="http://schemas.openxmlformats.org/officeDocument/2006/relationships/font" Target="fonts/RobotoMedium-italic.fntdata"/><Relationship Id="rId5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10" Type="http://schemas.openxmlformats.org/officeDocument/2006/relationships/image" Target="../media/image22.png"/><Relationship Id="rId9" Type="http://schemas.openxmlformats.org/officeDocument/2006/relationships/image" Target="../media/image42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10" Type="http://schemas.openxmlformats.org/officeDocument/2006/relationships/image" Target="../media/image18.png"/><Relationship Id="rId9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3.png"/><Relationship Id="rId22" Type="http://schemas.openxmlformats.org/officeDocument/2006/relationships/image" Target="../media/image34.png"/><Relationship Id="rId21" Type="http://schemas.openxmlformats.org/officeDocument/2006/relationships/image" Target="../media/image26.png"/><Relationship Id="rId24" Type="http://schemas.openxmlformats.org/officeDocument/2006/relationships/image" Target="../media/image47.png"/><Relationship Id="rId23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26" Type="http://schemas.openxmlformats.org/officeDocument/2006/relationships/image" Target="../media/image36.png"/><Relationship Id="rId25" Type="http://schemas.openxmlformats.org/officeDocument/2006/relationships/image" Target="../media/image40.png"/><Relationship Id="rId28" Type="http://schemas.openxmlformats.org/officeDocument/2006/relationships/image" Target="../media/image43.png"/><Relationship Id="rId27" Type="http://schemas.openxmlformats.org/officeDocument/2006/relationships/image" Target="../media/image37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27.png"/><Relationship Id="rId11" Type="http://schemas.openxmlformats.org/officeDocument/2006/relationships/image" Target="../media/image38.png"/><Relationship Id="rId10" Type="http://schemas.openxmlformats.org/officeDocument/2006/relationships/image" Target="../media/image35.png"/><Relationship Id="rId13" Type="http://schemas.openxmlformats.org/officeDocument/2006/relationships/image" Target="../media/image3.png"/><Relationship Id="rId12" Type="http://schemas.openxmlformats.org/officeDocument/2006/relationships/image" Target="../media/image31.png"/><Relationship Id="rId15" Type="http://schemas.openxmlformats.org/officeDocument/2006/relationships/image" Target="../media/image29.png"/><Relationship Id="rId14" Type="http://schemas.openxmlformats.org/officeDocument/2006/relationships/image" Target="../media/image45.png"/><Relationship Id="rId17" Type="http://schemas.openxmlformats.org/officeDocument/2006/relationships/image" Target="../media/image32.png"/><Relationship Id="rId16" Type="http://schemas.openxmlformats.org/officeDocument/2006/relationships/image" Target="../media/image10.png"/><Relationship Id="rId19" Type="http://schemas.openxmlformats.org/officeDocument/2006/relationships/image" Target="../media/image46.png"/><Relationship Id="rId1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2.png"/><Relationship Id="rId22" Type="http://schemas.openxmlformats.org/officeDocument/2006/relationships/image" Target="../media/image68.png"/><Relationship Id="rId21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6.png"/><Relationship Id="rId9" Type="http://schemas.openxmlformats.org/officeDocument/2006/relationships/image" Target="../media/image62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Relationship Id="rId7" Type="http://schemas.openxmlformats.org/officeDocument/2006/relationships/image" Target="../media/image51.png"/><Relationship Id="rId8" Type="http://schemas.openxmlformats.org/officeDocument/2006/relationships/image" Target="../media/image49.png"/><Relationship Id="rId11" Type="http://schemas.openxmlformats.org/officeDocument/2006/relationships/image" Target="../media/image61.png"/><Relationship Id="rId10" Type="http://schemas.openxmlformats.org/officeDocument/2006/relationships/image" Target="../media/image53.png"/><Relationship Id="rId13" Type="http://schemas.openxmlformats.org/officeDocument/2006/relationships/image" Target="../media/image44.png"/><Relationship Id="rId12" Type="http://schemas.openxmlformats.org/officeDocument/2006/relationships/image" Target="../media/image67.png"/><Relationship Id="rId15" Type="http://schemas.openxmlformats.org/officeDocument/2006/relationships/image" Target="../media/image54.png"/><Relationship Id="rId14" Type="http://schemas.openxmlformats.org/officeDocument/2006/relationships/image" Target="../media/image57.png"/><Relationship Id="rId17" Type="http://schemas.openxmlformats.org/officeDocument/2006/relationships/image" Target="../media/image60.png"/><Relationship Id="rId16" Type="http://schemas.openxmlformats.org/officeDocument/2006/relationships/image" Target="../media/image59.png"/><Relationship Id="rId19" Type="http://schemas.openxmlformats.org/officeDocument/2006/relationships/image" Target="../media/image66.png"/><Relationship Id="rId18" Type="http://schemas.openxmlformats.org/officeDocument/2006/relationships/image" Target="../media/image6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7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5.png"/><Relationship Id="rId9" Type="http://schemas.openxmlformats.org/officeDocument/2006/relationships/image" Target="../media/image70.png"/><Relationship Id="rId5" Type="http://schemas.openxmlformats.org/officeDocument/2006/relationships/image" Target="../media/image58.png"/><Relationship Id="rId6" Type="http://schemas.openxmlformats.org/officeDocument/2006/relationships/image" Target="../media/image69.png"/><Relationship Id="rId7" Type="http://schemas.openxmlformats.org/officeDocument/2006/relationships/image" Target="../media/image65.png"/><Relationship Id="rId8" Type="http://schemas.openxmlformats.org/officeDocument/2006/relationships/image" Target="../media/image6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7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72.png"/><Relationship Id="rId5" Type="http://schemas.openxmlformats.org/officeDocument/2006/relationships/image" Target="../media/image7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94.png"/><Relationship Id="rId5" Type="http://schemas.openxmlformats.org/officeDocument/2006/relationships/image" Target="../media/image77.png"/><Relationship Id="rId6" Type="http://schemas.openxmlformats.org/officeDocument/2006/relationships/image" Target="../media/image76.png"/><Relationship Id="rId7" Type="http://schemas.openxmlformats.org/officeDocument/2006/relationships/image" Target="../media/image7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1.png"/><Relationship Id="rId7" Type="http://schemas.openxmlformats.org/officeDocument/2006/relationships/image" Target="../media/image7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7.png"/><Relationship Id="rId4" Type="http://schemas.openxmlformats.org/officeDocument/2006/relationships/image" Target="../media/image8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86.png"/><Relationship Id="rId9" Type="http://schemas.openxmlformats.org/officeDocument/2006/relationships/image" Target="../media/image95.png"/><Relationship Id="rId5" Type="http://schemas.openxmlformats.org/officeDocument/2006/relationships/image" Target="../media/image85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78.png"/><Relationship Id="rId10" Type="http://schemas.openxmlformats.org/officeDocument/2006/relationships/image" Target="../media/image8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80.png"/><Relationship Id="rId5" Type="http://schemas.openxmlformats.org/officeDocument/2006/relationships/image" Target="../media/image93.png"/><Relationship Id="rId6" Type="http://schemas.openxmlformats.org/officeDocument/2006/relationships/image" Target="../media/image96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8262" y="4013745"/>
            <a:ext cx="1895475" cy="7486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80435" y="2095500"/>
            <a:ext cx="903112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Giải pháp Upload File Enterprise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95462" y="3038475"/>
            <a:ext cx="8601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8E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Kiến trúc hệ thống xử lý XML, Excel, CSV bảo mật &amp; mở rộng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148262" y="4366170"/>
            <a:ext cx="18954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Tài liệu Kiến trúc Hệ thống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088903"/>
            <a:ext cx="52387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30946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085207"/>
            <a:ext cx="5238750" cy="81319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350889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33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Thách thức &amp; Nhu cầu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81750" y="1873746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Giải pháp &amp; Phạm vi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" y="280713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280808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Dữ liệu phân tán: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File dữ liệu nằm rải rác trên các máy trạm cá nhân, khó quản lý tập trung.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" y="347001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47096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Đa dạng định dạng: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Cần xử lý nhiều loại file (XML, Excel, CSV, Parquet) với cấu trúc dữ liệu phức tạp.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95325" y="413289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13385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Rủi ro bảo mật: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Thiếu cơ chế kiểm soát truy cập (IAM), mã hóa dữ liệu nhạy cảm và audit log đồng bộ.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5325" y="479577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479673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Chất lượng dữ liệu: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Khó kiểm soát tính đúng đắn của dữ liệu đầu vào trước khi đưa vào hệ thống.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338810"/>
            <a:ext cx="5238750" cy="3405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45477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320903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255002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991350" y="2454771"/>
            <a:ext cx="40805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Hệ thống Upload Enterprise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991350" y="2673846"/>
            <a:ext cx="38862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Xây dựng cổng giao tiếp tập trung, an toàn và hiệu năng cao.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875" y="330428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6991350" y="3209032"/>
            <a:ext cx="473059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Phạm vi &amp; Mục tiêu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991350" y="3428107"/>
            <a:ext cx="45053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Xử lý file lớn (5GB), tích hợp phê duyệt, tự động Ingest vào Oracle/Data Lakehouse.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Bối cảnh &amp; Mục tiêu Hệ thống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/>
          <p:nvPr/>
        </p:nvSpPr>
        <p:spPr>
          <a:xfrm>
            <a:off x="1676400" y="4105275"/>
            <a:ext cx="8839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3465" y="32146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388715" y="4310062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Xác thực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4605337"/>
            <a:ext cx="19201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Đăng nhập IAM &amp; Phân quyền truy cập.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0345" y="32146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3637508" y="4310062"/>
            <a:ext cx="5429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Upload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2948880" y="4605337"/>
            <a:ext cx="19201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Chọn Dataset, Metadata &amp; Tải file.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226" y="32146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72001" y="4310062"/>
            <a:ext cx="647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Validate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135760" y="4605337"/>
            <a:ext cx="19201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Kiểm tra Schema &amp; Xem trước dữ liệu.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4106" y="32146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896969" y="4310062"/>
            <a:ext cx="771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Phê duyệt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322641" y="4605337"/>
            <a:ext cx="19201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Quản lý duyệt hoặc từ chối file.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0987" y="321468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10231487" y="431006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Ingest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509521" y="4605337"/>
            <a:ext cx="192018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Đồng bộ dữ liệu sạch vào Target DB.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7777" y="347186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94658" y="347186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4401" y="3471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11281" y="34718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17212" y="3471862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Hành trình người dùng (User Journey)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676400" y="4105275"/>
            <a:ext cx="8839200" cy="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322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9583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13844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68105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22366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2105322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81750" y="2859583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81750" y="3613844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81750" y="4368105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81750" y="5122366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3900" y="222914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3900" y="298340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3900" y="373766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23900" y="449193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3900" y="52461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34150" y="222914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34150" y="298340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534150" y="373766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34150" y="449193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534150" y="52461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0100" y="232439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1181100" y="2229147"/>
            <a:ext cx="4000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1. Xác thực/phân quyền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181100" y="2448222"/>
            <a:ext cx="381000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Xác thực IAM. Phân quyền chặt chẽ theo role và phòng ban.</a:t>
            </a:r>
            <a:endParaRPr/>
          </a:p>
        </p:txBody>
      </p:sp>
      <p:pic>
        <p:nvPicPr>
          <p:cNvPr descr="image.png" id="175" name="Google Shape;175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00100" y="307865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1181100" y="2983408"/>
            <a:ext cx="383047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2. Upload files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181100" y="3202483"/>
            <a:ext cx="36480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Hỗ trợ đa định dạng: XML, CSV, Excel với dung lượng lớn.</a:t>
            </a:r>
            <a:endParaRPr/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19150" y="383291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1181100" y="3737669"/>
            <a:ext cx="359044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3. Kiểm tra trạng thái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181100" y="3956744"/>
            <a:ext cx="34194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Theo dõi tiến độ (%) và trạng thái xử lý thời gian thực.</a:t>
            </a:r>
            <a:endParaRPr/>
          </a:p>
        </p:txBody>
      </p:sp>
      <p:pic>
        <p:nvPicPr>
          <p:cNvPr descr="image.png" id="181" name="Google Shape;181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8675" y="458718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1181100" y="4491930"/>
            <a:ext cx="41405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4. Validate data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1181100" y="4711005"/>
            <a:ext cx="39433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Kiểm tra tính đúng đắn, chất lượng dữ liệu theo schema/rule.</a:t>
            </a:r>
            <a:endParaRPr/>
          </a:p>
        </p:txBody>
      </p:sp>
      <p:pic>
        <p:nvPicPr>
          <p:cNvPr descr="image.png" id="184" name="Google Shape;184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09625" y="5341441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 txBox="1"/>
          <p:nvPr/>
        </p:nvSpPr>
        <p:spPr>
          <a:xfrm>
            <a:off x="1181100" y="5246191"/>
            <a:ext cx="409051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5. Preview dữ liệu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181100" y="5465266"/>
            <a:ext cx="38957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Xem trước dữ liệu mẫu hoặc toàn bộ dataset trước khi duyệt.</a:t>
            </a:r>
            <a:endParaRPr/>
          </a:p>
        </p:txBody>
      </p:sp>
      <p:pic>
        <p:nvPicPr>
          <p:cNvPr descr="image.png" id="187" name="Google Shape;187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629400" y="232439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6991350" y="2229147"/>
            <a:ext cx="407050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6. Phê duyệt/từ chối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991350" y="2448222"/>
            <a:ext cx="38766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Quy trình phê duyệt (Approval Workflow) cho dữ liệu upload.</a:t>
            </a:r>
            <a:endParaRPr/>
          </a:p>
        </p:txBody>
      </p:sp>
      <p:pic>
        <p:nvPicPr>
          <p:cNvPr descr="image.png" id="190" name="Google Shape;190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638925" y="3078658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6991350" y="2983408"/>
            <a:ext cx="419052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7. Auto-ingest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6991350" y="3202483"/>
            <a:ext cx="39909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Luồng tự động ingest dữ liệu hợp lệ không cần qua phê duyệt.</a:t>
            </a:r>
            <a:endParaRPr/>
          </a:p>
        </p:txBody>
      </p:sp>
      <p:pic>
        <p:nvPicPr>
          <p:cNvPr descr="image.png" id="193" name="Google Shape;193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629400" y="383291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6991350" y="3737669"/>
            <a:ext cx="339042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8. Download files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6991350" y="3956744"/>
            <a:ext cx="32289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Cho phép tải lại các file gốc đã upload thành công.</a:t>
            </a:r>
            <a:endParaRPr/>
          </a:p>
        </p:txBody>
      </p:sp>
      <p:pic>
        <p:nvPicPr>
          <p:cNvPr descr="image.png" id="196" name="Google Shape;196;p1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629400" y="45871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/>
        </p:nvSpPr>
        <p:spPr>
          <a:xfrm>
            <a:off x="6991350" y="4491930"/>
            <a:ext cx="358044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9. Email notification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6991350" y="4711005"/>
            <a:ext cx="34099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Gửi email thông báo kết quả (Success/Fail/Cancelled).</a:t>
            </a:r>
            <a:endParaRPr/>
          </a:p>
        </p:txBody>
      </p:sp>
      <p:pic>
        <p:nvPicPr>
          <p:cNvPr descr="image.png" id="199" name="Google Shape;199;p1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610350" y="5341441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 txBox="1"/>
          <p:nvPr/>
        </p:nvSpPr>
        <p:spPr>
          <a:xfrm>
            <a:off x="6991350" y="5246191"/>
            <a:ext cx="40505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10. Quản trị hệ thống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991350" y="5465266"/>
            <a:ext cx="3857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Quản lý người dùng, Dataset, Schema và Data Quality Rules.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Các Chức năng Chính của Hệ thống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3822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03822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533650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907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402907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524500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524500"/>
            <a:ext cx="542925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723900" y="156210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3 Tháng</a:t>
            </a:r>
            <a:endParaRPr/>
          </a:p>
        </p:txBody>
      </p:sp>
      <p:pic>
        <p:nvPicPr>
          <p:cNvPr descr="image.png" id="218" name="Google Shape;21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900" y="1943100"/>
            <a:ext cx="1371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6343650" y="156210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XML, CSV, Excel, Parquet</a:t>
            </a:r>
            <a:endParaRPr/>
          </a:p>
        </p:txBody>
      </p:sp>
      <p:pic>
        <p:nvPicPr>
          <p:cNvPr descr="image.png" id="220" name="Google Shape;22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3650" y="1943100"/>
            <a:ext cx="2019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723900" y="305752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5 GB / lần upload</a:t>
            </a:r>
            <a:endParaRPr/>
          </a:p>
        </p:txBody>
      </p:sp>
      <p:pic>
        <p:nvPicPr>
          <p:cNvPr descr="image.png" id="222" name="Google Shape;22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3900" y="3438525"/>
            <a:ext cx="1905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6343650" y="305752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100GB/ngày | 5 req/phút</a:t>
            </a:r>
            <a:endParaRPr/>
          </a:p>
        </p:txBody>
      </p:sp>
      <p:pic>
        <p:nvPicPr>
          <p:cNvPr descr="image.png" id="224" name="Google Shape;22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43650" y="3438525"/>
            <a:ext cx="1743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7"/>
          <p:cNvSpPr txBox="1"/>
          <p:nvPr/>
        </p:nvSpPr>
        <p:spPr>
          <a:xfrm>
            <a:off x="723900" y="455295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Hỗ trợ</a:t>
            </a:r>
            <a:endParaRPr/>
          </a:p>
        </p:txBody>
      </p:sp>
      <p:pic>
        <p:nvPicPr>
          <p:cNvPr descr="image.png" id="226" name="Google Shape;22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900" y="4933950"/>
            <a:ext cx="1905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6343650" y="455295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Ghi log toàn bộ tác vụ</a:t>
            </a:r>
            <a:endParaRPr/>
          </a:p>
        </p:txBody>
      </p:sp>
      <p:pic>
        <p:nvPicPr>
          <p:cNvPr descr="image.png" id="228" name="Google Shape;22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43650" y="4933950"/>
            <a:ext cx="20288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7"/>
          <p:cNvSpPr txBox="1"/>
          <p:nvPr/>
        </p:nvSpPr>
        <p:spPr>
          <a:xfrm>
            <a:off x="723900" y="604837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Trường thông tin nhạy cảm</a:t>
            </a:r>
            <a:endParaRPr/>
          </a:p>
        </p:txBody>
      </p:sp>
      <p:pic>
        <p:nvPicPr>
          <p:cNvPr descr="image.png" id="230" name="Google Shape;23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3900" y="6429375"/>
            <a:ext cx="18954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6343650" y="604837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Auto-scale</a:t>
            </a:r>
            <a:endParaRPr/>
          </a:p>
        </p:txBody>
      </p:sp>
      <p:pic>
        <p:nvPicPr>
          <p:cNvPr descr="image.png" id="232" name="Google Shape;23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43650" y="6429375"/>
            <a:ext cx="1371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23900" y="120967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/>
        </p:nvSpPr>
        <p:spPr>
          <a:xfrm>
            <a:off x="971550" y="1190625"/>
            <a:ext cx="93011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Lưu trữ files</a:t>
            </a:r>
            <a:endParaRPr/>
          </a:p>
        </p:txBody>
      </p:sp>
      <p:pic>
        <p:nvPicPr>
          <p:cNvPr descr="image.png" id="235" name="Google Shape;235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43650" y="120967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7"/>
          <p:cNvSpPr txBox="1"/>
          <p:nvPr/>
        </p:nvSpPr>
        <p:spPr>
          <a:xfrm>
            <a:off x="6572250" y="1190625"/>
            <a:ext cx="111013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Kiểu file hỗ trợ</a:t>
            </a:r>
            <a:endParaRPr/>
          </a:p>
        </p:txBody>
      </p:sp>
      <p:pic>
        <p:nvPicPr>
          <p:cNvPr descr="image.png" id="237" name="Google Shape;237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390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 txBox="1"/>
          <p:nvPr/>
        </p:nvSpPr>
        <p:spPr>
          <a:xfrm>
            <a:off x="990600" y="2686050"/>
            <a:ext cx="136017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Dung lượng tối đa</a:t>
            </a:r>
            <a:endParaRPr/>
          </a:p>
        </p:txBody>
      </p:sp>
      <p:pic>
        <p:nvPicPr>
          <p:cNvPr descr="image.png" id="239" name="Google Shape;239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34365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7"/>
          <p:cNvSpPr txBox="1"/>
          <p:nvPr/>
        </p:nvSpPr>
        <p:spPr>
          <a:xfrm>
            <a:off x="6610350" y="2686050"/>
            <a:ext cx="144018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Quota &amp; Rate Limit</a:t>
            </a:r>
            <a:endParaRPr/>
          </a:p>
        </p:txBody>
      </p:sp>
      <p:pic>
        <p:nvPicPr>
          <p:cNvPr descr="image.png" id="241" name="Google Shape;241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3900" y="4200525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 txBox="1"/>
          <p:nvPr/>
        </p:nvSpPr>
        <p:spPr>
          <a:xfrm>
            <a:off x="923925" y="4181475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Resume Upload</a:t>
            </a:r>
            <a:endParaRPr/>
          </a:p>
        </p:txBody>
      </p:sp>
      <p:pic>
        <p:nvPicPr>
          <p:cNvPr descr="image.png" id="243" name="Google Shape;243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43650" y="420052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 txBox="1"/>
          <p:nvPr/>
        </p:nvSpPr>
        <p:spPr>
          <a:xfrm>
            <a:off x="6572250" y="4181475"/>
            <a:ext cx="81010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Audit Logs</a:t>
            </a:r>
            <a:endParaRPr/>
          </a:p>
        </p:txBody>
      </p:sp>
      <p:pic>
        <p:nvPicPr>
          <p:cNvPr descr="image.png" id="245" name="Google Shape;245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23900" y="56959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7"/>
          <p:cNvSpPr txBox="1"/>
          <p:nvPr/>
        </p:nvSpPr>
        <p:spPr>
          <a:xfrm>
            <a:off x="971550" y="5676900"/>
            <a:ext cx="113014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Mã hóa dữ liệu</a:t>
            </a:r>
            <a:endParaRPr/>
          </a:p>
        </p:txBody>
      </p:sp>
      <p:pic>
        <p:nvPicPr>
          <p:cNvPr descr="image.png" id="247" name="Google Shape;247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343650" y="56959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7"/>
          <p:cNvSpPr txBox="1"/>
          <p:nvPr/>
        </p:nvSpPr>
        <p:spPr>
          <a:xfrm>
            <a:off x="6591300" y="5676900"/>
            <a:ext cx="14001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Khả năng mở rộng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571500" y="285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Yêu cầu Phi Chức năng (Non-Functional Requirements)</a:t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571500" y="638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/>
          <p:nvPr/>
        </p:nvSpPr>
        <p:spPr>
          <a:xfrm>
            <a:off x="571500" y="762000"/>
            <a:ext cx="5200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Kiến trúc Microservices</a:t>
            </a:r>
            <a:endParaRPr/>
          </a:p>
        </p:txBody>
      </p:sp>
      <p:pic>
        <p:nvPicPr>
          <p:cNvPr descr="image.png" id="257" name="Google Shape;2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/>
          <p:nvPr/>
        </p:nvSpPr>
        <p:spPr>
          <a:xfrm>
            <a:off x="571500" y="1894582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Client Layer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571500" y="247560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React Frontend giao tiếp qua HTTPS/REST.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571500" y="2921347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API Gateway Layer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571500" y="350237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Kong Gateway xử lý Auth, Rate Limiting, Routing.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571500" y="3948112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Backend Services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571500" y="452913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Upload (Java), User (Java), Validate (Python), Ingest (Python).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571500" y="4974877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Infrastructure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571500" y="555590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MinIO (S3), Kafka (Events), Postgres (Metadata).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1864"/>
            <a:ext cx="2547937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531864"/>
            <a:ext cx="2547937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31864"/>
            <a:ext cx="2547937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531864"/>
            <a:ext cx="2547937" cy="280392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 txBox="1"/>
          <p:nvPr/>
        </p:nvSpPr>
        <p:spPr>
          <a:xfrm>
            <a:off x="707826" y="3531989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Upload Service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762000" y="3922514"/>
            <a:ext cx="216693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Spring Boot. Quản lý metadata, tạo Presigned URL MinIO, publish sự kiện upload hoàn tất.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3541514" y="3531989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User Service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3595687" y="3922514"/>
            <a:ext cx="21669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Spring Boot. Quản lý IAM, phân quyền User/Role, sinh JWT Token.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6375201" y="3531989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Validation Service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6429375" y="3922514"/>
            <a:ext cx="21669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FastAPI. Consume Kafka, validate schema/data quality, tạo mẫu dữ liệu.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9208889" y="3531989"/>
            <a:ext cx="22752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Ingest Service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9263062" y="3922514"/>
            <a:ext cx="21669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FastAPI. Transform dữ liệu và ghi vào Target DB (Postgres, Oracle, Lakehouse).</a:t>
            </a:r>
            <a:endParaRPr/>
          </a:p>
        </p:txBody>
      </p:sp>
      <p:pic>
        <p:nvPicPr>
          <p:cNvPr descr="image.png" id="283" name="Google Shape;2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2593" y="289381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1031" y="289381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46156" y="289381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79843" y="289381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Chi tiết Các Dịch vụ Backend</a:t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/>
          <p:nvPr/>
        </p:nvSpPr>
        <p:spPr>
          <a:xfrm>
            <a:off x="571500" y="762000"/>
            <a:ext cx="5200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Hạ tầng Lưu trữ &amp; Hàng đợi</a:t>
            </a:r>
            <a:endParaRPr/>
          </a:p>
        </p:txBody>
      </p:sp>
      <p:pic>
        <p:nvPicPr>
          <p:cNvPr descr="image.png" id="295" name="Google Shape;2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0"/>
          <p:cNvSpPr txBox="1"/>
          <p:nvPr/>
        </p:nvSpPr>
        <p:spPr>
          <a:xfrm>
            <a:off x="571500" y="175260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MinIO (Object Storage)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571500" y="2333625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Kho lưu trữ file thô (Raw Zone), tương thích chuẩn S3 API. Sử dụng cơ chế Presigned URLs cho phép Client upload trực tiếp, giảm tải I/O cho backend server.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571500" y="3327945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Database Cluster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571500" y="3908970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PostgreSQL quản lý metadata/trạng thái. Target DB (Oracle, Lakehouse) phục vụ lưu trữ dữ liệu nghiệp vụ sau khi làm sạch (Clean Zone).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571500" y="4903291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Apache Kafka (Message Queue)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571500" y="5484316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Trục xương sống cho kiến trúc Event-Driven. Đảm bảo tính toàn vẹn dữ liệu, decoupling giữa các service (Upload -&gt; Validate -&gt; Ingest).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0469"/>
            <a:ext cx="1714500" cy="1306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125" y="3280469"/>
            <a:ext cx="1714500" cy="1306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0" y="3387030"/>
            <a:ext cx="1714500" cy="1093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2375" y="3280469"/>
            <a:ext cx="1714500" cy="1306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0" y="3280469"/>
            <a:ext cx="1714500" cy="13065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1"/>
          <p:cNvSpPr/>
          <p:nvPr/>
        </p:nvSpPr>
        <p:spPr>
          <a:xfrm>
            <a:off x="571500" y="3933676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748665" y="3490019"/>
            <a:ext cx="13601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33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Init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781050" y="3737669"/>
            <a:ext cx="12954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Client request Presigned URL từ Upload Service.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3082290" y="3490019"/>
            <a:ext cx="13601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33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Upload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3114675" y="3737669"/>
            <a:ext cx="12954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Direct upload file vào MinIO (Object Storage).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5415915" y="3596580"/>
            <a:ext cx="13601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33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Event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5448300" y="3844230"/>
            <a:ext cx="12954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Kafka bắn event `upload.completed`.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7749540" y="3490019"/>
            <a:ext cx="13601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33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4. Validate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7781925" y="3737669"/>
            <a:ext cx="12954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Service download &amp; kiểm tra quy tắc dữ liệu.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10083165" y="3490019"/>
            <a:ext cx="13601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3366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5. Ingest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10115550" y="3737669"/>
            <a:ext cx="12954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Service ghi dữ liệu sạch vào Target Database.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Luồng Dữ liệu (Data Flow Pipeline)</a:t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81150"/>
            <a:ext cx="5238750" cy="47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571500" y="2027039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Security Flow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571500" y="4331940"/>
            <a:ext cx="55006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Dynamic DB Routing</a:t>
            </a:r>
            <a:endParaRPr/>
          </a:p>
        </p:txBody>
      </p:sp>
      <p:pic>
        <p:nvPicPr>
          <p:cNvPr descr="image.png" id="333" name="Google Shape;3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459384"/>
            <a:ext cx="5238750" cy="2948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3656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 txBox="1"/>
          <p:nvPr/>
        </p:nvSpPr>
        <p:spPr>
          <a:xfrm>
            <a:off x="695325" y="244518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762000" y="244613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JWT Authentication: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User Service cấp Access (24h) &amp; Refresh Token (7 ngày).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695325" y="310806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762000" y="3109019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Kong Gateway: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Validate signature JWT trước khi request vào backend.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695325" y="377094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762000" y="377190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RBAC: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Phân quyền chi tiết (User, Dept Manager, Admin).</a:t>
            </a:r>
            <a:endParaRPr/>
          </a:p>
        </p:txBody>
      </p:sp>
      <p:pic>
        <p:nvPicPr>
          <p:cNvPr descr="image.png" id="341" name="Google Shape;34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414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2"/>
          <p:cNvSpPr txBox="1"/>
          <p:nvPr/>
        </p:nvSpPr>
        <p:spPr>
          <a:xfrm>
            <a:off x="695325" y="47500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762000" y="475104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Cấu hình `dataset_configs` xác định DB đích dựa trên loại file.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695325" y="513867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762000" y="513963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Hỗ trợ routing linh hoạt tới Postgres, MongoDB, hoặc ClickHouse.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Bảo mật &amp; Định tuyến Động</a:t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2" name="Google Shape;3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3"/>
          <p:cNvSpPr/>
          <p:nvPr/>
        </p:nvSpPr>
        <p:spPr>
          <a:xfrm>
            <a:off x="571500" y="2545109"/>
            <a:ext cx="11049000" cy="277743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3"/>
          <p:cNvGraphicFramePr/>
          <p:nvPr/>
        </p:nvGraphicFramePr>
        <p:xfrm>
          <a:off x="571500" y="25451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{24D76DB9-FEEA-482B-BF92-6F2C2668C22B}</a:tableStyleId>
              </a:tblPr>
              <a:tblGrid>
                <a:gridCol w="3595825"/>
                <a:gridCol w="2330200"/>
                <a:gridCol w="5122950"/>
              </a:tblGrid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Service 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Công nghệ / Vai trò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Frontend 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React Single Page Application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Kong 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8000 / 8001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API Gateway &amp; Admin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Upload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Java Spring Boot (Core Logic)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Validation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Python FastAPI (Data Processing)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Ingest 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Python FastAPI (Data Loader)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MinIO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9000 / 9001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S3 Compatible Object 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5" name="Google Shape;355;p23"/>
          <p:cNvSpPr/>
          <p:nvPr/>
        </p:nvSpPr>
        <p:spPr>
          <a:xfrm>
            <a:off x="571500" y="3355627"/>
            <a:ext cx="359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4167336" y="3355627"/>
            <a:ext cx="2330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6497538" y="3355627"/>
            <a:ext cx="5122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571500" y="3746152"/>
            <a:ext cx="359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4167336" y="3746152"/>
            <a:ext cx="2330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6497538" y="3746152"/>
            <a:ext cx="5122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71500" y="4136677"/>
            <a:ext cx="359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4167336" y="4136677"/>
            <a:ext cx="2330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6497538" y="4136677"/>
            <a:ext cx="5122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571500" y="4527202"/>
            <a:ext cx="359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4167336" y="4527202"/>
            <a:ext cx="2330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6497538" y="4527202"/>
            <a:ext cx="5122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571500" y="4917727"/>
            <a:ext cx="359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4167336" y="4917727"/>
            <a:ext cx="2330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6497538" y="4917727"/>
            <a:ext cx="5122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71500" y="5308252"/>
            <a:ext cx="35958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4167336" y="5308252"/>
            <a:ext cx="2330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6497538" y="5308252"/>
            <a:ext cx="51229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Cấu hình Cổng Dịch vụ (Service Ports)</a:t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36515"/>
            <a:ext cx="5238750" cy="2194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41265"/>
            <a:ext cx="5238750" cy="238497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4"/>
          <p:cNvSpPr txBox="1"/>
          <p:nvPr/>
        </p:nvSpPr>
        <p:spPr>
          <a:xfrm>
            <a:off x="990600" y="3217515"/>
            <a:ext cx="46605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Horizontal Scaling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990600" y="3655665"/>
            <a:ext cx="44386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Hệ thống hỗ trợ scale độc lập các service workload nặng (Validation, Ingest) bằng Docker/K8s. Load balancing qua Kong Gateway.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6800850" y="3122265"/>
            <a:ext cx="466058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Retry &amp; Fault Tolerance</a:t>
            </a:r>
            <a:endParaRPr/>
          </a:p>
        </p:txBody>
      </p:sp>
      <p:pic>
        <p:nvPicPr>
          <p:cNvPr descr="image.png" id="385" name="Google Shape;38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00" y="32270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0850" y="313179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4"/>
          <p:cNvSpPr txBox="1"/>
          <p:nvPr/>
        </p:nvSpPr>
        <p:spPr>
          <a:xfrm>
            <a:off x="6924675" y="354041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6991350" y="3541365"/>
            <a:ext cx="4248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Upload: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Frontend retry với exponential backoff.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6924675" y="392900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6991350" y="3929955"/>
            <a:ext cx="4248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Kafka: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Consumer retry offset nếu process lỗi.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6924675" y="4317593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6991350" y="4318545"/>
            <a:ext cx="42481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Celery: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Task retry tự động cho ingestion jobs.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Khả năng Mở rộng &amp; Độ tin cậy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808857"/>
            <a:ext cx="7620000" cy="324013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5"/>
          <p:cNvSpPr txBox="1"/>
          <p:nvPr/>
        </p:nvSpPr>
        <p:spPr>
          <a:xfrm>
            <a:off x="2695575" y="2380357"/>
            <a:ext cx="6800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Hạ tầng Triển khai</a:t>
            </a:r>
            <a:endParaRPr/>
          </a:p>
        </p:txBody>
      </p:sp>
      <p:sp>
        <p:nvSpPr>
          <p:cNvPr id="402" name="Google Shape;402;p25"/>
          <p:cNvSpPr txBox="1"/>
          <p:nvPr/>
        </p:nvSpPr>
        <p:spPr>
          <a:xfrm>
            <a:off x="2857500" y="3151882"/>
            <a:ext cx="6477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Sẵn sàng cho môi trường Enterprise với Containerization, Orchestration và giám sát toàn diện qua ELK Stack &amp; Prometheus.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7" name="Google Shape;4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3310"/>
            <a:ext cx="5238750" cy="5381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243310"/>
            <a:ext cx="5238750" cy="5381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5929014"/>
            <a:ext cx="4762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5929014"/>
            <a:ext cx="4762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6"/>
          <p:cNvSpPr txBox="1"/>
          <p:nvPr/>
        </p:nvSpPr>
        <p:spPr>
          <a:xfrm>
            <a:off x="809625" y="2138660"/>
            <a:ext cx="4762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Mục tiêu: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Vận hành sớm, kiểm chứng Microservices &amp; Event-driven.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6619875" y="2138660"/>
            <a:ext cx="47625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Mục tiêu: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Mở rộng chức năng không thay đổi kiến trúc lõi.</a:t>
            </a:r>
            <a:endParaRPr/>
          </a:p>
        </p:txBody>
      </p:sp>
      <p:pic>
        <p:nvPicPr>
          <p:cNvPr descr="image.png" id="414" name="Google Shape;41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152906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6"/>
          <p:cNvSpPr txBox="1"/>
          <p:nvPr/>
        </p:nvSpPr>
        <p:spPr>
          <a:xfrm>
            <a:off x="1219200" y="1529060"/>
            <a:ext cx="28603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Phase 1: MVP Core &amp; XML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809625" y="2786360"/>
            <a:ext cx="4762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Phạm vi triển khai:</a:t>
            </a:r>
            <a:endParaRPr/>
          </a:p>
        </p:txBody>
      </p:sp>
      <p:sp>
        <p:nvSpPr>
          <p:cNvPr id="417" name="Google Shape;417;p26"/>
          <p:cNvSpPr txBox="1"/>
          <p:nvPr/>
        </p:nvSpPr>
        <p:spPr>
          <a:xfrm>
            <a:off x="952500" y="6043314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Kết quả: Luồng bất đồng bộ, tách biệt Upload-Validate-Ingest.</a:t>
            </a:r>
            <a:endParaRPr/>
          </a:p>
        </p:txBody>
      </p:sp>
      <p:pic>
        <p:nvPicPr>
          <p:cNvPr descr="image.png" id="418" name="Google Shape;41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152906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6"/>
          <p:cNvSpPr txBox="1"/>
          <p:nvPr/>
        </p:nvSpPr>
        <p:spPr>
          <a:xfrm>
            <a:off x="7029450" y="1529060"/>
            <a:ext cx="292036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Phase 2: Scale &amp; Extension</a:t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6619875" y="2786360"/>
            <a:ext cx="4762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Phạm vi mở rộng:</a:t>
            </a:r>
            <a:endParaRPr/>
          </a:p>
        </p:txBody>
      </p:sp>
      <p:sp>
        <p:nvSpPr>
          <p:cNvPr id="421" name="Google Shape;421;p26"/>
          <p:cNvSpPr txBox="1"/>
          <p:nvPr/>
        </p:nvSpPr>
        <p:spPr>
          <a:xfrm>
            <a:off x="6762750" y="6043314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Kết quả: Kiến trúc Plug-in theo file type, dễ dàng mở rộng.</a:t>
            </a:r>
            <a:endParaRPr/>
          </a:p>
        </p:txBody>
      </p:sp>
      <p:sp>
        <p:nvSpPr>
          <p:cNvPr id="422" name="Google Shape;422;p26"/>
          <p:cNvSpPr txBox="1"/>
          <p:nvPr/>
        </p:nvSpPr>
        <p:spPr>
          <a:xfrm>
            <a:off x="933450" y="308068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1000125" y="3081635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Frontend: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Upload, preview, tracking.</a:t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933450" y="37568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1000125" y="3757761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Core Services: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User, Upload, Validation (XML), Ingest.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933450" y="443293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27" name="Google Shape;427;p26"/>
          <p:cNvSpPr txBox="1"/>
          <p:nvPr/>
        </p:nvSpPr>
        <p:spPr>
          <a:xfrm>
            <a:off x="1000125" y="4433887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Infra: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API Gateway, Kafka, MinIO, Postgres.</a:t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933450" y="510906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1000125" y="5110013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Security: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JWT, RBAC, Audit Logs.</a:t>
            </a:r>
            <a:endParaRPr/>
          </a:p>
        </p:txBody>
      </p:sp>
      <p:pic>
        <p:nvPicPr>
          <p:cNvPr descr="image.png" id="430" name="Google Shape;43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609093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6"/>
          <p:cNvSpPr txBox="1"/>
          <p:nvPr/>
        </p:nvSpPr>
        <p:spPr>
          <a:xfrm>
            <a:off x="6743700" y="308068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32" name="Google Shape;432;p26"/>
          <p:cNvSpPr txBox="1"/>
          <p:nvPr/>
        </p:nvSpPr>
        <p:spPr>
          <a:xfrm>
            <a:off x="6810375" y="3081635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Multi-file: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Support Excel, CSV.</a:t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6743700" y="37568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6810375" y="3757761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Advanced Logic: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Rule engine, Data Quality rules.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6743700" y="443293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6810375" y="4433887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Ingestion: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Mapping động, chuẩn hóa dữ liệu.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6743700" y="510906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38" name="Google Shape;438;p26"/>
          <p:cNvSpPr txBox="1"/>
          <p:nvPr/>
        </p:nvSpPr>
        <p:spPr>
          <a:xfrm>
            <a:off x="6810375" y="5110013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Ops:</a:t>
            </a: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Tối ưu hiệu năng, Retry cơ chế cao cấp.</a:t>
            </a:r>
            <a:endParaRPr/>
          </a:p>
        </p:txBody>
      </p:sp>
      <p:pic>
        <p:nvPicPr>
          <p:cNvPr descr="image.png" id="439" name="Google Shape;439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62750" y="6090939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6"/>
          <p:cNvSpPr txBox="1"/>
          <p:nvPr/>
        </p:nvSpPr>
        <p:spPr>
          <a:xfrm>
            <a:off x="571500" y="23366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Kế hoạch Triển khai &amp; Lộ trình MVP</a:t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571500" y="84326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7"/>
          <p:cNvSpPr txBox="1"/>
          <p:nvPr/>
        </p:nvSpPr>
        <p:spPr>
          <a:xfrm>
            <a:off x="295275" y="1818382"/>
            <a:ext cx="116014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3366"/>
                </a:solidFill>
                <a:latin typeface="Roboto"/>
                <a:ea typeface="Roboto"/>
                <a:cs typeface="Roboto"/>
                <a:sym typeface="Roboto"/>
              </a:rPr>
              <a:t>Q&amp;A</a:t>
            </a:r>
            <a:endParaRPr/>
          </a:p>
        </p:txBody>
      </p:sp>
      <p:sp>
        <p:nvSpPr>
          <p:cNvPr id="448" name="Google Shape;448;p27"/>
          <p:cNvSpPr txBox="1"/>
          <p:nvPr/>
        </p:nvSpPr>
        <p:spPr>
          <a:xfrm>
            <a:off x="571500" y="335190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8E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Trao đổi &amp; Thảo luận</a:t>
            </a:r>
            <a:endParaRPr/>
          </a:p>
        </p:txBody>
      </p:sp>
      <p:sp>
        <p:nvSpPr>
          <p:cNvPr id="449" name="Google Shape;449;p27"/>
          <p:cNvSpPr txBox="1"/>
          <p:nvPr/>
        </p:nvSpPr>
        <p:spPr>
          <a:xfrm>
            <a:off x="571500" y="459387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Enterprise Upload Solution Architecture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4" name="Google Shape;4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8"/>
          <p:cNvSpPr/>
          <p:nvPr/>
        </p:nvSpPr>
        <p:spPr>
          <a:xfrm>
            <a:off x="571500" y="16795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571500" y="246429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571500" y="324906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571500" y="423192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571500" y="24547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571500" y="245477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71500" y="32395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571500" y="32395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571500" y="4222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571500" y="42224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571500" y="5205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571500" y="52052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7" name="Google Shape;4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89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8"/>
          <p:cNvSpPr txBox="1"/>
          <p:nvPr/>
        </p:nvSpPr>
        <p:spPr>
          <a:xfrm>
            <a:off x="1666875" y="18224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https://www.exasol.com/app/uploads/2025/06/thumbnail-hub-data-warehouse-architecture.jpg</a:t>
            </a:r>
            <a:endParaRPr/>
          </a:p>
        </p:txBody>
      </p:sp>
      <p:sp>
        <p:nvSpPr>
          <p:cNvPr id="469" name="Google Shape;469;p28"/>
          <p:cNvSpPr txBox="1"/>
          <p:nvPr/>
        </p:nvSpPr>
        <p:spPr>
          <a:xfrm>
            <a:off x="1666875" y="20681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www.exasol.com</a:t>
            </a:r>
            <a:endParaRPr/>
          </a:p>
        </p:txBody>
      </p:sp>
      <p:pic>
        <p:nvPicPr>
          <p:cNvPr descr="image.png" id="470" name="Google Shape;4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137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8"/>
          <p:cNvSpPr txBox="1"/>
          <p:nvPr/>
        </p:nvSpPr>
        <p:spPr>
          <a:xfrm>
            <a:off x="1666875" y="260717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https://vfunction.com/wp-content/uploads/2024/11/microservice-architecture-style.png</a:t>
            </a:r>
            <a:endParaRPr/>
          </a:p>
        </p:txBody>
      </p:sp>
      <p:sp>
        <p:nvSpPr>
          <p:cNvPr id="472" name="Google Shape;472;p28"/>
          <p:cNvSpPr txBox="1"/>
          <p:nvPr/>
        </p:nvSpPr>
        <p:spPr>
          <a:xfrm>
            <a:off x="1666875" y="285288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vfunction.com</a:t>
            </a:r>
            <a:endParaRPr/>
          </a:p>
        </p:txBody>
      </p:sp>
      <p:pic>
        <p:nvPicPr>
          <p:cNvPr descr="image.png" id="473" name="Google Shape;47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76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8"/>
          <p:cNvSpPr txBox="1"/>
          <p:nvPr/>
        </p:nvSpPr>
        <p:spPr>
          <a:xfrm>
            <a:off x="1666875" y="339194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https://media.istockphoto.com/id/1217150964/vector/data-center-abstract-digital-warehouse-server-room-of-clouds-computing-technology-server.jpg?s=612x612&amp;w=0&amp;k=20&amp;c=iVhkfR6pgtghibNL1r_L14tPskmjeWP7mW0ZDaQa-3I=</a:t>
            </a:r>
            <a:endParaRPr/>
          </a:p>
        </p:txBody>
      </p:sp>
      <p:sp>
        <p:nvSpPr>
          <p:cNvPr id="475" name="Google Shape;475;p28"/>
          <p:cNvSpPr txBox="1"/>
          <p:nvPr/>
        </p:nvSpPr>
        <p:spPr>
          <a:xfrm>
            <a:off x="1666875" y="383574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descr="image.png" id="476" name="Google Shape;47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804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8"/>
          <p:cNvSpPr txBox="1"/>
          <p:nvPr/>
        </p:nvSpPr>
        <p:spPr>
          <a:xfrm>
            <a:off x="1666875" y="43748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https://static.vecteezy.com/system/resources/previews/038/439/444/non_2x/cyber-security-technology-concept-digital-shield-with-virtual-screen-on-dark-blue-background-privacy-data-protection-symbol-vector.jpg</a:t>
            </a:r>
            <a:endParaRPr/>
          </a:p>
        </p:txBody>
      </p:sp>
      <p:sp>
        <p:nvSpPr>
          <p:cNvPr id="478" name="Google Shape;478;p28"/>
          <p:cNvSpPr txBox="1"/>
          <p:nvPr/>
        </p:nvSpPr>
        <p:spPr>
          <a:xfrm>
            <a:off x="1666875" y="48186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www.vecteezy.com</a:t>
            </a:r>
            <a:endParaRPr/>
          </a:p>
        </p:txBody>
      </p:sp>
      <p:pic>
        <p:nvPicPr>
          <p:cNvPr descr="image.png" id="479" name="Google Shape;47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4633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8"/>
          <p:cNvSpPr txBox="1"/>
          <p:nvPr/>
        </p:nvSpPr>
        <p:spPr>
          <a:xfrm>
            <a:off x="1666875" y="535766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https://eu-images.contentstack.com/v3/assets/blt6b0f74e5591baa03/blt03b77cd3295b05b2/688a8418b9c6c0e4b855ca87/GettyImages-2183037647.jpg?width=1280&amp;auto=webp&amp;quality=80&amp;format=jpg&amp;disable=upscale</a:t>
            </a:r>
            <a:endParaRPr/>
          </a:p>
        </p:txBody>
      </p:sp>
      <p:sp>
        <p:nvSpPr>
          <p:cNvPr id="481" name="Google Shape;481;p28"/>
          <p:cNvSpPr txBox="1"/>
          <p:nvPr/>
        </p:nvSpPr>
        <p:spPr>
          <a:xfrm>
            <a:off x="1666875" y="58014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aibusiness.com</a:t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3366"/>
                </a:solidFill>
                <a:latin typeface="Roboto Medium"/>
                <a:ea typeface="Roboto Medium"/>
                <a:cs typeface="Roboto Medium"/>
                <a:sym typeface="Roboto Medium"/>
              </a:rPr>
              <a:t>Image Sources</a:t>
            </a:r>
            <a:endParaRPr/>
          </a:p>
        </p:txBody>
      </p:sp>
      <p:sp>
        <p:nvSpPr>
          <p:cNvPr id="483" name="Google Shape;483;p28"/>
          <p:cNvSpPr/>
          <p:nvPr/>
        </p:nvSpPr>
        <p:spPr>
          <a:xfrm>
            <a:off x="571500" y="11811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